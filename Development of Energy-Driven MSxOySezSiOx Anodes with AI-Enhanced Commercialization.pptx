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8288000" cy="10287000"/>
  <p:notesSz cx="6858000" cy="9144000"/>
  <p:embeddedFontLst>
    <p:embeddedFont>
      <p:font typeface="Bricolage Grotesque" panose="020B0604020202020204" charset="0"/>
      <p:regular r:id="rId28"/>
    </p:embeddedFont>
    <p:embeddedFont>
      <p:font typeface="Canva Sans" panose="020B0604020202020204" charset="0"/>
      <p:regular r:id="rId29"/>
    </p:embeddedFont>
    <p:embeddedFont>
      <p:font typeface="Canva Sans Bold" panose="020B0604020202020204" charset="0"/>
      <p:regular r:id="rId30"/>
    </p:embeddedFont>
    <p:embeddedFont>
      <p:font typeface="Pragmatica" panose="020B0604020202020204" charset="0"/>
      <p:regular r:id="rId31"/>
    </p:embeddedFont>
    <p:embeddedFont>
      <p:font typeface="Pragmatica Bold" panose="020B0604020202020204"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1" d="100"/>
          <a:sy n="51" d="100"/>
        </p:scale>
        <p:origin x="163"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3.fntdata"/><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jpeg"/></Relationships>
</file>

<file path=ppt/slides/_rels/slide1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AutoShape 3"/>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4" name="AutoShape 4"/>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AutoShape 7"/>
          <p:cNvSpPr/>
          <p:nvPr/>
        </p:nvSpPr>
        <p:spPr>
          <a:xfrm>
            <a:off x="-417053" y="5579695"/>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8" name="Freeform 8"/>
          <p:cNvSpPr/>
          <p:nvPr/>
        </p:nvSpPr>
        <p:spPr>
          <a:xfrm>
            <a:off x="13690857" y="-834087"/>
            <a:ext cx="10264862" cy="11022671"/>
          </a:xfrm>
          <a:custGeom>
            <a:avLst/>
            <a:gdLst/>
            <a:ahLst/>
            <a:cxnLst/>
            <a:rect l="l" t="t" r="r" b="b"/>
            <a:pathLst>
              <a:path w="10264862" h="11022671">
                <a:moveTo>
                  <a:pt x="0" y="0"/>
                </a:moveTo>
                <a:lnTo>
                  <a:pt x="10264861" y="0"/>
                </a:lnTo>
                <a:lnTo>
                  <a:pt x="10264861" y="11022670"/>
                </a:lnTo>
                <a:lnTo>
                  <a:pt x="0" y="11022670"/>
                </a:lnTo>
                <a:lnTo>
                  <a:pt x="0" y="0"/>
                </a:lnTo>
                <a:close/>
              </a:path>
            </a:pathLst>
          </a:custGeom>
          <a:blipFill>
            <a:blip r:embed="rId2">
              <a:alphaModFix amt="50000"/>
            </a:blip>
            <a:stretch>
              <a:fillRect/>
            </a:stretch>
          </a:blipFill>
        </p:spPr>
        <p:txBody>
          <a:bodyPr/>
          <a:lstStyle/>
          <a:p>
            <a:endParaRPr lang="en-US"/>
          </a:p>
        </p:txBody>
      </p:sp>
      <p:grpSp>
        <p:nvGrpSpPr>
          <p:cNvPr id="9" name="Group 9"/>
          <p:cNvGrpSpPr/>
          <p:nvPr/>
        </p:nvGrpSpPr>
        <p:grpSpPr>
          <a:xfrm>
            <a:off x="1028700" y="654448"/>
            <a:ext cx="16230600" cy="748504"/>
            <a:chOff x="0" y="0"/>
            <a:chExt cx="4274726" cy="197137"/>
          </a:xfrm>
        </p:grpSpPr>
        <p:sp>
          <p:nvSpPr>
            <p:cNvPr id="10" name="Freeform 10"/>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1" name="TextBox 11"/>
            <p:cNvSpPr txBox="1"/>
            <p:nvPr/>
          </p:nvSpPr>
          <p:spPr>
            <a:xfrm>
              <a:off x="0" y="38100"/>
              <a:ext cx="4274726" cy="159037"/>
            </a:xfrm>
            <a:prstGeom prst="rect">
              <a:avLst/>
            </a:prstGeom>
          </p:spPr>
          <p:txBody>
            <a:bodyPr lIns="50800" tIns="50800" rIns="50800" bIns="50800" rtlCol="0" anchor="ctr"/>
            <a:lstStyle/>
            <a:p>
              <a:pPr marL="0" lvl="0" indent="0" algn="ctr">
                <a:lnSpc>
                  <a:spcPts val="1619"/>
                </a:lnSpc>
              </a:pPr>
              <a:endParaRPr/>
            </a:p>
          </p:txBody>
        </p:sp>
      </p:grpSp>
      <p:sp>
        <p:nvSpPr>
          <p:cNvPr id="12" name="TextBox 12"/>
          <p:cNvSpPr txBox="1"/>
          <p:nvPr/>
        </p:nvSpPr>
        <p:spPr>
          <a:xfrm>
            <a:off x="1028700" y="2394261"/>
            <a:ext cx="12936724" cy="3185434"/>
          </a:xfrm>
          <a:prstGeom prst="rect">
            <a:avLst/>
          </a:prstGeom>
        </p:spPr>
        <p:txBody>
          <a:bodyPr lIns="0" tIns="0" rIns="0" bIns="0" rtlCol="0" anchor="t">
            <a:spAutoFit/>
          </a:bodyPr>
          <a:lstStyle/>
          <a:p>
            <a:pPr marL="0" lvl="0" indent="0" algn="l">
              <a:lnSpc>
                <a:spcPts val="6171"/>
              </a:lnSpc>
            </a:pPr>
            <a:r>
              <a:rPr lang="en-US" sz="6857" b="1" spc="-274">
                <a:solidFill>
                  <a:srgbClr val="FFFFFF"/>
                </a:solidFill>
                <a:latin typeface="Pragmatica Bold"/>
                <a:ea typeface="Pragmatica Bold"/>
                <a:cs typeface="Pragmatica Bold"/>
                <a:sym typeface="Pragmatica Bold"/>
              </a:rPr>
              <a:t>Advanced Iron-Based Lithium Battery Electrodes: AI-Driven Development and Performance Prediction</a:t>
            </a:r>
          </a:p>
        </p:txBody>
      </p:sp>
      <p:sp>
        <p:nvSpPr>
          <p:cNvPr id="13" name="TextBox 13"/>
          <p:cNvSpPr txBox="1"/>
          <p:nvPr/>
        </p:nvSpPr>
        <p:spPr>
          <a:xfrm>
            <a:off x="1157857"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Project Overview</a:t>
            </a:r>
          </a:p>
        </p:txBody>
      </p:sp>
      <p:sp>
        <p:nvSpPr>
          <p:cNvPr id="14" name="TextBox 14"/>
          <p:cNvSpPr txBox="1"/>
          <p:nvPr/>
        </p:nvSpPr>
        <p:spPr>
          <a:xfrm>
            <a:off x="3358755"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Objectives</a:t>
            </a:r>
          </a:p>
        </p:txBody>
      </p:sp>
      <p:sp>
        <p:nvSpPr>
          <p:cNvPr id="15" name="TextBox 15"/>
          <p:cNvSpPr txBox="1"/>
          <p:nvPr/>
        </p:nvSpPr>
        <p:spPr>
          <a:xfrm>
            <a:off x="5108285"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Methodology</a:t>
            </a:r>
          </a:p>
        </p:txBody>
      </p:sp>
      <p:sp>
        <p:nvSpPr>
          <p:cNvPr id="16" name="TextBox 16"/>
          <p:cNvSpPr txBox="1"/>
          <p:nvPr/>
        </p:nvSpPr>
        <p:spPr>
          <a:xfrm>
            <a:off x="6552810"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AI Integration</a:t>
            </a:r>
          </a:p>
        </p:txBody>
      </p:sp>
      <p:sp>
        <p:nvSpPr>
          <p:cNvPr id="17" name="TextBox 17"/>
          <p:cNvSpPr txBox="1"/>
          <p:nvPr/>
        </p:nvSpPr>
        <p:spPr>
          <a:xfrm>
            <a:off x="14585765" y="904812"/>
            <a:ext cx="2498812" cy="244874"/>
          </a:xfrm>
          <a:prstGeom prst="rect">
            <a:avLst/>
          </a:prstGeom>
        </p:spPr>
        <p:txBody>
          <a:bodyPr lIns="0" tIns="0" rIns="0" bIns="0" rtlCol="0" anchor="t">
            <a:spAutoFit/>
          </a:bodyPr>
          <a:lstStyle/>
          <a:p>
            <a:pPr marL="0" lvl="0" indent="0" algn="r">
              <a:lnSpc>
                <a:spcPts val="2098"/>
              </a:lnSpc>
            </a:pPr>
            <a:r>
              <a:rPr lang="en-US" sz="1542" b="1" spc="-38">
                <a:solidFill>
                  <a:srgbClr val="FFFFFF"/>
                </a:solidFill>
                <a:latin typeface="Canva Sans Bold"/>
                <a:ea typeface="Canva Sans Bold"/>
                <a:cs typeface="Canva Sans Bold"/>
                <a:sym typeface="Canva Sans Bold"/>
              </a:rPr>
              <a:t>HUST, Vietnam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AutoShape 3"/>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4" name="AutoShape 4"/>
          <p:cNvSpPr/>
          <p:nvPr/>
        </p:nvSpPr>
        <p:spPr>
          <a:xfrm>
            <a:off x="6075187"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grpSp>
        <p:nvGrpSpPr>
          <p:cNvPr id="7" name="Group 7"/>
          <p:cNvGrpSpPr/>
          <p:nvPr/>
        </p:nvGrpSpPr>
        <p:grpSpPr>
          <a:xfrm>
            <a:off x="1028700" y="654448"/>
            <a:ext cx="16230600" cy="748504"/>
            <a:chOff x="0" y="0"/>
            <a:chExt cx="4274726" cy="197137"/>
          </a:xfrm>
        </p:grpSpPr>
        <p:sp>
          <p:nvSpPr>
            <p:cNvPr id="8" name="Freeform 8"/>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9" name="TextBox 9"/>
            <p:cNvSpPr txBox="1"/>
            <p:nvPr/>
          </p:nvSpPr>
          <p:spPr>
            <a:xfrm>
              <a:off x="0" y="38100"/>
              <a:ext cx="4274726" cy="159037"/>
            </a:xfrm>
            <a:prstGeom prst="rect">
              <a:avLst/>
            </a:prstGeom>
          </p:spPr>
          <p:txBody>
            <a:bodyPr lIns="50800" tIns="50800" rIns="50800" bIns="50800" rtlCol="0" anchor="ctr"/>
            <a:lstStyle/>
            <a:p>
              <a:pPr marL="0" lvl="0" indent="0" algn="ctr">
                <a:lnSpc>
                  <a:spcPts val="1619"/>
                </a:lnSpc>
              </a:pPr>
              <a:endParaRPr/>
            </a:p>
          </p:txBody>
        </p:sp>
      </p:grpSp>
      <p:grpSp>
        <p:nvGrpSpPr>
          <p:cNvPr id="10" name="Group 10"/>
          <p:cNvGrpSpPr/>
          <p:nvPr/>
        </p:nvGrpSpPr>
        <p:grpSpPr>
          <a:xfrm>
            <a:off x="995214" y="5116783"/>
            <a:ext cx="8056407" cy="3518453"/>
            <a:chOff x="0" y="0"/>
            <a:chExt cx="2121852" cy="926671"/>
          </a:xfrm>
        </p:grpSpPr>
        <p:sp>
          <p:nvSpPr>
            <p:cNvPr id="11" name="Freeform 11"/>
            <p:cNvSpPr/>
            <p:nvPr/>
          </p:nvSpPr>
          <p:spPr>
            <a:xfrm>
              <a:off x="0" y="0"/>
              <a:ext cx="2121852" cy="926671"/>
            </a:xfrm>
            <a:custGeom>
              <a:avLst/>
              <a:gdLst/>
              <a:ahLst/>
              <a:cxnLst/>
              <a:rect l="l" t="t" r="r" b="b"/>
              <a:pathLst>
                <a:path w="2121852" h="926671">
                  <a:moveTo>
                    <a:pt x="48048" y="0"/>
                  </a:moveTo>
                  <a:lnTo>
                    <a:pt x="2073804" y="0"/>
                  </a:lnTo>
                  <a:cubicBezTo>
                    <a:pt x="2100340" y="0"/>
                    <a:pt x="2121852" y="21512"/>
                    <a:pt x="2121852" y="48048"/>
                  </a:cubicBezTo>
                  <a:lnTo>
                    <a:pt x="2121852" y="878623"/>
                  </a:lnTo>
                  <a:cubicBezTo>
                    <a:pt x="2121852" y="905159"/>
                    <a:pt x="2100340" y="926671"/>
                    <a:pt x="2073804" y="926671"/>
                  </a:cubicBezTo>
                  <a:lnTo>
                    <a:pt x="48048" y="926671"/>
                  </a:lnTo>
                  <a:cubicBezTo>
                    <a:pt x="35305" y="926671"/>
                    <a:pt x="23084" y="921609"/>
                    <a:pt x="14073" y="912598"/>
                  </a:cubicBezTo>
                  <a:cubicBezTo>
                    <a:pt x="5062" y="903587"/>
                    <a:pt x="0" y="891366"/>
                    <a:pt x="0" y="878623"/>
                  </a:cubicBezTo>
                  <a:lnTo>
                    <a:pt x="0" y="48048"/>
                  </a:lnTo>
                  <a:cubicBezTo>
                    <a:pt x="0" y="35305"/>
                    <a:pt x="5062" y="23084"/>
                    <a:pt x="14073" y="14073"/>
                  </a:cubicBezTo>
                  <a:cubicBezTo>
                    <a:pt x="23084" y="5062"/>
                    <a:pt x="35305" y="0"/>
                    <a:pt x="48048"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2" name="TextBox 12"/>
            <p:cNvSpPr txBox="1"/>
            <p:nvPr/>
          </p:nvSpPr>
          <p:spPr>
            <a:xfrm>
              <a:off x="0" y="38100"/>
              <a:ext cx="2121852" cy="888571"/>
            </a:xfrm>
            <a:prstGeom prst="rect">
              <a:avLst/>
            </a:prstGeom>
          </p:spPr>
          <p:txBody>
            <a:bodyPr lIns="50800" tIns="50800" rIns="50800" bIns="50800" rtlCol="0" anchor="ctr"/>
            <a:lstStyle/>
            <a:p>
              <a:pPr marL="0" lvl="0" indent="0" algn="ctr">
                <a:lnSpc>
                  <a:spcPts val="1619"/>
                </a:lnSpc>
              </a:pPr>
              <a:endParaRPr/>
            </a:p>
          </p:txBody>
        </p:sp>
      </p:grpSp>
      <p:grpSp>
        <p:nvGrpSpPr>
          <p:cNvPr id="13" name="Group 13"/>
          <p:cNvGrpSpPr/>
          <p:nvPr/>
        </p:nvGrpSpPr>
        <p:grpSpPr>
          <a:xfrm>
            <a:off x="9510043" y="5116783"/>
            <a:ext cx="7802949" cy="3518453"/>
            <a:chOff x="0" y="0"/>
            <a:chExt cx="2055098" cy="926671"/>
          </a:xfrm>
        </p:grpSpPr>
        <p:sp>
          <p:nvSpPr>
            <p:cNvPr id="14" name="Freeform 14"/>
            <p:cNvSpPr/>
            <p:nvPr/>
          </p:nvSpPr>
          <p:spPr>
            <a:xfrm>
              <a:off x="0" y="0"/>
              <a:ext cx="2055098" cy="926671"/>
            </a:xfrm>
            <a:custGeom>
              <a:avLst/>
              <a:gdLst/>
              <a:ahLst/>
              <a:cxnLst/>
              <a:rect l="l" t="t" r="r" b="b"/>
              <a:pathLst>
                <a:path w="2055098" h="926671">
                  <a:moveTo>
                    <a:pt x="49609" y="0"/>
                  </a:moveTo>
                  <a:lnTo>
                    <a:pt x="2005489" y="0"/>
                  </a:lnTo>
                  <a:cubicBezTo>
                    <a:pt x="2032887" y="0"/>
                    <a:pt x="2055098" y="22211"/>
                    <a:pt x="2055098" y="49609"/>
                  </a:cubicBezTo>
                  <a:lnTo>
                    <a:pt x="2055098" y="877062"/>
                  </a:lnTo>
                  <a:cubicBezTo>
                    <a:pt x="2055098" y="904460"/>
                    <a:pt x="2032887" y="926671"/>
                    <a:pt x="2005489" y="926671"/>
                  </a:cubicBezTo>
                  <a:lnTo>
                    <a:pt x="49609" y="926671"/>
                  </a:lnTo>
                  <a:cubicBezTo>
                    <a:pt x="22211" y="926671"/>
                    <a:pt x="0" y="904460"/>
                    <a:pt x="0" y="877062"/>
                  </a:cubicBezTo>
                  <a:lnTo>
                    <a:pt x="0" y="49609"/>
                  </a:lnTo>
                  <a:cubicBezTo>
                    <a:pt x="0" y="22211"/>
                    <a:pt x="22211" y="0"/>
                    <a:pt x="49609" y="0"/>
                  </a:cubicBezTo>
                  <a:close/>
                </a:path>
              </a:pathLst>
            </a:custGeom>
            <a:solidFill>
              <a:srgbClr val="053416"/>
            </a:soli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5" name="TextBox 15"/>
            <p:cNvSpPr txBox="1"/>
            <p:nvPr/>
          </p:nvSpPr>
          <p:spPr>
            <a:xfrm>
              <a:off x="0" y="38100"/>
              <a:ext cx="2055098" cy="888571"/>
            </a:xfrm>
            <a:prstGeom prst="rect">
              <a:avLst/>
            </a:prstGeom>
          </p:spPr>
          <p:txBody>
            <a:bodyPr lIns="50800" tIns="50800" rIns="50800" bIns="50800" rtlCol="0" anchor="ctr"/>
            <a:lstStyle/>
            <a:p>
              <a:pPr marL="0" lvl="0" indent="0" algn="ctr">
                <a:lnSpc>
                  <a:spcPts val="1619"/>
                </a:lnSpc>
              </a:pPr>
              <a:endParaRPr/>
            </a:p>
          </p:txBody>
        </p:sp>
      </p:grpSp>
      <p:grpSp>
        <p:nvGrpSpPr>
          <p:cNvPr id="16" name="Group 16"/>
          <p:cNvGrpSpPr/>
          <p:nvPr/>
        </p:nvGrpSpPr>
        <p:grpSpPr>
          <a:xfrm>
            <a:off x="3588041" y="823594"/>
            <a:ext cx="2040239" cy="410211"/>
            <a:chOff x="0" y="0"/>
            <a:chExt cx="537347" cy="108039"/>
          </a:xfrm>
        </p:grpSpPr>
        <p:sp>
          <p:nvSpPr>
            <p:cNvPr id="17" name="Freeform 17"/>
            <p:cNvSpPr/>
            <p:nvPr/>
          </p:nvSpPr>
          <p:spPr>
            <a:xfrm>
              <a:off x="0" y="0"/>
              <a:ext cx="537347" cy="108039"/>
            </a:xfrm>
            <a:custGeom>
              <a:avLst/>
              <a:gdLst/>
              <a:ahLst/>
              <a:cxnLst/>
              <a:rect l="l" t="t" r="r" b="b"/>
              <a:pathLst>
                <a:path w="537347" h="108039">
                  <a:moveTo>
                    <a:pt x="54020" y="0"/>
                  </a:moveTo>
                  <a:lnTo>
                    <a:pt x="483327" y="0"/>
                  </a:lnTo>
                  <a:cubicBezTo>
                    <a:pt x="497654" y="0"/>
                    <a:pt x="511394" y="5691"/>
                    <a:pt x="521525" y="15822"/>
                  </a:cubicBezTo>
                  <a:cubicBezTo>
                    <a:pt x="531656" y="25953"/>
                    <a:pt x="537347" y="39693"/>
                    <a:pt x="537347" y="54020"/>
                  </a:cubicBezTo>
                  <a:lnTo>
                    <a:pt x="537347" y="54020"/>
                  </a:lnTo>
                  <a:cubicBezTo>
                    <a:pt x="537347" y="68346"/>
                    <a:pt x="531656" y="82087"/>
                    <a:pt x="521525" y="92217"/>
                  </a:cubicBezTo>
                  <a:cubicBezTo>
                    <a:pt x="511394" y="102348"/>
                    <a:pt x="497654" y="108039"/>
                    <a:pt x="483327" y="108039"/>
                  </a:cubicBezTo>
                  <a:lnTo>
                    <a:pt x="54020" y="108039"/>
                  </a:lnTo>
                  <a:cubicBezTo>
                    <a:pt x="39693" y="108039"/>
                    <a:pt x="25953" y="102348"/>
                    <a:pt x="15822" y="92217"/>
                  </a:cubicBezTo>
                  <a:cubicBezTo>
                    <a:pt x="5691" y="82087"/>
                    <a:pt x="0" y="68346"/>
                    <a:pt x="0" y="54020"/>
                  </a:cubicBezTo>
                  <a:lnTo>
                    <a:pt x="0" y="54020"/>
                  </a:lnTo>
                  <a:cubicBezTo>
                    <a:pt x="0" y="39693"/>
                    <a:pt x="5691" y="25953"/>
                    <a:pt x="15822" y="15822"/>
                  </a:cubicBezTo>
                  <a:cubicBezTo>
                    <a:pt x="25953" y="5691"/>
                    <a:pt x="39693" y="0"/>
                    <a:pt x="54020" y="0"/>
                  </a:cubicBezTo>
                  <a:close/>
                </a:path>
              </a:pathLst>
            </a:custGeom>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ln cap="rnd">
              <a:noFill/>
              <a:prstDash val="solid"/>
              <a:round/>
            </a:ln>
          </p:spPr>
          <p:txBody>
            <a:bodyPr/>
            <a:lstStyle/>
            <a:p>
              <a:endParaRPr lang="en-US"/>
            </a:p>
          </p:txBody>
        </p:sp>
        <p:sp>
          <p:nvSpPr>
            <p:cNvPr id="18" name="TextBox 18"/>
            <p:cNvSpPr txBox="1"/>
            <p:nvPr/>
          </p:nvSpPr>
          <p:spPr>
            <a:xfrm>
              <a:off x="0" y="38100"/>
              <a:ext cx="537347" cy="69939"/>
            </a:xfrm>
            <a:prstGeom prst="rect">
              <a:avLst/>
            </a:prstGeom>
          </p:spPr>
          <p:txBody>
            <a:bodyPr lIns="50800" tIns="50800" rIns="50800" bIns="50800" rtlCol="0" anchor="ctr"/>
            <a:lstStyle/>
            <a:p>
              <a:pPr marL="0" lvl="0" indent="0" algn="ctr">
                <a:lnSpc>
                  <a:spcPts val="1619"/>
                </a:lnSpc>
              </a:pPr>
              <a:endParaRPr/>
            </a:p>
          </p:txBody>
        </p:sp>
      </p:grpSp>
      <p:sp>
        <p:nvSpPr>
          <p:cNvPr id="19" name="TextBox 19"/>
          <p:cNvSpPr txBox="1"/>
          <p:nvPr/>
        </p:nvSpPr>
        <p:spPr>
          <a:xfrm>
            <a:off x="344223" y="2535968"/>
            <a:ext cx="9165821" cy="1647825"/>
          </a:xfrm>
          <a:prstGeom prst="rect">
            <a:avLst/>
          </a:prstGeom>
        </p:spPr>
        <p:txBody>
          <a:bodyPr lIns="0" tIns="0" rIns="0" bIns="0" rtlCol="0" anchor="t">
            <a:spAutoFit/>
          </a:bodyPr>
          <a:lstStyle/>
          <a:p>
            <a:pPr marL="0" lvl="0" indent="0" algn="ctr">
              <a:lnSpc>
                <a:spcPts val="6299"/>
              </a:lnSpc>
              <a:spcBef>
                <a:spcPct val="0"/>
              </a:spcBef>
            </a:pPr>
            <a:r>
              <a:rPr lang="en-US" sz="6999" b="1" spc="-279">
                <a:solidFill>
                  <a:srgbClr val="FFFFFF"/>
                </a:solidFill>
                <a:latin typeface="Pragmatica Bold"/>
                <a:ea typeface="Pragmatica Bold"/>
                <a:cs typeface="Pragmatica Bold"/>
                <a:sym typeface="Pragmatica Bold"/>
              </a:rPr>
              <a:t>Project</a:t>
            </a:r>
          </a:p>
          <a:p>
            <a:pPr marL="0" lvl="0" indent="0" algn="ctr">
              <a:lnSpc>
                <a:spcPts val="6299"/>
              </a:lnSpc>
              <a:spcBef>
                <a:spcPct val="0"/>
              </a:spcBef>
            </a:pPr>
            <a:r>
              <a:rPr lang="en-US" sz="6999" b="1" spc="-279">
                <a:solidFill>
                  <a:srgbClr val="FFFFFF"/>
                </a:solidFill>
                <a:latin typeface="Pragmatica Bold"/>
                <a:ea typeface="Pragmatica Bold"/>
                <a:cs typeface="Pragmatica Bold"/>
                <a:sym typeface="Pragmatica Bold"/>
              </a:rPr>
              <a:t>Information</a:t>
            </a:r>
          </a:p>
        </p:txBody>
      </p:sp>
      <p:grpSp>
        <p:nvGrpSpPr>
          <p:cNvPr id="20" name="Group 20"/>
          <p:cNvGrpSpPr/>
          <p:nvPr/>
        </p:nvGrpSpPr>
        <p:grpSpPr>
          <a:xfrm>
            <a:off x="11677368" y="2141556"/>
            <a:ext cx="5542405" cy="2238518"/>
            <a:chOff x="0" y="0"/>
            <a:chExt cx="601748" cy="243040"/>
          </a:xfrm>
        </p:grpSpPr>
        <p:sp>
          <p:nvSpPr>
            <p:cNvPr id="21" name="Freeform 21"/>
            <p:cNvSpPr/>
            <p:nvPr/>
          </p:nvSpPr>
          <p:spPr>
            <a:xfrm>
              <a:off x="0" y="0"/>
              <a:ext cx="601748" cy="243040"/>
            </a:xfrm>
            <a:custGeom>
              <a:avLst/>
              <a:gdLst/>
              <a:ahLst/>
              <a:cxnLst/>
              <a:rect l="l" t="t" r="r" b="b"/>
              <a:pathLst>
                <a:path w="601748" h="243040">
                  <a:moveTo>
                    <a:pt x="44699" y="0"/>
                  </a:moveTo>
                  <a:lnTo>
                    <a:pt x="557049" y="0"/>
                  </a:lnTo>
                  <a:cubicBezTo>
                    <a:pt x="568904" y="0"/>
                    <a:pt x="580273" y="4709"/>
                    <a:pt x="588656" y="13092"/>
                  </a:cubicBezTo>
                  <a:cubicBezTo>
                    <a:pt x="597039" y="21475"/>
                    <a:pt x="601748" y="32844"/>
                    <a:pt x="601748" y="44699"/>
                  </a:cubicBezTo>
                  <a:lnTo>
                    <a:pt x="601748" y="198340"/>
                  </a:lnTo>
                  <a:cubicBezTo>
                    <a:pt x="601748" y="210195"/>
                    <a:pt x="597039" y="221565"/>
                    <a:pt x="588656" y="229947"/>
                  </a:cubicBezTo>
                  <a:cubicBezTo>
                    <a:pt x="580273" y="238330"/>
                    <a:pt x="568904" y="243040"/>
                    <a:pt x="557049" y="243040"/>
                  </a:cubicBezTo>
                  <a:lnTo>
                    <a:pt x="44699" y="243040"/>
                  </a:lnTo>
                  <a:cubicBezTo>
                    <a:pt x="32844" y="243040"/>
                    <a:pt x="21475" y="238330"/>
                    <a:pt x="13092" y="229947"/>
                  </a:cubicBezTo>
                  <a:cubicBezTo>
                    <a:pt x="4709" y="221565"/>
                    <a:pt x="0" y="210195"/>
                    <a:pt x="0" y="198340"/>
                  </a:cubicBezTo>
                  <a:lnTo>
                    <a:pt x="0" y="44699"/>
                  </a:lnTo>
                  <a:cubicBezTo>
                    <a:pt x="0" y="32844"/>
                    <a:pt x="4709" y="21475"/>
                    <a:pt x="13092" y="13092"/>
                  </a:cubicBezTo>
                  <a:cubicBezTo>
                    <a:pt x="21475" y="4709"/>
                    <a:pt x="32844" y="0"/>
                    <a:pt x="44699" y="0"/>
                  </a:cubicBezTo>
                  <a:close/>
                </a:path>
              </a:pathLst>
            </a:custGeom>
            <a:blipFill>
              <a:blip r:embed="rId2"/>
              <a:stretch>
                <a:fillRect l="-172" r="-172"/>
              </a:stretch>
            </a:blipFill>
          </p:spPr>
          <p:txBody>
            <a:bodyPr/>
            <a:lstStyle/>
            <a:p>
              <a:endParaRPr lang="en-US"/>
            </a:p>
          </p:txBody>
        </p:sp>
      </p:grpSp>
      <p:grpSp>
        <p:nvGrpSpPr>
          <p:cNvPr id="22" name="Group 22"/>
          <p:cNvGrpSpPr/>
          <p:nvPr/>
        </p:nvGrpSpPr>
        <p:grpSpPr>
          <a:xfrm>
            <a:off x="8767467" y="2141556"/>
            <a:ext cx="2725322" cy="2238518"/>
            <a:chOff x="0" y="0"/>
            <a:chExt cx="295893" cy="243040"/>
          </a:xfrm>
        </p:grpSpPr>
        <p:sp>
          <p:nvSpPr>
            <p:cNvPr id="23" name="Freeform 23"/>
            <p:cNvSpPr/>
            <p:nvPr/>
          </p:nvSpPr>
          <p:spPr>
            <a:xfrm>
              <a:off x="0" y="0"/>
              <a:ext cx="295893" cy="243040"/>
            </a:xfrm>
            <a:custGeom>
              <a:avLst/>
              <a:gdLst/>
              <a:ahLst/>
              <a:cxnLst/>
              <a:rect l="l" t="t" r="r" b="b"/>
              <a:pathLst>
                <a:path w="295893" h="243040">
                  <a:moveTo>
                    <a:pt x="90904" y="0"/>
                  </a:moveTo>
                  <a:lnTo>
                    <a:pt x="204989" y="0"/>
                  </a:lnTo>
                  <a:cubicBezTo>
                    <a:pt x="255194" y="0"/>
                    <a:pt x="295893" y="40699"/>
                    <a:pt x="295893" y="90904"/>
                  </a:cubicBezTo>
                  <a:lnTo>
                    <a:pt x="295893" y="152136"/>
                  </a:lnTo>
                  <a:cubicBezTo>
                    <a:pt x="295893" y="202341"/>
                    <a:pt x="255194" y="243040"/>
                    <a:pt x="204989" y="243040"/>
                  </a:cubicBezTo>
                  <a:lnTo>
                    <a:pt x="90904" y="243040"/>
                  </a:lnTo>
                  <a:cubicBezTo>
                    <a:pt x="66794" y="243040"/>
                    <a:pt x="43673" y="233462"/>
                    <a:pt x="26625" y="216415"/>
                  </a:cubicBezTo>
                  <a:cubicBezTo>
                    <a:pt x="9577" y="199367"/>
                    <a:pt x="0" y="176245"/>
                    <a:pt x="0" y="152136"/>
                  </a:cubicBezTo>
                  <a:lnTo>
                    <a:pt x="0" y="90904"/>
                  </a:lnTo>
                  <a:cubicBezTo>
                    <a:pt x="0" y="66794"/>
                    <a:pt x="9577" y="43673"/>
                    <a:pt x="26625" y="26625"/>
                  </a:cubicBezTo>
                  <a:cubicBezTo>
                    <a:pt x="43673" y="9577"/>
                    <a:pt x="66794" y="0"/>
                    <a:pt x="90904" y="0"/>
                  </a:cubicBezTo>
                  <a:close/>
                </a:path>
              </a:pathLst>
            </a:custGeom>
            <a:blipFill>
              <a:blip r:embed="rId3"/>
              <a:stretch>
                <a:fillRect l="-84" r="-84"/>
              </a:stretch>
            </a:blipFill>
          </p:spPr>
          <p:txBody>
            <a:bodyPr/>
            <a:lstStyle/>
            <a:p>
              <a:endParaRPr lang="en-US"/>
            </a:p>
          </p:txBody>
        </p:sp>
      </p:grpSp>
      <p:sp>
        <p:nvSpPr>
          <p:cNvPr id="24" name="TextBox 24"/>
          <p:cNvSpPr txBox="1"/>
          <p:nvPr/>
        </p:nvSpPr>
        <p:spPr>
          <a:xfrm>
            <a:off x="1157857" y="895287"/>
            <a:ext cx="2498812" cy="238272"/>
          </a:xfrm>
          <a:prstGeom prst="rect">
            <a:avLst/>
          </a:prstGeom>
        </p:spPr>
        <p:txBody>
          <a:bodyPr lIns="0" tIns="0" rIns="0" bIns="0" rtlCol="0" anchor="t">
            <a:spAutoFit/>
          </a:bodyPr>
          <a:lstStyle/>
          <a:p>
            <a:pPr marL="0" lvl="0" indent="0" algn="ctr">
              <a:lnSpc>
                <a:spcPts val="1902"/>
              </a:lnSpc>
            </a:pPr>
            <a:r>
              <a:rPr lang="en-US" sz="1399" spc="-34">
                <a:solidFill>
                  <a:srgbClr val="FFFFFF"/>
                </a:solidFill>
                <a:latin typeface="Canva Sans"/>
                <a:ea typeface="Canva Sans"/>
                <a:cs typeface="Canva Sans"/>
                <a:sym typeface="Canva Sans"/>
              </a:rPr>
              <a:t>Project Overview</a:t>
            </a:r>
          </a:p>
        </p:txBody>
      </p:sp>
      <p:sp>
        <p:nvSpPr>
          <p:cNvPr id="25" name="TextBox 25"/>
          <p:cNvSpPr txBox="1"/>
          <p:nvPr/>
        </p:nvSpPr>
        <p:spPr>
          <a:xfrm>
            <a:off x="3358755" y="895287"/>
            <a:ext cx="2498812" cy="238272"/>
          </a:xfrm>
          <a:prstGeom prst="rect">
            <a:avLst/>
          </a:prstGeom>
        </p:spPr>
        <p:txBody>
          <a:bodyPr lIns="0" tIns="0" rIns="0" bIns="0" rtlCol="0" anchor="t">
            <a:spAutoFit/>
          </a:bodyPr>
          <a:lstStyle/>
          <a:p>
            <a:pPr marL="0" lvl="0" indent="0" algn="ctr">
              <a:lnSpc>
                <a:spcPts val="1902"/>
              </a:lnSpc>
            </a:pPr>
            <a:r>
              <a:rPr lang="en-US" sz="1399" spc="-34">
                <a:solidFill>
                  <a:srgbClr val="FFFFFF"/>
                </a:solidFill>
                <a:latin typeface="Canva Sans"/>
                <a:ea typeface="Canva Sans"/>
                <a:cs typeface="Canva Sans"/>
                <a:sym typeface="Canva Sans"/>
              </a:rPr>
              <a:t>Funding &amp; Team</a:t>
            </a:r>
          </a:p>
        </p:txBody>
      </p:sp>
      <p:sp>
        <p:nvSpPr>
          <p:cNvPr id="26" name="TextBox 26"/>
          <p:cNvSpPr txBox="1"/>
          <p:nvPr/>
        </p:nvSpPr>
        <p:spPr>
          <a:xfrm>
            <a:off x="5108285" y="895287"/>
            <a:ext cx="2498812" cy="238272"/>
          </a:xfrm>
          <a:prstGeom prst="rect">
            <a:avLst/>
          </a:prstGeom>
        </p:spPr>
        <p:txBody>
          <a:bodyPr lIns="0" tIns="0" rIns="0" bIns="0" rtlCol="0" anchor="t">
            <a:spAutoFit/>
          </a:bodyPr>
          <a:lstStyle/>
          <a:p>
            <a:pPr marL="0" lvl="0" indent="0" algn="ctr">
              <a:lnSpc>
                <a:spcPts val="1902"/>
              </a:lnSpc>
            </a:pPr>
            <a:r>
              <a:rPr lang="en-US" sz="1399" spc="-34">
                <a:solidFill>
                  <a:srgbClr val="FFFFFF"/>
                </a:solidFill>
                <a:latin typeface="Canva Sans"/>
                <a:ea typeface="Canva Sans"/>
                <a:cs typeface="Canva Sans"/>
                <a:sym typeface="Canva Sans"/>
              </a:rPr>
              <a:t>Timeline</a:t>
            </a:r>
          </a:p>
        </p:txBody>
      </p:sp>
      <p:sp>
        <p:nvSpPr>
          <p:cNvPr id="27" name="TextBox 27"/>
          <p:cNvSpPr txBox="1"/>
          <p:nvPr/>
        </p:nvSpPr>
        <p:spPr>
          <a:xfrm>
            <a:off x="6552810" y="895287"/>
            <a:ext cx="2498812" cy="238272"/>
          </a:xfrm>
          <a:prstGeom prst="rect">
            <a:avLst/>
          </a:prstGeom>
        </p:spPr>
        <p:txBody>
          <a:bodyPr lIns="0" tIns="0" rIns="0" bIns="0" rtlCol="0" anchor="t">
            <a:spAutoFit/>
          </a:bodyPr>
          <a:lstStyle/>
          <a:p>
            <a:pPr marL="0" lvl="0" indent="0" algn="ctr">
              <a:lnSpc>
                <a:spcPts val="1902"/>
              </a:lnSpc>
            </a:pPr>
            <a:r>
              <a:rPr lang="en-US" sz="1399" spc="-34">
                <a:solidFill>
                  <a:srgbClr val="FFFFFF"/>
                </a:solidFill>
                <a:latin typeface="Canva Sans"/>
                <a:ea typeface="Canva Sans"/>
                <a:cs typeface="Canva Sans"/>
                <a:sym typeface="Canva Sans"/>
              </a:rPr>
              <a:t>Objectives</a:t>
            </a:r>
          </a:p>
        </p:txBody>
      </p:sp>
      <p:sp>
        <p:nvSpPr>
          <p:cNvPr id="28" name="TextBox 28"/>
          <p:cNvSpPr txBox="1"/>
          <p:nvPr/>
        </p:nvSpPr>
        <p:spPr>
          <a:xfrm>
            <a:off x="14585765" y="904812"/>
            <a:ext cx="2498812" cy="287300"/>
          </a:xfrm>
          <a:prstGeom prst="rect">
            <a:avLst/>
          </a:prstGeom>
        </p:spPr>
        <p:txBody>
          <a:bodyPr lIns="0" tIns="0" rIns="0" bIns="0" rtlCol="0" anchor="t">
            <a:spAutoFit/>
          </a:bodyPr>
          <a:lstStyle/>
          <a:p>
            <a:pPr marL="0" lvl="0" indent="0" algn="r">
              <a:lnSpc>
                <a:spcPts val="2446"/>
              </a:lnSpc>
            </a:pPr>
            <a:r>
              <a:rPr lang="en-US" sz="1798" b="1" spc="-44">
                <a:solidFill>
                  <a:srgbClr val="FFFFFF"/>
                </a:solidFill>
                <a:latin typeface="Canva Sans Bold"/>
                <a:ea typeface="Canva Sans Bold"/>
                <a:cs typeface="Canva Sans Bold"/>
                <a:sym typeface="Canva Sans Bold"/>
              </a:rPr>
              <a:t>HUST Research</a:t>
            </a:r>
          </a:p>
        </p:txBody>
      </p:sp>
      <p:sp>
        <p:nvSpPr>
          <p:cNvPr id="29" name="TextBox 29"/>
          <p:cNvSpPr txBox="1"/>
          <p:nvPr/>
        </p:nvSpPr>
        <p:spPr>
          <a:xfrm>
            <a:off x="10261426" y="6128726"/>
            <a:ext cx="6416141" cy="844550"/>
          </a:xfrm>
          <a:prstGeom prst="rect">
            <a:avLst/>
          </a:prstGeom>
        </p:spPr>
        <p:txBody>
          <a:bodyPr lIns="0" tIns="0" rIns="0" bIns="0" rtlCol="0" anchor="t">
            <a:spAutoFit/>
          </a:bodyPr>
          <a:lstStyle/>
          <a:p>
            <a:pPr algn="ctr">
              <a:lnSpc>
                <a:spcPts val="3399"/>
              </a:lnSpc>
            </a:pPr>
            <a:r>
              <a:rPr lang="en-US" sz="2499" spc="-62">
                <a:solidFill>
                  <a:srgbClr val="FFFFFF"/>
                </a:solidFill>
                <a:latin typeface="Canva Sans"/>
                <a:ea typeface="Canva Sans"/>
                <a:cs typeface="Canva Sans"/>
                <a:sym typeface="Canva Sans"/>
              </a:rPr>
              <a:t>Prof. Nguyen Xuan Dien - HUST </a:t>
            </a:r>
          </a:p>
          <a:p>
            <a:pPr marL="0" lvl="0" indent="0" algn="ctr">
              <a:lnSpc>
                <a:spcPts val="3399"/>
              </a:lnSpc>
            </a:pPr>
            <a:r>
              <a:rPr lang="en-US" sz="2499" spc="-62">
                <a:solidFill>
                  <a:srgbClr val="FFFFFF"/>
                </a:solidFill>
                <a:latin typeface="Canva Sans"/>
                <a:ea typeface="Canva Sans"/>
                <a:cs typeface="Canva Sans"/>
                <a:sym typeface="Canva Sans"/>
              </a:rPr>
              <a:t>Prof. Kang Jungwon - Mokpo University</a:t>
            </a:r>
          </a:p>
        </p:txBody>
      </p:sp>
      <p:sp>
        <p:nvSpPr>
          <p:cNvPr id="30" name="TextBox 30"/>
          <p:cNvSpPr txBox="1"/>
          <p:nvPr/>
        </p:nvSpPr>
        <p:spPr>
          <a:xfrm>
            <a:off x="9854416" y="5440633"/>
            <a:ext cx="7230160" cy="486410"/>
          </a:xfrm>
          <a:prstGeom prst="rect">
            <a:avLst/>
          </a:prstGeom>
        </p:spPr>
        <p:txBody>
          <a:bodyPr lIns="0" tIns="0" rIns="0" bIns="0" rtlCol="0" anchor="t">
            <a:spAutoFit/>
          </a:bodyPr>
          <a:lstStyle/>
          <a:p>
            <a:pPr marL="0" lvl="0" indent="0" algn="ctr">
              <a:lnSpc>
                <a:spcPts val="3519"/>
              </a:lnSpc>
            </a:pPr>
            <a:r>
              <a:rPr lang="en-US" sz="3999" b="1" spc="-199">
                <a:solidFill>
                  <a:srgbClr val="FFFFFF"/>
                </a:solidFill>
                <a:latin typeface="Pragmatica Bold"/>
                <a:ea typeface="Pragmatica Bold"/>
                <a:cs typeface="Pragmatica Bold"/>
                <a:sym typeface="Pragmatica Bold"/>
              </a:rPr>
              <a:t>Professor and Advisor</a:t>
            </a:r>
          </a:p>
        </p:txBody>
      </p:sp>
      <p:sp>
        <p:nvSpPr>
          <p:cNvPr id="31" name="TextBox 31"/>
          <p:cNvSpPr txBox="1"/>
          <p:nvPr/>
        </p:nvSpPr>
        <p:spPr>
          <a:xfrm>
            <a:off x="2969236" y="5347283"/>
            <a:ext cx="4278097" cy="486410"/>
          </a:xfrm>
          <a:prstGeom prst="rect">
            <a:avLst/>
          </a:prstGeom>
        </p:spPr>
        <p:txBody>
          <a:bodyPr lIns="0" tIns="0" rIns="0" bIns="0" rtlCol="0" anchor="t">
            <a:spAutoFit/>
          </a:bodyPr>
          <a:lstStyle/>
          <a:p>
            <a:pPr marL="0" lvl="0" indent="0" algn="ctr">
              <a:lnSpc>
                <a:spcPts val="3519"/>
              </a:lnSpc>
            </a:pPr>
            <a:r>
              <a:rPr lang="en-US" sz="3999" b="1" spc="-199">
                <a:solidFill>
                  <a:srgbClr val="FFFFFF"/>
                </a:solidFill>
                <a:latin typeface="Pragmatica Bold"/>
                <a:ea typeface="Pragmatica Bold"/>
                <a:cs typeface="Pragmatica Bold"/>
                <a:sym typeface="Pragmatica Bold"/>
              </a:rPr>
              <a:t>Team member</a:t>
            </a:r>
          </a:p>
        </p:txBody>
      </p:sp>
      <p:sp>
        <p:nvSpPr>
          <p:cNvPr id="32" name="TextBox 32"/>
          <p:cNvSpPr txBox="1"/>
          <p:nvPr/>
        </p:nvSpPr>
        <p:spPr>
          <a:xfrm>
            <a:off x="711847" y="6081101"/>
            <a:ext cx="8798196" cy="2174875"/>
          </a:xfrm>
          <a:prstGeom prst="rect">
            <a:avLst/>
          </a:prstGeom>
        </p:spPr>
        <p:txBody>
          <a:bodyPr lIns="0" tIns="0" rIns="0" bIns="0" rtlCol="0" anchor="t">
            <a:spAutoFit/>
          </a:bodyPr>
          <a:lstStyle/>
          <a:p>
            <a:pPr algn="ctr">
              <a:lnSpc>
                <a:spcPts val="3499"/>
              </a:lnSpc>
            </a:pPr>
            <a:r>
              <a:rPr lang="en-US" sz="2499">
                <a:solidFill>
                  <a:srgbClr val="FFFFFF"/>
                </a:solidFill>
                <a:latin typeface="Bricolage Grotesque"/>
                <a:ea typeface="Bricolage Grotesque"/>
                <a:cs typeface="Bricolage Grotesque"/>
                <a:sym typeface="Bricolage Grotesque"/>
              </a:rPr>
              <a:t>Nguyen Quoc Khanh - HUST - Material development</a:t>
            </a:r>
          </a:p>
          <a:p>
            <a:pPr algn="ctr">
              <a:lnSpc>
                <a:spcPts val="3499"/>
              </a:lnSpc>
            </a:pPr>
            <a:r>
              <a:rPr lang="en-US" sz="2499">
                <a:solidFill>
                  <a:srgbClr val="FFFFFF"/>
                </a:solidFill>
                <a:latin typeface="Bricolage Grotesque"/>
                <a:ea typeface="Bricolage Grotesque"/>
                <a:cs typeface="Bricolage Grotesque"/>
                <a:sym typeface="Bricolage Grotesque"/>
              </a:rPr>
              <a:t>Ta Duc Hien - HUST - AI engineer</a:t>
            </a:r>
          </a:p>
          <a:p>
            <a:pPr algn="ctr">
              <a:lnSpc>
                <a:spcPts val="3499"/>
              </a:lnSpc>
            </a:pPr>
            <a:r>
              <a:rPr lang="en-US" sz="2499">
                <a:solidFill>
                  <a:srgbClr val="FFFFFF"/>
                </a:solidFill>
                <a:latin typeface="Bricolage Grotesque"/>
                <a:ea typeface="Bricolage Grotesque"/>
                <a:cs typeface="Bricolage Grotesque"/>
                <a:sym typeface="Bricolage Grotesque"/>
              </a:rPr>
              <a:t>Joeng Jueun -  Battery Test Engineer</a:t>
            </a:r>
          </a:p>
          <a:p>
            <a:pPr algn="ctr">
              <a:lnSpc>
                <a:spcPts val="3499"/>
              </a:lnSpc>
            </a:pPr>
            <a:r>
              <a:rPr lang="en-US" sz="2499">
                <a:solidFill>
                  <a:srgbClr val="FFFFFF"/>
                </a:solidFill>
                <a:latin typeface="Bricolage Grotesque"/>
                <a:ea typeface="Bricolage Grotesque"/>
                <a:cs typeface="Bricolage Grotesque"/>
                <a:sym typeface="Bricolage Grotesque"/>
              </a:rPr>
              <a:t>Mun Jihyun - AI engineer</a:t>
            </a:r>
          </a:p>
          <a:p>
            <a:pPr algn="ctr">
              <a:lnSpc>
                <a:spcPts val="3499"/>
              </a:lnSpc>
              <a:spcBef>
                <a:spcPct val="0"/>
              </a:spcBef>
            </a:pPr>
            <a:endParaRPr lang="en-US" sz="2499">
              <a:solidFill>
                <a:srgbClr val="FFFFFF"/>
              </a:solidFill>
              <a:latin typeface="Bricolage Grotesque"/>
              <a:ea typeface="Bricolage Grotesque"/>
              <a:cs typeface="Bricolage Grotesque"/>
              <a:sym typeface="Bricolage Grotesqu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Freeform 3"/>
          <p:cNvSpPr/>
          <p:nvPr/>
        </p:nvSpPr>
        <p:spPr>
          <a:xfrm>
            <a:off x="14950017" y="-1114244"/>
            <a:ext cx="8534070" cy="11618164"/>
          </a:xfrm>
          <a:custGeom>
            <a:avLst/>
            <a:gdLst/>
            <a:ahLst/>
            <a:cxnLst/>
            <a:rect l="l" t="t" r="r" b="b"/>
            <a:pathLst>
              <a:path w="8534070" h="11618164">
                <a:moveTo>
                  <a:pt x="0" y="0"/>
                </a:moveTo>
                <a:lnTo>
                  <a:pt x="8534069" y="0"/>
                </a:lnTo>
                <a:lnTo>
                  <a:pt x="8534069" y="11618163"/>
                </a:lnTo>
                <a:lnTo>
                  <a:pt x="0" y="11618163"/>
                </a:lnTo>
                <a:lnTo>
                  <a:pt x="0" y="0"/>
                </a:lnTo>
                <a:close/>
              </a:path>
            </a:pathLst>
          </a:custGeom>
          <a:blipFill>
            <a:blip r:embed="rId2">
              <a:alphaModFix amt="50000"/>
            </a:blip>
            <a:stretch>
              <a:fillRect/>
            </a:stretch>
          </a:blipFill>
        </p:spPr>
        <p:txBody>
          <a:bodyPr/>
          <a:lstStyle/>
          <a:p>
            <a:endParaRPr lang="en-US"/>
          </a:p>
        </p:txBody>
      </p:sp>
      <p:sp>
        <p:nvSpPr>
          <p:cNvPr id="4" name="AutoShape 4"/>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p:cNvSpPr/>
          <p:nvPr/>
        </p:nvSpPr>
        <p:spPr>
          <a:xfrm>
            <a:off x="6057419" y="-1114244"/>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AutoShape 7"/>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8" name="AutoShape 8"/>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grpSp>
        <p:nvGrpSpPr>
          <p:cNvPr id="9" name="Group 9"/>
          <p:cNvGrpSpPr/>
          <p:nvPr/>
        </p:nvGrpSpPr>
        <p:grpSpPr>
          <a:xfrm>
            <a:off x="1028700" y="654448"/>
            <a:ext cx="16230600" cy="748504"/>
            <a:chOff x="0" y="0"/>
            <a:chExt cx="4274726" cy="197137"/>
          </a:xfrm>
        </p:grpSpPr>
        <p:sp>
          <p:nvSpPr>
            <p:cNvPr id="10" name="Freeform 10"/>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1" name="TextBox 11"/>
            <p:cNvSpPr txBox="1"/>
            <p:nvPr/>
          </p:nvSpPr>
          <p:spPr>
            <a:xfrm>
              <a:off x="0" y="38100"/>
              <a:ext cx="4274726" cy="159037"/>
            </a:xfrm>
            <a:prstGeom prst="rect">
              <a:avLst/>
            </a:prstGeom>
          </p:spPr>
          <p:txBody>
            <a:bodyPr lIns="50800" tIns="50800" rIns="50800" bIns="50800" rtlCol="0" anchor="ctr"/>
            <a:lstStyle/>
            <a:p>
              <a:pPr marL="0" lvl="0" indent="0" algn="ctr">
                <a:lnSpc>
                  <a:spcPts val="1619"/>
                </a:lnSpc>
              </a:pPr>
              <a:endParaRPr/>
            </a:p>
          </p:txBody>
        </p:sp>
      </p:grpSp>
      <p:grpSp>
        <p:nvGrpSpPr>
          <p:cNvPr id="12" name="Group 12"/>
          <p:cNvGrpSpPr/>
          <p:nvPr/>
        </p:nvGrpSpPr>
        <p:grpSpPr>
          <a:xfrm>
            <a:off x="6986109" y="823594"/>
            <a:ext cx="1632214" cy="410211"/>
            <a:chOff x="0" y="0"/>
            <a:chExt cx="429883" cy="108039"/>
          </a:xfrm>
        </p:grpSpPr>
        <p:sp>
          <p:nvSpPr>
            <p:cNvPr id="13" name="Freeform 13"/>
            <p:cNvSpPr/>
            <p:nvPr/>
          </p:nvSpPr>
          <p:spPr>
            <a:xfrm>
              <a:off x="0" y="0"/>
              <a:ext cx="429883" cy="108039"/>
            </a:xfrm>
            <a:custGeom>
              <a:avLst/>
              <a:gdLst/>
              <a:ahLst/>
              <a:cxnLst/>
              <a:rect l="l" t="t" r="r" b="b"/>
              <a:pathLst>
                <a:path w="429883" h="108039">
                  <a:moveTo>
                    <a:pt x="54020" y="0"/>
                  </a:moveTo>
                  <a:lnTo>
                    <a:pt x="375864" y="0"/>
                  </a:lnTo>
                  <a:cubicBezTo>
                    <a:pt x="390191" y="0"/>
                    <a:pt x="403931" y="5691"/>
                    <a:pt x="414061" y="15822"/>
                  </a:cubicBezTo>
                  <a:cubicBezTo>
                    <a:pt x="424192" y="25953"/>
                    <a:pt x="429883" y="39693"/>
                    <a:pt x="429883" y="54020"/>
                  </a:cubicBezTo>
                  <a:lnTo>
                    <a:pt x="429883" y="54020"/>
                  </a:lnTo>
                  <a:cubicBezTo>
                    <a:pt x="429883" y="83854"/>
                    <a:pt x="405698" y="108039"/>
                    <a:pt x="375864" y="108039"/>
                  </a:cubicBezTo>
                  <a:lnTo>
                    <a:pt x="54020" y="108039"/>
                  </a:lnTo>
                  <a:cubicBezTo>
                    <a:pt x="39693" y="108039"/>
                    <a:pt x="25953" y="102348"/>
                    <a:pt x="15822" y="92217"/>
                  </a:cubicBezTo>
                  <a:cubicBezTo>
                    <a:pt x="5691" y="82087"/>
                    <a:pt x="0" y="68346"/>
                    <a:pt x="0" y="54020"/>
                  </a:cubicBezTo>
                  <a:lnTo>
                    <a:pt x="0" y="54020"/>
                  </a:lnTo>
                  <a:cubicBezTo>
                    <a:pt x="0" y="39693"/>
                    <a:pt x="5691" y="25953"/>
                    <a:pt x="15822" y="15822"/>
                  </a:cubicBezTo>
                  <a:cubicBezTo>
                    <a:pt x="25953" y="5691"/>
                    <a:pt x="39693" y="0"/>
                    <a:pt x="54020" y="0"/>
                  </a:cubicBezTo>
                  <a:close/>
                </a:path>
              </a:pathLst>
            </a:custGeom>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ln cap="rnd">
              <a:noFill/>
              <a:prstDash val="solid"/>
              <a:round/>
            </a:ln>
          </p:spPr>
          <p:txBody>
            <a:bodyPr/>
            <a:lstStyle/>
            <a:p>
              <a:endParaRPr lang="en-US"/>
            </a:p>
          </p:txBody>
        </p:sp>
        <p:sp>
          <p:nvSpPr>
            <p:cNvPr id="14" name="TextBox 14"/>
            <p:cNvSpPr txBox="1"/>
            <p:nvPr/>
          </p:nvSpPr>
          <p:spPr>
            <a:xfrm>
              <a:off x="0" y="38100"/>
              <a:ext cx="429883" cy="69939"/>
            </a:xfrm>
            <a:prstGeom prst="rect">
              <a:avLst/>
            </a:prstGeom>
          </p:spPr>
          <p:txBody>
            <a:bodyPr lIns="50800" tIns="50800" rIns="50800" bIns="50800" rtlCol="0" anchor="ctr"/>
            <a:lstStyle/>
            <a:p>
              <a:pPr marL="0" lvl="0" indent="0" algn="ctr">
                <a:lnSpc>
                  <a:spcPts val="1619"/>
                </a:lnSpc>
              </a:pPr>
              <a:endParaRPr/>
            </a:p>
          </p:txBody>
        </p:sp>
      </p:grpSp>
      <p:grpSp>
        <p:nvGrpSpPr>
          <p:cNvPr id="15" name="Group 15"/>
          <p:cNvGrpSpPr/>
          <p:nvPr/>
        </p:nvGrpSpPr>
        <p:grpSpPr>
          <a:xfrm>
            <a:off x="1811604" y="4647403"/>
            <a:ext cx="6578198" cy="4797380"/>
            <a:chOff x="0" y="0"/>
            <a:chExt cx="1732529" cy="1263507"/>
          </a:xfrm>
        </p:grpSpPr>
        <p:sp>
          <p:nvSpPr>
            <p:cNvPr id="16" name="Freeform 16"/>
            <p:cNvSpPr/>
            <p:nvPr/>
          </p:nvSpPr>
          <p:spPr>
            <a:xfrm>
              <a:off x="0" y="0"/>
              <a:ext cx="1732529" cy="1263507"/>
            </a:xfrm>
            <a:custGeom>
              <a:avLst/>
              <a:gdLst/>
              <a:ahLst/>
              <a:cxnLst/>
              <a:rect l="l" t="t" r="r" b="b"/>
              <a:pathLst>
                <a:path w="1732529" h="1263507">
                  <a:moveTo>
                    <a:pt x="58845" y="0"/>
                  </a:moveTo>
                  <a:lnTo>
                    <a:pt x="1673684" y="0"/>
                  </a:lnTo>
                  <a:cubicBezTo>
                    <a:pt x="1689291" y="0"/>
                    <a:pt x="1704258" y="6200"/>
                    <a:pt x="1715294" y="17235"/>
                  </a:cubicBezTo>
                  <a:cubicBezTo>
                    <a:pt x="1726330" y="28271"/>
                    <a:pt x="1732529" y="43239"/>
                    <a:pt x="1732529" y="58845"/>
                  </a:cubicBezTo>
                  <a:lnTo>
                    <a:pt x="1732529" y="1204662"/>
                  </a:lnTo>
                  <a:cubicBezTo>
                    <a:pt x="1732529" y="1220269"/>
                    <a:pt x="1726330" y="1235236"/>
                    <a:pt x="1715294" y="1246272"/>
                  </a:cubicBezTo>
                  <a:cubicBezTo>
                    <a:pt x="1704258" y="1257308"/>
                    <a:pt x="1689291" y="1263507"/>
                    <a:pt x="1673684" y="1263507"/>
                  </a:cubicBezTo>
                  <a:lnTo>
                    <a:pt x="58845" y="1263507"/>
                  </a:lnTo>
                  <a:cubicBezTo>
                    <a:pt x="43239" y="1263507"/>
                    <a:pt x="28271" y="1257308"/>
                    <a:pt x="17235" y="1246272"/>
                  </a:cubicBezTo>
                  <a:cubicBezTo>
                    <a:pt x="6200" y="1235236"/>
                    <a:pt x="0" y="1220269"/>
                    <a:pt x="0" y="1204662"/>
                  </a:cubicBezTo>
                  <a:lnTo>
                    <a:pt x="0" y="58845"/>
                  </a:lnTo>
                  <a:cubicBezTo>
                    <a:pt x="0" y="43239"/>
                    <a:pt x="6200" y="28271"/>
                    <a:pt x="17235" y="17235"/>
                  </a:cubicBezTo>
                  <a:cubicBezTo>
                    <a:pt x="28271" y="6200"/>
                    <a:pt x="43239" y="0"/>
                    <a:pt x="58845"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7" name="TextBox 17"/>
            <p:cNvSpPr txBox="1"/>
            <p:nvPr/>
          </p:nvSpPr>
          <p:spPr>
            <a:xfrm>
              <a:off x="0" y="38100"/>
              <a:ext cx="1732529" cy="1225407"/>
            </a:xfrm>
            <a:prstGeom prst="rect">
              <a:avLst/>
            </a:prstGeom>
          </p:spPr>
          <p:txBody>
            <a:bodyPr lIns="50800" tIns="50800" rIns="50800" bIns="50800" rtlCol="0" anchor="ctr"/>
            <a:lstStyle/>
            <a:p>
              <a:pPr marL="0" lvl="0" indent="0" algn="ctr">
                <a:lnSpc>
                  <a:spcPts val="1619"/>
                </a:lnSpc>
              </a:pPr>
              <a:endParaRPr/>
            </a:p>
          </p:txBody>
        </p:sp>
      </p:grpSp>
      <p:grpSp>
        <p:nvGrpSpPr>
          <p:cNvPr id="18" name="Group 18"/>
          <p:cNvGrpSpPr/>
          <p:nvPr/>
        </p:nvGrpSpPr>
        <p:grpSpPr>
          <a:xfrm>
            <a:off x="9715199" y="2441583"/>
            <a:ext cx="6578198" cy="7003200"/>
            <a:chOff x="0" y="0"/>
            <a:chExt cx="1732529" cy="1844464"/>
          </a:xfrm>
        </p:grpSpPr>
        <p:sp>
          <p:nvSpPr>
            <p:cNvPr id="19" name="Freeform 19"/>
            <p:cNvSpPr/>
            <p:nvPr/>
          </p:nvSpPr>
          <p:spPr>
            <a:xfrm>
              <a:off x="0" y="0"/>
              <a:ext cx="1732529" cy="1844464"/>
            </a:xfrm>
            <a:custGeom>
              <a:avLst/>
              <a:gdLst/>
              <a:ahLst/>
              <a:cxnLst/>
              <a:rect l="l" t="t" r="r" b="b"/>
              <a:pathLst>
                <a:path w="1732529" h="1844464">
                  <a:moveTo>
                    <a:pt x="58845" y="0"/>
                  </a:moveTo>
                  <a:lnTo>
                    <a:pt x="1673684" y="0"/>
                  </a:lnTo>
                  <a:cubicBezTo>
                    <a:pt x="1689291" y="0"/>
                    <a:pt x="1704258" y="6200"/>
                    <a:pt x="1715294" y="17235"/>
                  </a:cubicBezTo>
                  <a:cubicBezTo>
                    <a:pt x="1726330" y="28271"/>
                    <a:pt x="1732529" y="43239"/>
                    <a:pt x="1732529" y="58845"/>
                  </a:cubicBezTo>
                  <a:lnTo>
                    <a:pt x="1732529" y="1785619"/>
                  </a:lnTo>
                  <a:cubicBezTo>
                    <a:pt x="1732529" y="1801226"/>
                    <a:pt x="1726330" y="1816193"/>
                    <a:pt x="1715294" y="1827229"/>
                  </a:cubicBezTo>
                  <a:cubicBezTo>
                    <a:pt x="1704258" y="1838264"/>
                    <a:pt x="1689291" y="1844464"/>
                    <a:pt x="1673684" y="1844464"/>
                  </a:cubicBezTo>
                  <a:lnTo>
                    <a:pt x="58845" y="1844464"/>
                  </a:lnTo>
                  <a:cubicBezTo>
                    <a:pt x="43239" y="1844464"/>
                    <a:pt x="28271" y="1838264"/>
                    <a:pt x="17235" y="1827229"/>
                  </a:cubicBezTo>
                  <a:cubicBezTo>
                    <a:pt x="6200" y="1816193"/>
                    <a:pt x="0" y="1801226"/>
                    <a:pt x="0" y="1785619"/>
                  </a:cubicBezTo>
                  <a:lnTo>
                    <a:pt x="0" y="58845"/>
                  </a:lnTo>
                  <a:cubicBezTo>
                    <a:pt x="0" y="43239"/>
                    <a:pt x="6200" y="28271"/>
                    <a:pt x="17235" y="17235"/>
                  </a:cubicBezTo>
                  <a:cubicBezTo>
                    <a:pt x="28271" y="6200"/>
                    <a:pt x="43239" y="0"/>
                    <a:pt x="58845"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20" name="TextBox 20"/>
            <p:cNvSpPr txBox="1"/>
            <p:nvPr/>
          </p:nvSpPr>
          <p:spPr>
            <a:xfrm>
              <a:off x="0" y="38100"/>
              <a:ext cx="1732529" cy="1806364"/>
            </a:xfrm>
            <a:prstGeom prst="rect">
              <a:avLst/>
            </a:prstGeom>
          </p:spPr>
          <p:txBody>
            <a:bodyPr lIns="50800" tIns="50800" rIns="50800" bIns="50800" rtlCol="0" anchor="ctr"/>
            <a:lstStyle/>
            <a:p>
              <a:pPr marL="0" lvl="0" indent="0" algn="ctr">
                <a:lnSpc>
                  <a:spcPts val="1619"/>
                </a:lnSpc>
              </a:pPr>
              <a:endParaRPr/>
            </a:p>
          </p:txBody>
        </p:sp>
      </p:grpSp>
      <p:grpSp>
        <p:nvGrpSpPr>
          <p:cNvPr id="21" name="Group 21"/>
          <p:cNvGrpSpPr/>
          <p:nvPr/>
        </p:nvGrpSpPr>
        <p:grpSpPr>
          <a:xfrm>
            <a:off x="1276782" y="4046922"/>
            <a:ext cx="1378563" cy="1378563"/>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4119"/>
            </a:soli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23" name="TextBox 23"/>
            <p:cNvSpPr txBox="1"/>
            <p:nvPr/>
          </p:nvSpPr>
          <p:spPr>
            <a:xfrm>
              <a:off x="76200" y="114300"/>
              <a:ext cx="660400" cy="622300"/>
            </a:xfrm>
            <a:prstGeom prst="rect">
              <a:avLst/>
            </a:prstGeom>
          </p:spPr>
          <p:txBody>
            <a:bodyPr lIns="50800" tIns="50800" rIns="50800" bIns="50800" rtlCol="0" anchor="ctr"/>
            <a:lstStyle/>
            <a:p>
              <a:pPr marL="0" lvl="0" indent="0" algn="ctr">
                <a:lnSpc>
                  <a:spcPts val="1619"/>
                </a:lnSpc>
                <a:spcBef>
                  <a:spcPct val="0"/>
                </a:spcBef>
              </a:pPr>
              <a:endParaRPr/>
            </a:p>
          </p:txBody>
        </p:sp>
      </p:grpSp>
      <p:grpSp>
        <p:nvGrpSpPr>
          <p:cNvPr id="24" name="Group 24"/>
          <p:cNvGrpSpPr/>
          <p:nvPr/>
        </p:nvGrpSpPr>
        <p:grpSpPr>
          <a:xfrm>
            <a:off x="9180376" y="1841102"/>
            <a:ext cx="1378563" cy="1378563"/>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4119"/>
            </a:soli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26" name="TextBox 26"/>
            <p:cNvSpPr txBox="1"/>
            <p:nvPr/>
          </p:nvSpPr>
          <p:spPr>
            <a:xfrm>
              <a:off x="76200" y="114300"/>
              <a:ext cx="660400" cy="622300"/>
            </a:xfrm>
            <a:prstGeom prst="rect">
              <a:avLst/>
            </a:prstGeom>
          </p:spPr>
          <p:txBody>
            <a:bodyPr lIns="50800" tIns="50800" rIns="50800" bIns="50800" rtlCol="0" anchor="ctr"/>
            <a:lstStyle/>
            <a:p>
              <a:pPr marL="0" lvl="0" indent="0" algn="ctr">
                <a:lnSpc>
                  <a:spcPts val="1619"/>
                </a:lnSpc>
                <a:spcBef>
                  <a:spcPct val="0"/>
                </a:spcBef>
              </a:pPr>
              <a:endParaRPr/>
            </a:p>
          </p:txBody>
        </p:sp>
      </p:grpSp>
      <p:sp>
        <p:nvSpPr>
          <p:cNvPr id="27" name="TextBox 27"/>
          <p:cNvSpPr txBox="1"/>
          <p:nvPr/>
        </p:nvSpPr>
        <p:spPr>
          <a:xfrm>
            <a:off x="1157857" y="895287"/>
            <a:ext cx="2498812" cy="221455"/>
          </a:xfrm>
          <a:prstGeom prst="rect">
            <a:avLst/>
          </a:prstGeom>
        </p:spPr>
        <p:txBody>
          <a:bodyPr lIns="0" tIns="0" rIns="0" bIns="0" rtlCol="0" anchor="t">
            <a:spAutoFit/>
          </a:bodyPr>
          <a:lstStyle/>
          <a:p>
            <a:pPr marL="0" lvl="0" indent="0" algn="ctr">
              <a:lnSpc>
                <a:spcPts val="1753"/>
              </a:lnSpc>
            </a:pPr>
            <a:r>
              <a:rPr lang="en-US" sz="1289" spc="-32">
                <a:solidFill>
                  <a:srgbClr val="FFFFFF"/>
                </a:solidFill>
                <a:latin typeface="Canva Sans"/>
                <a:ea typeface="Canva Sans"/>
                <a:cs typeface="Canva Sans"/>
                <a:sym typeface="Canva Sans"/>
              </a:rPr>
              <a:t>Background of the study</a:t>
            </a:r>
          </a:p>
        </p:txBody>
      </p:sp>
      <p:sp>
        <p:nvSpPr>
          <p:cNvPr id="28" name="TextBox 28"/>
          <p:cNvSpPr txBox="1"/>
          <p:nvPr/>
        </p:nvSpPr>
        <p:spPr>
          <a:xfrm>
            <a:off x="3358755" y="895287"/>
            <a:ext cx="2498812" cy="221455"/>
          </a:xfrm>
          <a:prstGeom prst="rect">
            <a:avLst/>
          </a:prstGeom>
        </p:spPr>
        <p:txBody>
          <a:bodyPr lIns="0" tIns="0" rIns="0" bIns="0" rtlCol="0" anchor="t">
            <a:spAutoFit/>
          </a:bodyPr>
          <a:lstStyle/>
          <a:p>
            <a:pPr marL="0" lvl="0" indent="0" algn="ctr">
              <a:lnSpc>
                <a:spcPts val="1753"/>
              </a:lnSpc>
            </a:pPr>
            <a:r>
              <a:rPr lang="en-US" sz="1289" spc="-32">
                <a:solidFill>
                  <a:srgbClr val="FFFFFF"/>
                </a:solidFill>
                <a:latin typeface="Canva Sans"/>
                <a:ea typeface="Canva Sans"/>
                <a:cs typeface="Canva Sans"/>
                <a:sym typeface="Canva Sans"/>
              </a:rPr>
              <a:t>Problem Statement</a:t>
            </a:r>
          </a:p>
        </p:txBody>
      </p:sp>
      <p:sp>
        <p:nvSpPr>
          <p:cNvPr id="29" name="TextBox 29"/>
          <p:cNvSpPr txBox="1"/>
          <p:nvPr/>
        </p:nvSpPr>
        <p:spPr>
          <a:xfrm>
            <a:off x="5108285" y="895287"/>
            <a:ext cx="2498812" cy="221455"/>
          </a:xfrm>
          <a:prstGeom prst="rect">
            <a:avLst/>
          </a:prstGeom>
        </p:spPr>
        <p:txBody>
          <a:bodyPr lIns="0" tIns="0" rIns="0" bIns="0" rtlCol="0" anchor="t">
            <a:spAutoFit/>
          </a:bodyPr>
          <a:lstStyle/>
          <a:p>
            <a:pPr marL="0" lvl="0" indent="0" algn="ctr">
              <a:lnSpc>
                <a:spcPts val="1753"/>
              </a:lnSpc>
            </a:pPr>
            <a:r>
              <a:rPr lang="en-US" sz="1289" spc="-32">
                <a:solidFill>
                  <a:srgbClr val="FFFFFF"/>
                </a:solidFill>
                <a:latin typeface="Canva Sans"/>
                <a:ea typeface="Canva Sans"/>
                <a:cs typeface="Canva Sans"/>
                <a:sym typeface="Canva Sans"/>
              </a:rPr>
              <a:t>Framework</a:t>
            </a:r>
          </a:p>
        </p:txBody>
      </p:sp>
      <p:sp>
        <p:nvSpPr>
          <p:cNvPr id="30" name="TextBox 30"/>
          <p:cNvSpPr txBox="1"/>
          <p:nvPr/>
        </p:nvSpPr>
        <p:spPr>
          <a:xfrm>
            <a:off x="6552810" y="895287"/>
            <a:ext cx="2498812" cy="221455"/>
          </a:xfrm>
          <a:prstGeom prst="rect">
            <a:avLst/>
          </a:prstGeom>
        </p:spPr>
        <p:txBody>
          <a:bodyPr lIns="0" tIns="0" rIns="0" bIns="0" rtlCol="0" anchor="t">
            <a:spAutoFit/>
          </a:bodyPr>
          <a:lstStyle/>
          <a:p>
            <a:pPr marL="0" lvl="0" indent="0" algn="ctr">
              <a:lnSpc>
                <a:spcPts val="1753"/>
              </a:lnSpc>
            </a:pPr>
            <a:r>
              <a:rPr lang="en-US" sz="1289" spc="-32">
                <a:solidFill>
                  <a:srgbClr val="FFFFFF"/>
                </a:solidFill>
                <a:latin typeface="Canva Sans"/>
                <a:ea typeface="Canva Sans"/>
                <a:cs typeface="Canva Sans"/>
                <a:sym typeface="Canva Sans"/>
              </a:rPr>
              <a:t>Methodology</a:t>
            </a:r>
          </a:p>
        </p:txBody>
      </p:sp>
      <p:sp>
        <p:nvSpPr>
          <p:cNvPr id="31" name="TextBox 31"/>
          <p:cNvSpPr txBox="1"/>
          <p:nvPr/>
        </p:nvSpPr>
        <p:spPr>
          <a:xfrm>
            <a:off x="14585765" y="895287"/>
            <a:ext cx="2498812" cy="280646"/>
          </a:xfrm>
          <a:prstGeom prst="rect">
            <a:avLst/>
          </a:prstGeom>
        </p:spPr>
        <p:txBody>
          <a:bodyPr lIns="0" tIns="0" rIns="0" bIns="0" rtlCol="0" anchor="t">
            <a:spAutoFit/>
          </a:bodyPr>
          <a:lstStyle/>
          <a:p>
            <a:pPr marL="0" lvl="0" indent="0" algn="r">
              <a:lnSpc>
                <a:spcPts val="2254"/>
              </a:lnSpc>
            </a:pPr>
            <a:r>
              <a:rPr lang="en-US" sz="1657" b="1" spc="-41">
                <a:solidFill>
                  <a:srgbClr val="FFFFFF"/>
                </a:solidFill>
                <a:latin typeface="Canva Sans Bold"/>
                <a:ea typeface="Canva Sans Bold"/>
                <a:cs typeface="Canva Sans Bold"/>
                <a:sym typeface="Canva Sans Bold"/>
              </a:rPr>
              <a:t>Hanoi Univ. of Sci. &amp; Tech.</a:t>
            </a:r>
          </a:p>
        </p:txBody>
      </p:sp>
      <p:sp>
        <p:nvSpPr>
          <p:cNvPr id="32" name="TextBox 32"/>
          <p:cNvSpPr txBox="1"/>
          <p:nvPr/>
        </p:nvSpPr>
        <p:spPr>
          <a:xfrm>
            <a:off x="1847140" y="2550949"/>
            <a:ext cx="6542662" cy="1647825"/>
          </a:xfrm>
          <a:prstGeom prst="rect">
            <a:avLst/>
          </a:prstGeom>
        </p:spPr>
        <p:txBody>
          <a:bodyPr lIns="0" tIns="0" rIns="0" bIns="0" rtlCol="0" anchor="t">
            <a:spAutoFit/>
          </a:bodyPr>
          <a:lstStyle/>
          <a:p>
            <a:pPr marL="0" lvl="0" indent="0" algn="ctr">
              <a:lnSpc>
                <a:spcPts val="6299"/>
              </a:lnSpc>
              <a:spcBef>
                <a:spcPct val="0"/>
              </a:spcBef>
            </a:pPr>
            <a:r>
              <a:rPr lang="en-US" sz="6999" b="1" spc="-279">
                <a:solidFill>
                  <a:srgbClr val="FFFFFF"/>
                </a:solidFill>
                <a:latin typeface="Pragmatica Bold"/>
                <a:ea typeface="Pragmatica Bold"/>
                <a:cs typeface="Pragmatica Bold"/>
                <a:sym typeface="Pragmatica Bold"/>
              </a:rPr>
              <a:t>Project Summary</a:t>
            </a:r>
          </a:p>
        </p:txBody>
      </p:sp>
      <p:sp>
        <p:nvSpPr>
          <p:cNvPr id="33" name="TextBox 33"/>
          <p:cNvSpPr txBox="1"/>
          <p:nvPr/>
        </p:nvSpPr>
        <p:spPr>
          <a:xfrm>
            <a:off x="2424718" y="5685672"/>
            <a:ext cx="5351969" cy="3322229"/>
          </a:xfrm>
          <a:prstGeom prst="rect">
            <a:avLst/>
          </a:prstGeom>
        </p:spPr>
        <p:txBody>
          <a:bodyPr lIns="0" tIns="0" rIns="0" bIns="0" rtlCol="0" anchor="t">
            <a:spAutoFit/>
          </a:bodyPr>
          <a:lstStyle/>
          <a:p>
            <a:pPr marL="0" lvl="0" indent="0" algn="ctr">
              <a:lnSpc>
                <a:spcPts val="2683"/>
              </a:lnSpc>
            </a:pPr>
            <a:r>
              <a:rPr lang="en-US" sz="1973" spc="-49">
                <a:solidFill>
                  <a:srgbClr val="FFFFFF"/>
                </a:solidFill>
                <a:latin typeface="Canva Sans"/>
                <a:ea typeface="Canva Sans"/>
                <a:cs typeface="Canva Sans"/>
                <a:sym typeface="Canva Sans"/>
              </a:rPr>
              <a:t>The AI Co-Scientist workflow treats each electrode sample as an experimental recipe. Process conditions, SEM-derived morphology features, EDX composition, and electrochemical results are merged by sample_id into a master dataset. The MVP learns from previous samples, predicts capacity retention, and recommends the top next fabrication recipes for human review.</a:t>
            </a:r>
          </a:p>
        </p:txBody>
      </p:sp>
      <p:sp>
        <p:nvSpPr>
          <p:cNvPr id="34" name="TextBox 34"/>
          <p:cNvSpPr txBox="1"/>
          <p:nvPr/>
        </p:nvSpPr>
        <p:spPr>
          <a:xfrm>
            <a:off x="10558939" y="3803050"/>
            <a:ext cx="5351969" cy="989238"/>
          </a:xfrm>
          <a:prstGeom prst="rect">
            <a:avLst/>
          </a:prstGeom>
        </p:spPr>
        <p:txBody>
          <a:bodyPr lIns="0" tIns="0" rIns="0" bIns="0" rtlCol="0" anchor="t">
            <a:spAutoFit/>
          </a:bodyPr>
          <a:lstStyle/>
          <a:p>
            <a:pPr marL="0" lvl="0" indent="0" algn="l">
              <a:lnSpc>
                <a:spcPts val="2003"/>
              </a:lnSpc>
            </a:pPr>
            <a:r>
              <a:rPr lang="en-US" sz="1473" spc="-36">
                <a:solidFill>
                  <a:srgbClr val="FFFFFF"/>
                </a:solidFill>
                <a:latin typeface="Canva Sans"/>
                <a:ea typeface="Canva Sans"/>
                <a:cs typeface="Canva Sans"/>
                <a:sym typeface="Canva Sans"/>
              </a:rPr>
              <a:t>The MSxOySez shell (15–20 nm) encapsulates the SiOx core, forming a Built-in Electric Field (BIEF) that accelerates Li+ transport, absorbs mechanical stress, and stabilizes the electrode structure over hundreds of charge-discharge cycles.</a:t>
            </a:r>
          </a:p>
        </p:txBody>
      </p:sp>
      <p:sp>
        <p:nvSpPr>
          <p:cNvPr id="35" name="TextBox 35"/>
          <p:cNvSpPr txBox="1"/>
          <p:nvPr/>
        </p:nvSpPr>
        <p:spPr>
          <a:xfrm>
            <a:off x="2787724" y="5052060"/>
            <a:ext cx="4454209" cy="373426"/>
          </a:xfrm>
          <a:prstGeom prst="rect">
            <a:avLst/>
          </a:prstGeom>
        </p:spPr>
        <p:txBody>
          <a:bodyPr lIns="0" tIns="0" rIns="0" bIns="0" rtlCol="0" anchor="t">
            <a:spAutoFit/>
          </a:bodyPr>
          <a:lstStyle/>
          <a:p>
            <a:pPr marL="0" lvl="0" indent="0" algn="ctr">
              <a:lnSpc>
                <a:spcPts val="2723"/>
              </a:lnSpc>
            </a:pPr>
            <a:r>
              <a:rPr lang="en-US" sz="3094" b="1" spc="-154">
                <a:solidFill>
                  <a:srgbClr val="FFFFFF"/>
                </a:solidFill>
                <a:latin typeface="Pragmatica Bold"/>
                <a:ea typeface="Pragmatica Bold"/>
                <a:cs typeface="Pragmatica Bold"/>
                <a:sym typeface="Pragmatica Bold"/>
              </a:rPr>
              <a:t>Core Challenge</a:t>
            </a:r>
          </a:p>
        </p:txBody>
      </p:sp>
      <p:sp>
        <p:nvSpPr>
          <p:cNvPr id="36" name="TextBox 36"/>
          <p:cNvSpPr txBox="1"/>
          <p:nvPr/>
        </p:nvSpPr>
        <p:spPr>
          <a:xfrm>
            <a:off x="11380963" y="2846240"/>
            <a:ext cx="4454209" cy="373426"/>
          </a:xfrm>
          <a:prstGeom prst="rect">
            <a:avLst/>
          </a:prstGeom>
        </p:spPr>
        <p:txBody>
          <a:bodyPr lIns="0" tIns="0" rIns="0" bIns="0" rtlCol="0" anchor="t">
            <a:spAutoFit/>
          </a:bodyPr>
          <a:lstStyle/>
          <a:p>
            <a:pPr marL="0" lvl="0" indent="0" algn="ctr">
              <a:lnSpc>
                <a:spcPts val="2723"/>
              </a:lnSpc>
            </a:pPr>
            <a:r>
              <a:rPr lang="en-US" sz="3094" b="1" spc="-154">
                <a:solidFill>
                  <a:srgbClr val="FFFFFF"/>
                </a:solidFill>
                <a:latin typeface="Pragmatica Bold"/>
                <a:ea typeface="Pragmatica Bold"/>
                <a:cs typeface="Pragmatica Bold"/>
                <a:sym typeface="Pragmatica Bold"/>
              </a:rPr>
              <a:t>Proposed Solution</a:t>
            </a:r>
          </a:p>
        </p:txBody>
      </p:sp>
      <p:sp>
        <p:nvSpPr>
          <p:cNvPr id="37" name="TextBox 37"/>
          <p:cNvSpPr txBox="1"/>
          <p:nvPr/>
        </p:nvSpPr>
        <p:spPr>
          <a:xfrm>
            <a:off x="1276782" y="4550847"/>
            <a:ext cx="1378563" cy="503943"/>
          </a:xfrm>
          <a:prstGeom prst="rect">
            <a:avLst/>
          </a:prstGeom>
        </p:spPr>
        <p:txBody>
          <a:bodyPr lIns="0" tIns="0" rIns="0" bIns="0" rtlCol="0" anchor="t">
            <a:spAutoFit/>
          </a:bodyPr>
          <a:lstStyle/>
          <a:p>
            <a:pPr marL="0" lvl="0" indent="0" algn="ctr">
              <a:lnSpc>
                <a:spcPts val="3693"/>
              </a:lnSpc>
            </a:pPr>
            <a:r>
              <a:rPr lang="en-US" sz="4197" b="1" spc="-209">
                <a:solidFill>
                  <a:srgbClr val="FFFFFF"/>
                </a:solidFill>
                <a:latin typeface="Pragmatica Bold"/>
                <a:ea typeface="Pragmatica Bold"/>
                <a:cs typeface="Pragmatica Bold"/>
                <a:sym typeface="Pragmatica Bold"/>
              </a:rPr>
              <a:t>01</a:t>
            </a:r>
          </a:p>
        </p:txBody>
      </p:sp>
      <p:sp>
        <p:nvSpPr>
          <p:cNvPr id="38" name="TextBox 38"/>
          <p:cNvSpPr txBox="1"/>
          <p:nvPr/>
        </p:nvSpPr>
        <p:spPr>
          <a:xfrm>
            <a:off x="9180376" y="2345027"/>
            <a:ext cx="1378563" cy="503943"/>
          </a:xfrm>
          <a:prstGeom prst="rect">
            <a:avLst/>
          </a:prstGeom>
        </p:spPr>
        <p:txBody>
          <a:bodyPr lIns="0" tIns="0" rIns="0" bIns="0" rtlCol="0" anchor="t">
            <a:spAutoFit/>
          </a:bodyPr>
          <a:lstStyle/>
          <a:p>
            <a:pPr marL="0" lvl="0" indent="0" algn="ctr">
              <a:lnSpc>
                <a:spcPts val="3693"/>
              </a:lnSpc>
            </a:pPr>
            <a:r>
              <a:rPr lang="en-US" sz="4197" b="1" spc="-209">
                <a:solidFill>
                  <a:srgbClr val="FFFFFF"/>
                </a:solidFill>
                <a:latin typeface="Pragmatica Bold"/>
                <a:ea typeface="Pragmatica Bold"/>
                <a:cs typeface="Pragmatica Bold"/>
                <a:sym typeface="Pragmatica Bold"/>
              </a:rPr>
              <a:t>02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Freeform 3"/>
          <p:cNvSpPr/>
          <p:nvPr/>
        </p:nvSpPr>
        <p:spPr>
          <a:xfrm>
            <a:off x="14950017" y="-1114244"/>
            <a:ext cx="8534070" cy="11618164"/>
          </a:xfrm>
          <a:custGeom>
            <a:avLst/>
            <a:gdLst/>
            <a:ahLst/>
            <a:cxnLst/>
            <a:rect l="l" t="t" r="r" b="b"/>
            <a:pathLst>
              <a:path w="8534070" h="11618164">
                <a:moveTo>
                  <a:pt x="0" y="0"/>
                </a:moveTo>
                <a:lnTo>
                  <a:pt x="8534069" y="0"/>
                </a:lnTo>
                <a:lnTo>
                  <a:pt x="8534069" y="11618163"/>
                </a:lnTo>
                <a:lnTo>
                  <a:pt x="0" y="11618163"/>
                </a:lnTo>
                <a:lnTo>
                  <a:pt x="0" y="0"/>
                </a:lnTo>
                <a:close/>
              </a:path>
            </a:pathLst>
          </a:custGeom>
          <a:blipFill>
            <a:blip r:embed="rId2">
              <a:alphaModFix amt="50000"/>
            </a:blip>
            <a:stretch>
              <a:fillRect/>
            </a:stretch>
          </a:blipFill>
        </p:spPr>
        <p:txBody>
          <a:bodyPr/>
          <a:lstStyle/>
          <a:p>
            <a:endParaRPr lang="en-US"/>
          </a:p>
        </p:txBody>
      </p:sp>
      <p:sp>
        <p:nvSpPr>
          <p:cNvPr id="4" name="AutoShape 4"/>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p:cNvSpPr/>
          <p:nvPr/>
        </p:nvSpPr>
        <p:spPr>
          <a:xfrm>
            <a:off x="6075187"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AutoShape 7"/>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8" name="AutoShape 8"/>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grpSp>
        <p:nvGrpSpPr>
          <p:cNvPr id="9" name="Group 9"/>
          <p:cNvGrpSpPr/>
          <p:nvPr/>
        </p:nvGrpSpPr>
        <p:grpSpPr>
          <a:xfrm>
            <a:off x="1028700" y="654448"/>
            <a:ext cx="16230600" cy="748504"/>
            <a:chOff x="0" y="0"/>
            <a:chExt cx="4274726" cy="197137"/>
          </a:xfrm>
        </p:grpSpPr>
        <p:sp>
          <p:nvSpPr>
            <p:cNvPr id="10" name="Freeform 10"/>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1" name="TextBox 11"/>
            <p:cNvSpPr txBox="1"/>
            <p:nvPr/>
          </p:nvSpPr>
          <p:spPr>
            <a:xfrm>
              <a:off x="0" y="38100"/>
              <a:ext cx="4274726" cy="159037"/>
            </a:xfrm>
            <a:prstGeom prst="rect">
              <a:avLst/>
            </a:prstGeom>
          </p:spPr>
          <p:txBody>
            <a:bodyPr lIns="50800" tIns="50800" rIns="50800" bIns="50800" rtlCol="0" anchor="ctr"/>
            <a:lstStyle/>
            <a:p>
              <a:pPr marL="0" lvl="0" indent="0" algn="ctr">
                <a:lnSpc>
                  <a:spcPts val="1619"/>
                </a:lnSpc>
              </a:pPr>
              <a:endParaRPr/>
            </a:p>
          </p:txBody>
        </p:sp>
      </p:grpSp>
      <p:grpSp>
        <p:nvGrpSpPr>
          <p:cNvPr id="12" name="Group 12"/>
          <p:cNvGrpSpPr/>
          <p:nvPr/>
        </p:nvGrpSpPr>
        <p:grpSpPr>
          <a:xfrm>
            <a:off x="6986109" y="823594"/>
            <a:ext cx="1632214" cy="410211"/>
            <a:chOff x="0" y="0"/>
            <a:chExt cx="429883" cy="108039"/>
          </a:xfrm>
        </p:grpSpPr>
        <p:sp>
          <p:nvSpPr>
            <p:cNvPr id="13" name="Freeform 13"/>
            <p:cNvSpPr/>
            <p:nvPr/>
          </p:nvSpPr>
          <p:spPr>
            <a:xfrm>
              <a:off x="0" y="0"/>
              <a:ext cx="429883" cy="108039"/>
            </a:xfrm>
            <a:custGeom>
              <a:avLst/>
              <a:gdLst/>
              <a:ahLst/>
              <a:cxnLst/>
              <a:rect l="l" t="t" r="r" b="b"/>
              <a:pathLst>
                <a:path w="429883" h="108039">
                  <a:moveTo>
                    <a:pt x="54020" y="0"/>
                  </a:moveTo>
                  <a:lnTo>
                    <a:pt x="375864" y="0"/>
                  </a:lnTo>
                  <a:cubicBezTo>
                    <a:pt x="390191" y="0"/>
                    <a:pt x="403931" y="5691"/>
                    <a:pt x="414061" y="15822"/>
                  </a:cubicBezTo>
                  <a:cubicBezTo>
                    <a:pt x="424192" y="25953"/>
                    <a:pt x="429883" y="39693"/>
                    <a:pt x="429883" y="54020"/>
                  </a:cubicBezTo>
                  <a:lnTo>
                    <a:pt x="429883" y="54020"/>
                  </a:lnTo>
                  <a:cubicBezTo>
                    <a:pt x="429883" y="83854"/>
                    <a:pt x="405698" y="108039"/>
                    <a:pt x="375864" y="108039"/>
                  </a:cubicBezTo>
                  <a:lnTo>
                    <a:pt x="54020" y="108039"/>
                  </a:lnTo>
                  <a:cubicBezTo>
                    <a:pt x="39693" y="108039"/>
                    <a:pt x="25953" y="102348"/>
                    <a:pt x="15822" y="92217"/>
                  </a:cubicBezTo>
                  <a:cubicBezTo>
                    <a:pt x="5691" y="82087"/>
                    <a:pt x="0" y="68346"/>
                    <a:pt x="0" y="54020"/>
                  </a:cubicBezTo>
                  <a:lnTo>
                    <a:pt x="0" y="54020"/>
                  </a:lnTo>
                  <a:cubicBezTo>
                    <a:pt x="0" y="39693"/>
                    <a:pt x="5691" y="25953"/>
                    <a:pt x="15822" y="15822"/>
                  </a:cubicBezTo>
                  <a:cubicBezTo>
                    <a:pt x="25953" y="5691"/>
                    <a:pt x="39693" y="0"/>
                    <a:pt x="54020" y="0"/>
                  </a:cubicBezTo>
                  <a:close/>
                </a:path>
              </a:pathLst>
            </a:custGeom>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ln cap="rnd">
              <a:noFill/>
              <a:prstDash val="solid"/>
              <a:round/>
            </a:ln>
          </p:spPr>
          <p:txBody>
            <a:bodyPr/>
            <a:lstStyle/>
            <a:p>
              <a:endParaRPr lang="en-US"/>
            </a:p>
          </p:txBody>
        </p:sp>
        <p:sp>
          <p:nvSpPr>
            <p:cNvPr id="14" name="TextBox 14"/>
            <p:cNvSpPr txBox="1"/>
            <p:nvPr/>
          </p:nvSpPr>
          <p:spPr>
            <a:xfrm>
              <a:off x="0" y="38100"/>
              <a:ext cx="429883" cy="69939"/>
            </a:xfrm>
            <a:prstGeom prst="rect">
              <a:avLst/>
            </a:prstGeom>
          </p:spPr>
          <p:txBody>
            <a:bodyPr lIns="50800" tIns="50800" rIns="50800" bIns="50800" rtlCol="0" anchor="ctr"/>
            <a:lstStyle/>
            <a:p>
              <a:pPr marL="0" lvl="0" indent="0" algn="ctr">
                <a:lnSpc>
                  <a:spcPts val="1619"/>
                </a:lnSpc>
              </a:pPr>
              <a:endParaRPr/>
            </a:p>
          </p:txBody>
        </p:sp>
      </p:grpSp>
      <p:grpSp>
        <p:nvGrpSpPr>
          <p:cNvPr id="15" name="Group 15"/>
          <p:cNvGrpSpPr/>
          <p:nvPr/>
        </p:nvGrpSpPr>
        <p:grpSpPr>
          <a:xfrm>
            <a:off x="1829372" y="5313605"/>
            <a:ext cx="6578198" cy="3130425"/>
            <a:chOff x="0" y="0"/>
            <a:chExt cx="1732529" cy="824474"/>
          </a:xfrm>
        </p:grpSpPr>
        <p:sp>
          <p:nvSpPr>
            <p:cNvPr id="16" name="Freeform 16"/>
            <p:cNvSpPr/>
            <p:nvPr/>
          </p:nvSpPr>
          <p:spPr>
            <a:xfrm>
              <a:off x="0" y="0"/>
              <a:ext cx="1732529" cy="824474"/>
            </a:xfrm>
            <a:custGeom>
              <a:avLst/>
              <a:gdLst/>
              <a:ahLst/>
              <a:cxnLst/>
              <a:rect l="l" t="t" r="r" b="b"/>
              <a:pathLst>
                <a:path w="1732529" h="824474">
                  <a:moveTo>
                    <a:pt x="58845" y="0"/>
                  </a:moveTo>
                  <a:lnTo>
                    <a:pt x="1673684" y="0"/>
                  </a:lnTo>
                  <a:cubicBezTo>
                    <a:pt x="1689291" y="0"/>
                    <a:pt x="1704258" y="6200"/>
                    <a:pt x="1715294" y="17235"/>
                  </a:cubicBezTo>
                  <a:cubicBezTo>
                    <a:pt x="1726330" y="28271"/>
                    <a:pt x="1732529" y="43239"/>
                    <a:pt x="1732529" y="58845"/>
                  </a:cubicBezTo>
                  <a:lnTo>
                    <a:pt x="1732529" y="765629"/>
                  </a:lnTo>
                  <a:cubicBezTo>
                    <a:pt x="1732529" y="781236"/>
                    <a:pt x="1726330" y="796203"/>
                    <a:pt x="1715294" y="807239"/>
                  </a:cubicBezTo>
                  <a:cubicBezTo>
                    <a:pt x="1704258" y="818274"/>
                    <a:pt x="1689291" y="824474"/>
                    <a:pt x="1673684" y="824474"/>
                  </a:cubicBezTo>
                  <a:lnTo>
                    <a:pt x="58845" y="824474"/>
                  </a:lnTo>
                  <a:cubicBezTo>
                    <a:pt x="43239" y="824474"/>
                    <a:pt x="28271" y="818274"/>
                    <a:pt x="17235" y="807239"/>
                  </a:cubicBezTo>
                  <a:cubicBezTo>
                    <a:pt x="6200" y="796203"/>
                    <a:pt x="0" y="781236"/>
                    <a:pt x="0" y="765629"/>
                  </a:cubicBezTo>
                  <a:lnTo>
                    <a:pt x="0" y="58845"/>
                  </a:lnTo>
                  <a:cubicBezTo>
                    <a:pt x="0" y="43239"/>
                    <a:pt x="6200" y="28271"/>
                    <a:pt x="17235" y="17235"/>
                  </a:cubicBezTo>
                  <a:cubicBezTo>
                    <a:pt x="28271" y="6200"/>
                    <a:pt x="43239" y="0"/>
                    <a:pt x="58845"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7" name="TextBox 17"/>
            <p:cNvSpPr txBox="1"/>
            <p:nvPr/>
          </p:nvSpPr>
          <p:spPr>
            <a:xfrm>
              <a:off x="0" y="38100"/>
              <a:ext cx="1732529" cy="786374"/>
            </a:xfrm>
            <a:prstGeom prst="rect">
              <a:avLst/>
            </a:prstGeom>
          </p:spPr>
          <p:txBody>
            <a:bodyPr lIns="50800" tIns="50800" rIns="50800" bIns="50800" rtlCol="0" anchor="ctr"/>
            <a:lstStyle/>
            <a:p>
              <a:pPr marL="0" lvl="0" indent="0" algn="ctr">
                <a:lnSpc>
                  <a:spcPts val="1619"/>
                </a:lnSpc>
              </a:pPr>
              <a:endParaRPr/>
            </a:p>
          </p:txBody>
        </p:sp>
      </p:grpSp>
      <p:grpSp>
        <p:nvGrpSpPr>
          <p:cNvPr id="18" name="Group 18"/>
          <p:cNvGrpSpPr/>
          <p:nvPr/>
        </p:nvGrpSpPr>
        <p:grpSpPr>
          <a:xfrm>
            <a:off x="9219467" y="5306860"/>
            <a:ext cx="6578198" cy="3130425"/>
            <a:chOff x="0" y="0"/>
            <a:chExt cx="1732529" cy="824474"/>
          </a:xfrm>
        </p:grpSpPr>
        <p:sp>
          <p:nvSpPr>
            <p:cNvPr id="19" name="Freeform 19"/>
            <p:cNvSpPr/>
            <p:nvPr/>
          </p:nvSpPr>
          <p:spPr>
            <a:xfrm>
              <a:off x="0" y="0"/>
              <a:ext cx="1732529" cy="824474"/>
            </a:xfrm>
            <a:custGeom>
              <a:avLst/>
              <a:gdLst/>
              <a:ahLst/>
              <a:cxnLst/>
              <a:rect l="l" t="t" r="r" b="b"/>
              <a:pathLst>
                <a:path w="1732529" h="824474">
                  <a:moveTo>
                    <a:pt x="58845" y="0"/>
                  </a:moveTo>
                  <a:lnTo>
                    <a:pt x="1673684" y="0"/>
                  </a:lnTo>
                  <a:cubicBezTo>
                    <a:pt x="1689291" y="0"/>
                    <a:pt x="1704258" y="6200"/>
                    <a:pt x="1715294" y="17235"/>
                  </a:cubicBezTo>
                  <a:cubicBezTo>
                    <a:pt x="1726330" y="28271"/>
                    <a:pt x="1732529" y="43239"/>
                    <a:pt x="1732529" y="58845"/>
                  </a:cubicBezTo>
                  <a:lnTo>
                    <a:pt x="1732529" y="765629"/>
                  </a:lnTo>
                  <a:cubicBezTo>
                    <a:pt x="1732529" y="781236"/>
                    <a:pt x="1726330" y="796203"/>
                    <a:pt x="1715294" y="807239"/>
                  </a:cubicBezTo>
                  <a:cubicBezTo>
                    <a:pt x="1704258" y="818274"/>
                    <a:pt x="1689291" y="824474"/>
                    <a:pt x="1673684" y="824474"/>
                  </a:cubicBezTo>
                  <a:lnTo>
                    <a:pt x="58845" y="824474"/>
                  </a:lnTo>
                  <a:cubicBezTo>
                    <a:pt x="43239" y="824474"/>
                    <a:pt x="28271" y="818274"/>
                    <a:pt x="17235" y="807239"/>
                  </a:cubicBezTo>
                  <a:cubicBezTo>
                    <a:pt x="6200" y="796203"/>
                    <a:pt x="0" y="781236"/>
                    <a:pt x="0" y="765629"/>
                  </a:cubicBezTo>
                  <a:lnTo>
                    <a:pt x="0" y="58845"/>
                  </a:lnTo>
                  <a:cubicBezTo>
                    <a:pt x="0" y="43239"/>
                    <a:pt x="6200" y="28271"/>
                    <a:pt x="17235" y="17235"/>
                  </a:cubicBezTo>
                  <a:cubicBezTo>
                    <a:pt x="28271" y="6200"/>
                    <a:pt x="43239" y="0"/>
                    <a:pt x="58845"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20" name="TextBox 20"/>
            <p:cNvSpPr txBox="1"/>
            <p:nvPr/>
          </p:nvSpPr>
          <p:spPr>
            <a:xfrm>
              <a:off x="0" y="38100"/>
              <a:ext cx="1732529" cy="786374"/>
            </a:xfrm>
            <a:prstGeom prst="rect">
              <a:avLst/>
            </a:prstGeom>
          </p:spPr>
          <p:txBody>
            <a:bodyPr lIns="50800" tIns="50800" rIns="50800" bIns="50800" rtlCol="0" anchor="ctr"/>
            <a:lstStyle/>
            <a:p>
              <a:pPr marL="0" lvl="0" indent="0" algn="ctr">
                <a:lnSpc>
                  <a:spcPts val="1619"/>
                </a:lnSpc>
              </a:pPr>
              <a:endParaRPr/>
            </a:p>
          </p:txBody>
        </p:sp>
      </p:grpSp>
      <p:grpSp>
        <p:nvGrpSpPr>
          <p:cNvPr id="21" name="Group 21"/>
          <p:cNvGrpSpPr/>
          <p:nvPr/>
        </p:nvGrpSpPr>
        <p:grpSpPr>
          <a:xfrm>
            <a:off x="1294549" y="4713124"/>
            <a:ext cx="1378563" cy="1378563"/>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4119"/>
            </a:soli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23" name="TextBox 23"/>
            <p:cNvSpPr txBox="1"/>
            <p:nvPr/>
          </p:nvSpPr>
          <p:spPr>
            <a:xfrm>
              <a:off x="76200" y="114300"/>
              <a:ext cx="660400" cy="622300"/>
            </a:xfrm>
            <a:prstGeom prst="rect">
              <a:avLst/>
            </a:prstGeom>
          </p:spPr>
          <p:txBody>
            <a:bodyPr lIns="50800" tIns="50800" rIns="50800" bIns="50800" rtlCol="0" anchor="ctr"/>
            <a:lstStyle/>
            <a:p>
              <a:pPr marL="0" lvl="0" indent="0" algn="ctr">
                <a:lnSpc>
                  <a:spcPts val="1619"/>
                </a:lnSpc>
                <a:spcBef>
                  <a:spcPct val="0"/>
                </a:spcBef>
              </a:pPr>
              <a:endParaRPr/>
            </a:p>
          </p:txBody>
        </p:sp>
      </p:grpSp>
      <p:grpSp>
        <p:nvGrpSpPr>
          <p:cNvPr id="24" name="Group 24"/>
          <p:cNvGrpSpPr/>
          <p:nvPr/>
        </p:nvGrpSpPr>
        <p:grpSpPr>
          <a:xfrm>
            <a:off x="8684645" y="4706379"/>
            <a:ext cx="1378563" cy="1378563"/>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4119"/>
            </a:soli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26" name="TextBox 26"/>
            <p:cNvSpPr txBox="1"/>
            <p:nvPr/>
          </p:nvSpPr>
          <p:spPr>
            <a:xfrm>
              <a:off x="76200" y="114300"/>
              <a:ext cx="660400" cy="622300"/>
            </a:xfrm>
            <a:prstGeom prst="rect">
              <a:avLst/>
            </a:prstGeom>
          </p:spPr>
          <p:txBody>
            <a:bodyPr lIns="50800" tIns="50800" rIns="50800" bIns="50800" rtlCol="0" anchor="ctr"/>
            <a:lstStyle/>
            <a:p>
              <a:pPr marL="0" lvl="0" indent="0" algn="ctr">
                <a:lnSpc>
                  <a:spcPts val="1619"/>
                </a:lnSpc>
                <a:spcBef>
                  <a:spcPct val="0"/>
                </a:spcBef>
              </a:pPr>
              <a:endParaRPr/>
            </a:p>
          </p:txBody>
        </p:sp>
      </p:grpSp>
      <p:sp>
        <p:nvSpPr>
          <p:cNvPr id="27" name="TextBox 27"/>
          <p:cNvSpPr txBox="1"/>
          <p:nvPr/>
        </p:nvSpPr>
        <p:spPr>
          <a:xfrm>
            <a:off x="1157857" y="895287"/>
            <a:ext cx="2498812" cy="221455"/>
          </a:xfrm>
          <a:prstGeom prst="rect">
            <a:avLst/>
          </a:prstGeom>
        </p:spPr>
        <p:txBody>
          <a:bodyPr lIns="0" tIns="0" rIns="0" bIns="0" rtlCol="0" anchor="t">
            <a:spAutoFit/>
          </a:bodyPr>
          <a:lstStyle/>
          <a:p>
            <a:pPr marL="0" lvl="0" indent="0" algn="ctr">
              <a:lnSpc>
                <a:spcPts val="1753"/>
              </a:lnSpc>
            </a:pPr>
            <a:r>
              <a:rPr lang="en-US" sz="1289" spc="-32">
                <a:solidFill>
                  <a:srgbClr val="FFFFFF"/>
                </a:solidFill>
                <a:latin typeface="Canva Sans"/>
                <a:ea typeface="Canva Sans"/>
                <a:cs typeface="Canva Sans"/>
                <a:sym typeface="Canva Sans"/>
              </a:rPr>
              <a:t>Background of the study</a:t>
            </a:r>
          </a:p>
        </p:txBody>
      </p:sp>
      <p:sp>
        <p:nvSpPr>
          <p:cNvPr id="28" name="TextBox 28"/>
          <p:cNvSpPr txBox="1"/>
          <p:nvPr/>
        </p:nvSpPr>
        <p:spPr>
          <a:xfrm>
            <a:off x="3358755" y="895287"/>
            <a:ext cx="2498812" cy="221455"/>
          </a:xfrm>
          <a:prstGeom prst="rect">
            <a:avLst/>
          </a:prstGeom>
        </p:spPr>
        <p:txBody>
          <a:bodyPr lIns="0" tIns="0" rIns="0" bIns="0" rtlCol="0" anchor="t">
            <a:spAutoFit/>
          </a:bodyPr>
          <a:lstStyle/>
          <a:p>
            <a:pPr marL="0" lvl="0" indent="0" algn="ctr">
              <a:lnSpc>
                <a:spcPts val="1753"/>
              </a:lnSpc>
            </a:pPr>
            <a:r>
              <a:rPr lang="en-US" sz="1289" spc="-32">
                <a:solidFill>
                  <a:srgbClr val="FFFFFF"/>
                </a:solidFill>
                <a:latin typeface="Canva Sans"/>
                <a:ea typeface="Canva Sans"/>
                <a:cs typeface="Canva Sans"/>
                <a:sym typeface="Canva Sans"/>
              </a:rPr>
              <a:t>Problem Statement</a:t>
            </a:r>
          </a:p>
        </p:txBody>
      </p:sp>
      <p:sp>
        <p:nvSpPr>
          <p:cNvPr id="29" name="TextBox 29"/>
          <p:cNvSpPr txBox="1"/>
          <p:nvPr/>
        </p:nvSpPr>
        <p:spPr>
          <a:xfrm>
            <a:off x="5108285" y="895287"/>
            <a:ext cx="2498812" cy="221455"/>
          </a:xfrm>
          <a:prstGeom prst="rect">
            <a:avLst/>
          </a:prstGeom>
        </p:spPr>
        <p:txBody>
          <a:bodyPr lIns="0" tIns="0" rIns="0" bIns="0" rtlCol="0" anchor="t">
            <a:spAutoFit/>
          </a:bodyPr>
          <a:lstStyle/>
          <a:p>
            <a:pPr marL="0" lvl="0" indent="0" algn="ctr">
              <a:lnSpc>
                <a:spcPts val="1753"/>
              </a:lnSpc>
            </a:pPr>
            <a:r>
              <a:rPr lang="en-US" sz="1289" spc="-32">
                <a:solidFill>
                  <a:srgbClr val="FFFFFF"/>
                </a:solidFill>
                <a:latin typeface="Canva Sans"/>
                <a:ea typeface="Canva Sans"/>
                <a:cs typeface="Canva Sans"/>
                <a:sym typeface="Canva Sans"/>
              </a:rPr>
              <a:t>Framework</a:t>
            </a:r>
          </a:p>
        </p:txBody>
      </p:sp>
      <p:sp>
        <p:nvSpPr>
          <p:cNvPr id="30" name="TextBox 30"/>
          <p:cNvSpPr txBox="1"/>
          <p:nvPr/>
        </p:nvSpPr>
        <p:spPr>
          <a:xfrm>
            <a:off x="6552810" y="895287"/>
            <a:ext cx="2498812" cy="221455"/>
          </a:xfrm>
          <a:prstGeom prst="rect">
            <a:avLst/>
          </a:prstGeom>
        </p:spPr>
        <p:txBody>
          <a:bodyPr lIns="0" tIns="0" rIns="0" bIns="0" rtlCol="0" anchor="t">
            <a:spAutoFit/>
          </a:bodyPr>
          <a:lstStyle/>
          <a:p>
            <a:pPr marL="0" lvl="0" indent="0" algn="ctr">
              <a:lnSpc>
                <a:spcPts val="1753"/>
              </a:lnSpc>
            </a:pPr>
            <a:r>
              <a:rPr lang="en-US" sz="1289" spc="-32">
                <a:solidFill>
                  <a:srgbClr val="FFFFFF"/>
                </a:solidFill>
                <a:latin typeface="Canva Sans"/>
                <a:ea typeface="Canva Sans"/>
                <a:cs typeface="Canva Sans"/>
                <a:sym typeface="Canva Sans"/>
              </a:rPr>
              <a:t>Methodology</a:t>
            </a:r>
          </a:p>
        </p:txBody>
      </p:sp>
      <p:sp>
        <p:nvSpPr>
          <p:cNvPr id="31" name="TextBox 31"/>
          <p:cNvSpPr txBox="1"/>
          <p:nvPr/>
        </p:nvSpPr>
        <p:spPr>
          <a:xfrm>
            <a:off x="14585765" y="895287"/>
            <a:ext cx="2498812" cy="280646"/>
          </a:xfrm>
          <a:prstGeom prst="rect">
            <a:avLst/>
          </a:prstGeom>
        </p:spPr>
        <p:txBody>
          <a:bodyPr lIns="0" tIns="0" rIns="0" bIns="0" rtlCol="0" anchor="t">
            <a:spAutoFit/>
          </a:bodyPr>
          <a:lstStyle/>
          <a:p>
            <a:pPr marL="0" lvl="0" indent="0" algn="r">
              <a:lnSpc>
                <a:spcPts val="2254"/>
              </a:lnSpc>
            </a:pPr>
            <a:r>
              <a:rPr lang="en-US" sz="1657" b="1" spc="-41">
                <a:solidFill>
                  <a:srgbClr val="FFFFFF"/>
                </a:solidFill>
                <a:latin typeface="Canva Sans Bold"/>
                <a:ea typeface="Canva Sans Bold"/>
                <a:cs typeface="Canva Sans Bold"/>
                <a:sym typeface="Canva Sans Bold"/>
              </a:rPr>
              <a:t>Hanoi Univ. of Sci. &amp; Tech.</a:t>
            </a:r>
          </a:p>
        </p:txBody>
      </p:sp>
      <p:sp>
        <p:nvSpPr>
          <p:cNvPr id="32" name="TextBox 32"/>
          <p:cNvSpPr txBox="1"/>
          <p:nvPr/>
        </p:nvSpPr>
        <p:spPr>
          <a:xfrm>
            <a:off x="1157857" y="2528166"/>
            <a:ext cx="9375805" cy="1146486"/>
          </a:xfrm>
          <a:prstGeom prst="rect">
            <a:avLst/>
          </a:prstGeom>
        </p:spPr>
        <p:txBody>
          <a:bodyPr lIns="0" tIns="0" rIns="0" bIns="0" rtlCol="0" anchor="t">
            <a:spAutoFit/>
          </a:bodyPr>
          <a:lstStyle/>
          <a:p>
            <a:pPr marL="0" lvl="0" indent="0" algn="l">
              <a:lnSpc>
                <a:spcPts val="8325"/>
              </a:lnSpc>
              <a:spcBef>
                <a:spcPct val="0"/>
              </a:spcBef>
            </a:pPr>
            <a:r>
              <a:rPr lang="en-US" sz="9250" b="1" spc="-370">
                <a:solidFill>
                  <a:srgbClr val="FFFFFF"/>
                </a:solidFill>
                <a:latin typeface="Pragmatica Bold"/>
                <a:ea typeface="Pragmatica Bold"/>
                <a:cs typeface="Pragmatica Bold"/>
                <a:sym typeface="Pragmatica Bold"/>
              </a:rPr>
              <a:t>Project Summary</a:t>
            </a:r>
          </a:p>
        </p:txBody>
      </p:sp>
      <p:sp>
        <p:nvSpPr>
          <p:cNvPr id="33" name="TextBox 33"/>
          <p:cNvSpPr txBox="1"/>
          <p:nvPr/>
        </p:nvSpPr>
        <p:spPr>
          <a:xfrm>
            <a:off x="2520976" y="6675071"/>
            <a:ext cx="5351969" cy="1236888"/>
          </a:xfrm>
          <a:prstGeom prst="rect">
            <a:avLst/>
          </a:prstGeom>
        </p:spPr>
        <p:txBody>
          <a:bodyPr lIns="0" tIns="0" rIns="0" bIns="0" rtlCol="0" anchor="t">
            <a:spAutoFit/>
          </a:bodyPr>
          <a:lstStyle/>
          <a:p>
            <a:pPr marL="0" lvl="0" indent="0" algn="l">
              <a:lnSpc>
                <a:spcPts val="2003"/>
              </a:lnSpc>
            </a:pPr>
            <a:r>
              <a:rPr lang="en-US" sz="1473" spc="-36">
                <a:solidFill>
                  <a:srgbClr val="FFFFFF"/>
                </a:solidFill>
                <a:latin typeface="Canva Sans"/>
                <a:ea typeface="Canva Sans"/>
                <a:cs typeface="Canva Sans"/>
                <a:sym typeface="Canva Sans"/>
              </a:rPr>
              <a:t>SiOx anodes suffer from &gt;300% volume expansion during lithiation and delithiation cycles. This causes severe electrode cracking, rapid capacity fade, and structural degradation — limiting commercial viability despite exceptional theoretical capacity.</a:t>
            </a:r>
          </a:p>
        </p:txBody>
      </p:sp>
      <p:sp>
        <p:nvSpPr>
          <p:cNvPr id="34" name="TextBox 34"/>
          <p:cNvSpPr txBox="1"/>
          <p:nvPr/>
        </p:nvSpPr>
        <p:spPr>
          <a:xfrm>
            <a:off x="10063208" y="6668327"/>
            <a:ext cx="5351969" cy="989238"/>
          </a:xfrm>
          <a:prstGeom prst="rect">
            <a:avLst/>
          </a:prstGeom>
        </p:spPr>
        <p:txBody>
          <a:bodyPr lIns="0" tIns="0" rIns="0" bIns="0" rtlCol="0" anchor="t">
            <a:spAutoFit/>
          </a:bodyPr>
          <a:lstStyle/>
          <a:p>
            <a:pPr marL="0" lvl="0" indent="0" algn="l">
              <a:lnSpc>
                <a:spcPts val="2003"/>
              </a:lnSpc>
            </a:pPr>
            <a:r>
              <a:rPr lang="en-US" sz="1473" spc="-36">
                <a:solidFill>
                  <a:srgbClr val="FFFFFF"/>
                </a:solidFill>
                <a:latin typeface="Canva Sans"/>
                <a:ea typeface="Canva Sans"/>
                <a:cs typeface="Canva Sans"/>
                <a:sym typeface="Canva Sans"/>
              </a:rPr>
              <a:t>The MSxOySez shell (15–20 nm) encapsulates the SiOx core, forming a Built-in Electric Field (BIEF) that accelerates Li+ transport, absorbs mechanical stress, and stabilizes the electrode structure over hundreds of charge-discharge cycles.</a:t>
            </a:r>
          </a:p>
        </p:txBody>
      </p:sp>
      <p:sp>
        <p:nvSpPr>
          <p:cNvPr id="35" name="TextBox 35"/>
          <p:cNvSpPr txBox="1"/>
          <p:nvPr/>
        </p:nvSpPr>
        <p:spPr>
          <a:xfrm>
            <a:off x="11064893" y="2437764"/>
            <a:ext cx="5528345" cy="1236888"/>
          </a:xfrm>
          <a:prstGeom prst="rect">
            <a:avLst/>
          </a:prstGeom>
        </p:spPr>
        <p:txBody>
          <a:bodyPr lIns="0" tIns="0" rIns="0" bIns="0" rtlCol="0" anchor="t">
            <a:spAutoFit/>
          </a:bodyPr>
          <a:lstStyle/>
          <a:p>
            <a:pPr marL="0" lvl="0" indent="0" algn="l">
              <a:lnSpc>
                <a:spcPts val="2003"/>
              </a:lnSpc>
            </a:pPr>
            <a:r>
              <a:rPr lang="en-US" sz="1473" spc="-36">
                <a:solidFill>
                  <a:srgbClr val="FFFFFF"/>
                </a:solidFill>
                <a:latin typeface="Canva Sans"/>
                <a:ea typeface="Canva Sans"/>
                <a:cs typeface="Canva Sans"/>
                <a:sym typeface="Canva Sans"/>
              </a:rPr>
              <a:t>MSxOySez/SiOx heterostructured composites (M = Fe or Nb) are engineered as high-capacity anodes. SiOx delivers &gt;1500 mAh/g — approximately 4× graphite (372 mAh/g) — making it a transformative candidate for next-generation Lithium-ion batteries.</a:t>
            </a:r>
          </a:p>
        </p:txBody>
      </p:sp>
      <p:sp>
        <p:nvSpPr>
          <p:cNvPr id="36" name="TextBox 36"/>
          <p:cNvSpPr txBox="1"/>
          <p:nvPr/>
        </p:nvSpPr>
        <p:spPr>
          <a:xfrm>
            <a:off x="2520976" y="6154784"/>
            <a:ext cx="4454209" cy="323134"/>
          </a:xfrm>
          <a:prstGeom prst="rect">
            <a:avLst/>
          </a:prstGeom>
        </p:spPr>
        <p:txBody>
          <a:bodyPr lIns="0" tIns="0" rIns="0" bIns="0" rtlCol="0" anchor="t">
            <a:spAutoFit/>
          </a:bodyPr>
          <a:lstStyle/>
          <a:p>
            <a:pPr marL="0" lvl="0" indent="0" algn="l">
              <a:lnSpc>
                <a:spcPts val="2459"/>
              </a:lnSpc>
            </a:pPr>
            <a:r>
              <a:rPr lang="en-US" sz="2794" b="1" spc="-139">
                <a:solidFill>
                  <a:srgbClr val="FFFFFF"/>
                </a:solidFill>
                <a:latin typeface="Pragmatica Bold"/>
                <a:ea typeface="Pragmatica Bold"/>
                <a:cs typeface="Pragmatica Bold"/>
                <a:sym typeface="Pragmatica Bold"/>
              </a:rPr>
              <a:t>Core Challenge</a:t>
            </a:r>
          </a:p>
        </p:txBody>
      </p:sp>
      <p:sp>
        <p:nvSpPr>
          <p:cNvPr id="37" name="TextBox 37"/>
          <p:cNvSpPr txBox="1"/>
          <p:nvPr/>
        </p:nvSpPr>
        <p:spPr>
          <a:xfrm>
            <a:off x="10063208" y="6180192"/>
            <a:ext cx="4454209" cy="323134"/>
          </a:xfrm>
          <a:prstGeom prst="rect">
            <a:avLst/>
          </a:prstGeom>
        </p:spPr>
        <p:txBody>
          <a:bodyPr lIns="0" tIns="0" rIns="0" bIns="0" rtlCol="0" anchor="t">
            <a:spAutoFit/>
          </a:bodyPr>
          <a:lstStyle/>
          <a:p>
            <a:pPr marL="0" lvl="0" indent="0" algn="l">
              <a:lnSpc>
                <a:spcPts val="2459"/>
              </a:lnSpc>
            </a:pPr>
            <a:r>
              <a:rPr lang="en-US" sz="2794" b="1" spc="-139">
                <a:solidFill>
                  <a:srgbClr val="FFFFFF"/>
                </a:solidFill>
                <a:latin typeface="Pragmatica Bold"/>
                <a:ea typeface="Pragmatica Bold"/>
                <a:cs typeface="Pragmatica Bold"/>
                <a:sym typeface="Pragmatica Bold"/>
              </a:rPr>
              <a:t>Proposed Solution</a:t>
            </a:r>
          </a:p>
        </p:txBody>
      </p:sp>
      <p:sp>
        <p:nvSpPr>
          <p:cNvPr id="38" name="TextBox 38"/>
          <p:cNvSpPr txBox="1"/>
          <p:nvPr/>
        </p:nvSpPr>
        <p:spPr>
          <a:xfrm>
            <a:off x="1294549" y="5217049"/>
            <a:ext cx="1378563" cy="503943"/>
          </a:xfrm>
          <a:prstGeom prst="rect">
            <a:avLst/>
          </a:prstGeom>
        </p:spPr>
        <p:txBody>
          <a:bodyPr lIns="0" tIns="0" rIns="0" bIns="0" rtlCol="0" anchor="t">
            <a:spAutoFit/>
          </a:bodyPr>
          <a:lstStyle/>
          <a:p>
            <a:pPr marL="0" lvl="0" indent="0" algn="ctr">
              <a:lnSpc>
                <a:spcPts val="3693"/>
              </a:lnSpc>
            </a:pPr>
            <a:r>
              <a:rPr lang="en-US" sz="4197" b="1" spc="-209">
                <a:solidFill>
                  <a:srgbClr val="FFFFFF"/>
                </a:solidFill>
                <a:latin typeface="Pragmatica Bold"/>
                <a:ea typeface="Pragmatica Bold"/>
                <a:cs typeface="Pragmatica Bold"/>
                <a:sym typeface="Pragmatica Bold"/>
              </a:rPr>
              <a:t>01</a:t>
            </a:r>
          </a:p>
        </p:txBody>
      </p:sp>
      <p:sp>
        <p:nvSpPr>
          <p:cNvPr id="39" name="TextBox 39"/>
          <p:cNvSpPr txBox="1"/>
          <p:nvPr/>
        </p:nvSpPr>
        <p:spPr>
          <a:xfrm>
            <a:off x="8684645" y="5210304"/>
            <a:ext cx="1378563" cy="503943"/>
          </a:xfrm>
          <a:prstGeom prst="rect">
            <a:avLst/>
          </a:prstGeom>
        </p:spPr>
        <p:txBody>
          <a:bodyPr lIns="0" tIns="0" rIns="0" bIns="0" rtlCol="0" anchor="t">
            <a:spAutoFit/>
          </a:bodyPr>
          <a:lstStyle/>
          <a:p>
            <a:pPr marL="0" lvl="0" indent="0" algn="ctr">
              <a:lnSpc>
                <a:spcPts val="3693"/>
              </a:lnSpc>
            </a:pPr>
            <a:r>
              <a:rPr lang="en-US" sz="4197" b="1" spc="-209">
                <a:solidFill>
                  <a:srgbClr val="FFFFFF"/>
                </a:solidFill>
                <a:latin typeface="Pragmatica Bold"/>
                <a:ea typeface="Pragmatica Bold"/>
                <a:cs typeface="Pragmatica Bold"/>
                <a:sym typeface="Pragmatica Bold"/>
              </a:rPr>
              <a:t>02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AutoShape 3"/>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4" name="AutoShape 4"/>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p:cNvSpPr/>
          <p:nvPr/>
        </p:nvSpPr>
        <p:spPr>
          <a:xfrm>
            <a:off x="6075187"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AutoShape 7"/>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8" name="Freeform 8"/>
          <p:cNvSpPr/>
          <p:nvPr/>
        </p:nvSpPr>
        <p:spPr>
          <a:xfrm>
            <a:off x="14950017" y="-1114244"/>
            <a:ext cx="8534070" cy="11618164"/>
          </a:xfrm>
          <a:custGeom>
            <a:avLst/>
            <a:gdLst/>
            <a:ahLst/>
            <a:cxnLst/>
            <a:rect l="l" t="t" r="r" b="b"/>
            <a:pathLst>
              <a:path w="8534070" h="11618164">
                <a:moveTo>
                  <a:pt x="0" y="0"/>
                </a:moveTo>
                <a:lnTo>
                  <a:pt x="8534069" y="0"/>
                </a:lnTo>
                <a:lnTo>
                  <a:pt x="8534069" y="11618163"/>
                </a:lnTo>
                <a:lnTo>
                  <a:pt x="0" y="11618163"/>
                </a:lnTo>
                <a:lnTo>
                  <a:pt x="0" y="0"/>
                </a:lnTo>
                <a:close/>
              </a:path>
            </a:pathLst>
          </a:custGeom>
          <a:blipFill>
            <a:blip r:embed="rId2">
              <a:alphaModFix amt="50000"/>
            </a:blip>
            <a:stretch>
              <a:fillRect/>
            </a:stretch>
          </a:blipFill>
        </p:spPr>
        <p:txBody>
          <a:bodyPr/>
          <a:lstStyle/>
          <a:p>
            <a:endParaRPr lang="en-US"/>
          </a:p>
        </p:txBody>
      </p:sp>
      <p:grpSp>
        <p:nvGrpSpPr>
          <p:cNvPr id="9" name="Group 9"/>
          <p:cNvGrpSpPr/>
          <p:nvPr/>
        </p:nvGrpSpPr>
        <p:grpSpPr>
          <a:xfrm>
            <a:off x="1028700" y="654448"/>
            <a:ext cx="16230600" cy="748504"/>
            <a:chOff x="0" y="0"/>
            <a:chExt cx="4274726" cy="197137"/>
          </a:xfrm>
        </p:grpSpPr>
        <p:sp>
          <p:nvSpPr>
            <p:cNvPr id="10" name="Freeform 10"/>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1" name="TextBox 11"/>
            <p:cNvSpPr txBox="1"/>
            <p:nvPr/>
          </p:nvSpPr>
          <p:spPr>
            <a:xfrm>
              <a:off x="0" y="38100"/>
              <a:ext cx="4274726" cy="159037"/>
            </a:xfrm>
            <a:prstGeom prst="rect">
              <a:avLst/>
            </a:prstGeom>
          </p:spPr>
          <p:txBody>
            <a:bodyPr lIns="50800" tIns="50800" rIns="50800" bIns="50800" rtlCol="0" anchor="ctr"/>
            <a:lstStyle/>
            <a:p>
              <a:pPr marL="0" lvl="0" indent="0" algn="ctr">
                <a:lnSpc>
                  <a:spcPts val="1619"/>
                </a:lnSpc>
              </a:pPr>
              <a:endParaRPr/>
            </a:p>
          </p:txBody>
        </p:sp>
      </p:grpSp>
      <p:grpSp>
        <p:nvGrpSpPr>
          <p:cNvPr id="12" name="Group 12"/>
          <p:cNvGrpSpPr/>
          <p:nvPr/>
        </p:nvGrpSpPr>
        <p:grpSpPr>
          <a:xfrm>
            <a:off x="1240550" y="823594"/>
            <a:ext cx="2333426" cy="410211"/>
            <a:chOff x="0" y="0"/>
            <a:chExt cx="614565" cy="108039"/>
          </a:xfrm>
        </p:grpSpPr>
        <p:sp>
          <p:nvSpPr>
            <p:cNvPr id="13" name="Freeform 13"/>
            <p:cNvSpPr/>
            <p:nvPr/>
          </p:nvSpPr>
          <p:spPr>
            <a:xfrm>
              <a:off x="0" y="0"/>
              <a:ext cx="614565" cy="108039"/>
            </a:xfrm>
            <a:custGeom>
              <a:avLst/>
              <a:gdLst/>
              <a:ahLst/>
              <a:cxnLst/>
              <a:rect l="l" t="t" r="r" b="b"/>
              <a:pathLst>
                <a:path w="614565" h="108039">
                  <a:moveTo>
                    <a:pt x="54020" y="0"/>
                  </a:moveTo>
                  <a:lnTo>
                    <a:pt x="560545" y="0"/>
                  </a:lnTo>
                  <a:cubicBezTo>
                    <a:pt x="574872" y="0"/>
                    <a:pt x="588612" y="5691"/>
                    <a:pt x="598743" y="15822"/>
                  </a:cubicBezTo>
                  <a:cubicBezTo>
                    <a:pt x="608874" y="25953"/>
                    <a:pt x="614565" y="39693"/>
                    <a:pt x="614565" y="54020"/>
                  </a:cubicBezTo>
                  <a:lnTo>
                    <a:pt x="614565" y="54020"/>
                  </a:lnTo>
                  <a:cubicBezTo>
                    <a:pt x="614565" y="83854"/>
                    <a:pt x="590379" y="108039"/>
                    <a:pt x="560545" y="108039"/>
                  </a:cubicBezTo>
                  <a:lnTo>
                    <a:pt x="54020" y="108039"/>
                  </a:lnTo>
                  <a:cubicBezTo>
                    <a:pt x="39693" y="108039"/>
                    <a:pt x="25953" y="102348"/>
                    <a:pt x="15822" y="92217"/>
                  </a:cubicBezTo>
                  <a:cubicBezTo>
                    <a:pt x="5691" y="82087"/>
                    <a:pt x="0" y="68346"/>
                    <a:pt x="0" y="54020"/>
                  </a:cubicBezTo>
                  <a:lnTo>
                    <a:pt x="0" y="54020"/>
                  </a:lnTo>
                  <a:cubicBezTo>
                    <a:pt x="0" y="39693"/>
                    <a:pt x="5691" y="25953"/>
                    <a:pt x="15822" y="15822"/>
                  </a:cubicBezTo>
                  <a:cubicBezTo>
                    <a:pt x="25953" y="5691"/>
                    <a:pt x="39693" y="0"/>
                    <a:pt x="54020" y="0"/>
                  </a:cubicBezTo>
                  <a:close/>
                </a:path>
              </a:pathLst>
            </a:custGeom>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ln cap="rnd">
              <a:noFill/>
              <a:prstDash val="solid"/>
              <a:round/>
            </a:ln>
          </p:spPr>
          <p:txBody>
            <a:bodyPr/>
            <a:lstStyle/>
            <a:p>
              <a:endParaRPr lang="en-US"/>
            </a:p>
          </p:txBody>
        </p:sp>
        <p:sp>
          <p:nvSpPr>
            <p:cNvPr id="14" name="TextBox 14"/>
            <p:cNvSpPr txBox="1"/>
            <p:nvPr/>
          </p:nvSpPr>
          <p:spPr>
            <a:xfrm>
              <a:off x="0" y="38100"/>
              <a:ext cx="614565" cy="69939"/>
            </a:xfrm>
            <a:prstGeom prst="rect">
              <a:avLst/>
            </a:prstGeom>
          </p:spPr>
          <p:txBody>
            <a:bodyPr lIns="50800" tIns="50800" rIns="50800" bIns="50800" rtlCol="0" anchor="ctr"/>
            <a:lstStyle/>
            <a:p>
              <a:pPr marL="0" lvl="0" indent="0" algn="ctr">
                <a:lnSpc>
                  <a:spcPts val="1619"/>
                </a:lnSpc>
              </a:pPr>
              <a:endParaRPr/>
            </a:p>
          </p:txBody>
        </p:sp>
      </p:grpSp>
      <p:grpSp>
        <p:nvGrpSpPr>
          <p:cNvPr id="15" name="Group 15"/>
          <p:cNvGrpSpPr/>
          <p:nvPr/>
        </p:nvGrpSpPr>
        <p:grpSpPr>
          <a:xfrm>
            <a:off x="1028700" y="2580285"/>
            <a:ext cx="3471547" cy="6383502"/>
            <a:chOff x="0" y="0"/>
            <a:chExt cx="537833" cy="988972"/>
          </a:xfrm>
        </p:grpSpPr>
        <p:sp>
          <p:nvSpPr>
            <p:cNvPr id="16" name="Freeform 16"/>
            <p:cNvSpPr/>
            <p:nvPr/>
          </p:nvSpPr>
          <p:spPr>
            <a:xfrm>
              <a:off x="0" y="0"/>
              <a:ext cx="537833" cy="988972"/>
            </a:xfrm>
            <a:custGeom>
              <a:avLst/>
              <a:gdLst/>
              <a:ahLst/>
              <a:cxnLst/>
              <a:rect l="l" t="t" r="r" b="b"/>
              <a:pathLst>
                <a:path w="537833" h="988972">
                  <a:moveTo>
                    <a:pt x="71363" y="0"/>
                  </a:moveTo>
                  <a:lnTo>
                    <a:pt x="466470" y="0"/>
                  </a:lnTo>
                  <a:cubicBezTo>
                    <a:pt x="505883" y="0"/>
                    <a:pt x="537833" y="31950"/>
                    <a:pt x="537833" y="71363"/>
                  </a:cubicBezTo>
                  <a:lnTo>
                    <a:pt x="537833" y="917608"/>
                  </a:lnTo>
                  <a:cubicBezTo>
                    <a:pt x="537833" y="957021"/>
                    <a:pt x="505883" y="988972"/>
                    <a:pt x="466470" y="988972"/>
                  </a:cubicBezTo>
                  <a:lnTo>
                    <a:pt x="71363" y="988972"/>
                  </a:lnTo>
                  <a:cubicBezTo>
                    <a:pt x="31950" y="988972"/>
                    <a:pt x="0" y="957021"/>
                    <a:pt x="0" y="917608"/>
                  </a:cubicBezTo>
                  <a:lnTo>
                    <a:pt x="0" y="71363"/>
                  </a:lnTo>
                  <a:cubicBezTo>
                    <a:pt x="0" y="31950"/>
                    <a:pt x="31950" y="0"/>
                    <a:pt x="71363" y="0"/>
                  </a:cubicBezTo>
                  <a:close/>
                </a:path>
              </a:pathLst>
            </a:custGeom>
            <a:blipFill>
              <a:blip r:embed="rId3"/>
              <a:stretch>
                <a:fillRect l="-452" r="-452"/>
              </a:stretch>
            </a:blipFill>
          </p:spPr>
          <p:txBody>
            <a:bodyPr/>
            <a:lstStyle/>
            <a:p>
              <a:endParaRPr lang="en-US"/>
            </a:p>
          </p:txBody>
        </p:sp>
      </p:grpSp>
      <p:grpSp>
        <p:nvGrpSpPr>
          <p:cNvPr id="17" name="Group 17"/>
          <p:cNvGrpSpPr/>
          <p:nvPr/>
        </p:nvGrpSpPr>
        <p:grpSpPr>
          <a:xfrm>
            <a:off x="4703411" y="2586904"/>
            <a:ext cx="3059311" cy="3855166"/>
            <a:chOff x="0" y="0"/>
            <a:chExt cx="784810" cy="988972"/>
          </a:xfrm>
        </p:grpSpPr>
        <p:sp>
          <p:nvSpPr>
            <p:cNvPr id="18" name="Freeform 18"/>
            <p:cNvSpPr/>
            <p:nvPr/>
          </p:nvSpPr>
          <p:spPr>
            <a:xfrm>
              <a:off x="0" y="0"/>
              <a:ext cx="784810" cy="988972"/>
            </a:xfrm>
            <a:custGeom>
              <a:avLst/>
              <a:gdLst/>
              <a:ahLst/>
              <a:cxnLst/>
              <a:rect l="l" t="t" r="r" b="b"/>
              <a:pathLst>
                <a:path w="784810" h="988972">
                  <a:moveTo>
                    <a:pt x="80979" y="0"/>
                  </a:moveTo>
                  <a:lnTo>
                    <a:pt x="703830" y="0"/>
                  </a:lnTo>
                  <a:cubicBezTo>
                    <a:pt x="725307" y="0"/>
                    <a:pt x="745905" y="8532"/>
                    <a:pt x="761091" y="23718"/>
                  </a:cubicBezTo>
                  <a:cubicBezTo>
                    <a:pt x="776278" y="38905"/>
                    <a:pt x="784810" y="59502"/>
                    <a:pt x="784810" y="80979"/>
                  </a:cubicBezTo>
                  <a:lnTo>
                    <a:pt x="784810" y="907992"/>
                  </a:lnTo>
                  <a:cubicBezTo>
                    <a:pt x="784810" y="929469"/>
                    <a:pt x="776278" y="950067"/>
                    <a:pt x="761091" y="965253"/>
                  </a:cubicBezTo>
                  <a:cubicBezTo>
                    <a:pt x="745905" y="980440"/>
                    <a:pt x="725307" y="988972"/>
                    <a:pt x="703830" y="988972"/>
                  </a:cubicBezTo>
                  <a:lnTo>
                    <a:pt x="80979" y="988972"/>
                  </a:lnTo>
                  <a:cubicBezTo>
                    <a:pt x="59502" y="988972"/>
                    <a:pt x="38905" y="980440"/>
                    <a:pt x="23718" y="965253"/>
                  </a:cubicBezTo>
                  <a:cubicBezTo>
                    <a:pt x="8532" y="950067"/>
                    <a:pt x="0" y="929469"/>
                    <a:pt x="0" y="907992"/>
                  </a:cubicBezTo>
                  <a:lnTo>
                    <a:pt x="0" y="80979"/>
                  </a:lnTo>
                  <a:cubicBezTo>
                    <a:pt x="0" y="59502"/>
                    <a:pt x="8532" y="38905"/>
                    <a:pt x="23718" y="23718"/>
                  </a:cubicBezTo>
                  <a:cubicBezTo>
                    <a:pt x="38905" y="8532"/>
                    <a:pt x="59502" y="0"/>
                    <a:pt x="80979" y="0"/>
                  </a:cubicBezTo>
                  <a:close/>
                </a:path>
              </a:pathLst>
            </a:custGeom>
            <a:blipFill>
              <a:blip r:embed="rId4"/>
              <a:stretch>
                <a:fillRect l="-11" r="-11"/>
              </a:stretch>
            </a:blipFill>
          </p:spPr>
          <p:txBody>
            <a:bodyPr/>
            <a:lstStyle/>
            <a:p>
              <a:endParaRPr lang="en-US"/>
            </a:p>
          </p:txBody>
        </p:sp>
      </p:grpSp>
      <p:grpSp>
        <p:nvGrpSpPr>
          <p:cNvPr id="19" name="Group 19"/>
          <p:cNvGrpSpPr/>
          <p:nvPr/>
        </p:nvGrpSpPr>
        <p:grpSpPr>
          <a:xfrm>
            <a:off x="4703411" y="6613520"/>
            <a:ext cx="3059311" cy="2350267"/>
            <a:chOff x="0" y="0"/>
            <a:chExt cx="784810" cy="602917"/>
          </a:xfrm>
        </p:grpSpPr>
        <p:sp>
          <p:nvSpPr>
            <p:cNvPr id="20" name="Freeform 20"/>
            <p:cNvSpPr/>
            <p:nvPr/>
          </p:nvSpPr>
          <p:spPr>
            <a:xfrm>
              <a:off x="0" y="0"/>
              <a:ext cx="784810" cy="602917"/>
            </a:xfrm>
            <a:custGeom>
              <a:avLst/>
              <a:gdLst/>
              <a:ahLst/>
              <a:cxnLst/>
              <a:rect l="l" t="t" r="r" b="b"/>
              <a:pathLst>
                <a:path w="784810" h="602917">
                  <a:moveTo>
                    <a:pt x="80979" y="0"/>
                  </a:moveTo>
                  <a:lnTo>
                    <a:pt x="703830" y="0"/>
                  </a:lnTo>
                  <a:cubicBezTo>
                    <a:pt x="725307" y="0"/>
                    <a:pt x="745905" y="8532"/>
                    <a:pt x="761091" y="23718"/>
                  </a:cubicBezTo>
                  <a:cubicBezTo>
                    <a:pt x="776278" y="38905"/>
                    <a:pt x="784810" y="59502"/>
                    <a:pt x="784810" y="80979"/>
                  </a:cubicBezTo>
                  <a:lnTo>
                    <a:pt x="784810" y="521938"/>
                  </a:lnTo>
                  <a:cubicBezTo>
                    <a:pt x="784810" y="543415"/>
                    <a:pt x="776278" y="564012"/>
                    <a:pt x="761091" y="579199"/>
                  </a:cubicBezTo>
                  <a:cubicBezTo>
                    <a:pt x="745905" y="594386"/>
                    <a:pt x="725307" y="602917"/>
                    <a:pt x="703830" y="602917"/>
                  </a:cubicBezTo>
                  <a:lnTo>
                    <a:pt x="80979" y="602917"/>
                  </a:lnTo>
                  <a:cubicBezTo>
                    <a:pt x="59502" y="602917"/>
                    <a:pt x="38905" y="594386"/>
                    <a:pt x="23718" y="579199"/>
                  </a:cubicBezTo>
                  <a:cubicBezTo>
                    <a:pt x="8532" y="564012"/>
                    <a:pt x="0" y="543415"/>
                    <a:pt x="0" y="521938"/>
                  </a:cubicBezTo>
                  <a:lnTo>
                    <a:pt x="0" y="80979"/>
                  </a:lnTo>
                  <a:cubicBezTo>
                    <a:pt x="0" y="59502"/>
                    <a:pt x="8532" y="38905"/>
                    <a:pt x="23718" y="23718"/>
                  </a:cubicBezTo>
                  <a:cubicBezTo>
                    <a:pt x="38905" y="8532"/>
                    <a:pt x="59502" y="0"/>
                    <a:pt x="80979" y="0"/>
                  </a:cubicBezTo>
                  <a:close/>
                </a:path>
              </a:pathLst>
            </a:custGeom>
            <a:blipFill>
              <a:blip r:embed="rId5"/>
              <a:stretch>
                <a:fillRect l="-47" r="-47"/>
              </a:stretch>
            </a:blipFill>
          </p:spPr>
          <p:txBody>
            <a:bodyPr/>
            <a:lstStyle/>
            <a:p>
              <a:endParaRPr lang="en-US"/>
            </a:p>
          </p:txBody>
        </p:sp>
      </p:grpSp>
      <p:sp>
        <p:nvSpPr>
          <p:cNvPr id="21" name="TextBox 21"/>
          <p:cNvSpPr txBox="1"/>
          <p:nvPr/>
        </p:nvSpPr>
        <p:spPr>
          <a:xfrm>
            <a:off x="1157857"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Technical Challenges</a:t>
            </a:r>
          </a:p>
        </p:txBody>
      </p:sp>
      <p:sp>
        <p:nvSpPr>
          <p:cNvPr id="22" name="TextBox 22"/>
          <p:cNvSpPr txBox="1"/>
          <p:nvPr/>
        </p:nvSpPr>
        <p:spPr>
          <a:xfrm>
            <a:off x="3358755"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Problem Statement</a:t>
            </a:r>
          </a:p>
        </p:txBody>
      </p:sp>
      <p:sp>
        <p:nvSpPr>
          <p:cNvPr id="23" name="TextBox 23"/>
          <p:cNvSpPr txBox="1"/>
          <p:nvPr/>
        </p:nvSpPr>
        <p:spPr>
          <a:xfrm>
            <a:off x="5108285"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Framework</a:t>
            </a:r>
          </a:p>
        </p:txBody>
      </p:sp>
      <p:sp>
        <p:nvSpPr>
          <p:cNvPr id="24" name="TextBox 24"/>
          <p:cNvSpPr txBox="1"/>
          <p:nvPr/>
        </p:nvSpPr>
        <p:spPr>
          <a:xfrm>
            <a:off x="6552810"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Methodology</a:t>
            </a:r>
          </a:p>
        </p:txBody>
      </p:sp>
      <p:sp>
        <p:nvSpPr>
          <p:cNvPr id="25" name="TextBox 25"/>
          <p:cNvSpPr txBox="1"/>
          <p:nvPr/>
        </p:nvSpPr>
        <p:spPr>
          <a:xfrm>
            <a:off x="14585765" y="904812"/>
            <a:ext cx="2498812" cy="287300"/>
          </a:xfrm>
          <a:prstGeom prst="rect">
            <a:avLst/>
          </a:prstGeom>
        </p:spPr>
        <p:txBody>
          <a:bodyPr lIns="0" tIns="0" rIns="0" bIns="0" rtlCol="0" anchor="t">
            <a:spAutoFit/>
          </a:bodyPr>
          <a:lstStyle/>
          <a:p>
            <a:pPr marL="0" lvl="0" indent="0" algn="r">
              <a:lnSpc>
                <a:spcPts val="2446"/>
              </a:lnSpc>
            </a:pPr>
            <a:r>
              <a:rPr lang="en-US" sz="1798" b="1" spc="-44">
                <a:solidFill>
                  <a:srgbClr val="FFFFFF"/>
                </a:solidFill>
                <a:latin typeface="Canva Sans Bold"/>
                <a:ea typeface="Canva Sans Bold"/>
                <a:cs typeface="Canva Sans Bold"/>
                <a:sym typeface="Canva Sans Bold"/>
              </a:rPr>
              <a:t>Larana Company</a:t>
            </a:r>
          </a:p>
        </p:txBody>
      </p:sp>
      <p:sp>
        <p:nvSpPr>
          <p:cNvPr id="26" name="TextBox 26"/>
          <p:cNvSpPr txBox="1"/>
          <p:nvPr/>
        </p:nvSpPr>
        <p:spPr>
          <a:xfrm>
            <a:off x="8871997" y="2770785"/>
            <a:ext cx="9165821" cy="2219451"/>
          </a:xfrm>
          <a:prstGeom prst="rect">
            <a:avLst/>
          </a:prstGeom>
        </p:spPr>
        <p:txBody>
          <a:bodyPr lIns="0" tIns="0" rIns="0" bIns="0" rtlCol="0" anchor="t">
            <a:spAutoFit/>
          </a:bodyPr>
          <a:lstStyle/>
          <a:p>
            <a:pPr marL="0" lvl="0" indent="0" algn="l">
              <a:lnSpc>
                <a:spcPts val="5752"/>
              </a:lnSpc>
              <a:spcBef>
                <a:spcPct val="0"/>
              </a:spcBef>
            </a:pPr>
            <a:r>
              <a:rPr lang="en-US" sz="6391" b="1" u="none" strike="noStrike" spc="-255">
                <a:solidFill>
                  <a:srgbClr val="FFFFFF"/>
                </a:solidFill>
                <a:latin typeface="Pragmatica Bold"/>
                <a:ea typeface="Pragmatica Bold"/>
                <a:cs typeface="Pragmatica Bold"/>
                <a:sym typeface="Pragmatica Bold"/>
              </a:rPr>
              <a:t>Technical</a:t>
            </a:r>
          </a:p>
          <a:p>
            <a:pPr marL="0" lvl="0" indent="0" algn="l">
              <a:lnSpc>
                <a:spcPts val="5752"/>
              </a:lnSpc>
              <a:spcBef>
                <a:spcPct val="0"/>
              </a:spcBef>
            </a:pPr>
            <a:r>
              <a:rPr lang="en-US" sz="6391" b="1" u="none" strike="noStrike" spc="-255">
                <a:solidFill>
                  <a:srgbClr val="FFFFFF"/>
                </a:solidFill>
                <a:latin typeface="Pragmatica Bold"/>
                <a:ea typeface="Pragmatica Bold"/>
                <a:cs typeface="Pragmatica Bold"/>
                <a:sym typeface="Pragmatica Bold"/>
              </a:rPr>
              <a:t>Challenges</a:t>
            </a:r>
          </a:p>
          <a:p>
            <a:pPr marL="0" lvl="0" indent="0" algn="l">
              <a:lnSpc>
                <a:spcPts val="5752"/>
              </a:lnSpc>
              <a:spcBef>
                <a:spcPct val="0"/>
              </a:spcBef>
            </a:pPr>
            <a:r>
              <a:rPr lang="en-US" sz="6391" b="1" u="none" strike="noStrike" spc="-255">
                <a:solidFill>
                  <a:srgbClr val="FFFFFF"/>
                </a:solidFill>
                <a:latin typeface="Pragmatica Bold"/>
                <a:ea typeface="Pragmatica Bold"/>
                <a:cs typeface="Pragmatica Bold"/>
                <a:sym typeface="Pragmatica Bold"/>
              </a:rPr>
              <a:t>of SiOx Anodes</a:t>
            </a:r>
          </a:p>
        </p:txBody>
      </p:sp>
      <p:sp>
        <p:nvSpPr>
          <p:cNvPr id="27" name="TextBox 27"/>
          <p:cNvSpPr txBox="1"/>
          <p:nvPr/>
        </p:nvSpPr>
        <p:spPr>
          <a:xfrm>
            <a:off x="8871997" y="7754231"/>
            <a:ext cx="6761545" cy="1134183"/>
          </a:xfrm>
          <a:prstGeom prst="rect">
            <a:avLst/>
          </a:prstGeom>
        </p:spPr>
        <p:txBody>
          <a:bodyPr lIns="0" tIns="0" rIns="0" bIns="0" rtlCol="0" anchor="t">
            <a:spAutoFit/>
          </a:bodyPr>
          <a:lstStyle/>
          <a:p>
            <a:pPr marL="0" lvl="0" indent="0" algn="l">
              <a:lnSpc>
                <a:spcPts val="1865"/>
              </a:lnSpc>
            </a:pPr>
            <a:r>
              <a:rPr lang="en-US" sz="1371" spc="-34">
                <a:solidFill>
                  <a:srgbClr val="FFFFFF"/>
                </a:solidFill>
                <a:latin typeface="Canva Sans"/>
                <a:ea typeface="Canva Sans"/>
                <a:cs typeface="Canva Sans"/>
                <a:sym typeface="Canva Sans"/>
              </a:rPr>
              <a:t>Repeated expansion and contraction leads to rapid capacity fade, electrode pulverization, and loss of electrical contact. These degradation mechanisms severely limit cycle life and Coulombic efficiency, making mechanical and electrochemical stabilization the central engineering challenge for next-generation SiOx-based anodes.</a:t>
            </a:r>
          </a:p>
        </p:txBody>
      </p:sp>
      <p:sp>
        <p:nvSpPr>
          <p:cNvPr id="28" name="TextBox 28"/>
          <p:cNvSpPr txBox="1"/>
          <p:nvPr/>
        </p:nvSpPr>
        <p:spPr>
          <a:xfrm>
            <a:off x="8871997" y="6423020"/>
            <a:ext cx="6761545" cy="905583"/>
          </a:xfrm>
          <a:prstGeom prst="rect">
            <a:avLst/>
          </a:prstGeom>
        </p:spPr>
        <p:txBody>
          <a:bodyPr lIns="0" tIns="0" rIns="0" bIns="0" rtlCol="0" anchor="t">
            <a:spAutoFit/>
          </a:bodyPr>
          <a:lstStyle/>
          <a:p>
            <a:pPr marL="0" lvl="0" indent="0" algn="l">
              <a:lnSpc>
                <a:spcPts val="1865"/>
              </a:lnSpc>
            </a:pPr>
            <a:r>
              <a:rPr lang="en-US" sz="1371" spc="-34">
                <a:solidFill>
                  <a:srgbClr val="FFFFFF"/>
                </a:solidFill>
                <a:latin typeface="Canva Sans"/>
                <a:ea typeface="Canva Sans"/>
                <a:cs typeface="Canva Sans"/>
                <a:sym typeface="Canva Sans"/>
              </a:rPr>
              <a:t>SiOx anodes deliver exceptional specific capacity exceeding 1500 mAh/g — approximately 4x that of conventional graphite (372 mAh/g). However, this high capacity comes with a critical drawback: volume expansion greater than 300% during lithiation cycles, causing severe mechanical stress and structural cracking.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AutoShape 3"/>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4" name="AutoShape 4"/>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p:cNvSpPr/>
          <p:nvPr/>
        </p:nvSpPr>
        <p:spPr>
          <a:xfrm>
            <a:off x="6075187"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AutoShape 7"/>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8" name="Freeform 8"/>
          <p:cNvSpPr/>
          <p:nvPr/>
        </p:nvSpPr>
        <p:spPr>
          <a:xfrm>
            <a:off x="14950017" y="-1114244"/>
            <a:ext cx="8534070" cy="11618164"/>
          </a:xfrm>
          <a:custGeom>
            <a:avLst/>
            <a:gdLst/>
            <a:ahLst/>
            <a:cxnLst/>
            <a:rect l="l" t="t" r="r" b="b"/>
            <a:pathLst>
              <a:path w="8534070" h="11618164">
                <a:moveTo>
                  <a:pt x="0" y="0"/>
                </a:moveTo>
                <a:lnTo>
                  <a:pt x="8534069" y="0"/>
                </a:lnTo>
                <a:lnTo>
                  <a:pt x="8534069" y="11618163"/>
                </a:lnTo>
                <a:lnTo>
                  <a:pt x="0" y="11618163"/>
                </a:lnTo>
                <a:lnTo>
                  <a:pt x="0" y="0"/>
                </a:lnTo>
                <a:close/>
              </a:path>
            </a:pathLst>
          </a:custGeom>
          <a:blipFill>
            <a:blip r:embed="rId2">
              <a:alphaModFix amt="50000"/>
            </a:blip>
            <a:stretch>
              <a:fillRect/>
            </a:stretch>
          </a:blipFill>
        </p:spPr>
        <p:txBody>
          <a:bodyPr/>
          <a:lstStyle/>
          <a:p>
            <a:endParaRPr lang="en-US"/>
          </a:p>
        </p:txBody>
      </p:sp>
      <p:grpSp>
        <p:nvGrpSpPr>
          <p:cNvPr id="9" name="Group 9"/>
          <p:cNvGrpSpPr/>
          <p:nvPr/>
        </p:nvGrpSpPr>
        <p:grpSpPr>
          <a:xfrm>
            <a:off x="1028700" y="654448"/>
            <a:ext cx="16230600" cy="748504"/>
            <a:chOff x="0" y="0"/>
            <a:chExt cx="4274726" cy="197137"/>
          </a:xfrm>
        </p:grpSpPr>
        <p:sp>
          <p:nvSpPr>
            <p:cNvPr id="10" name="Freeform 10"/>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1" name="TextBox 11"/>
            <p:cNvSpPr txBox="1"/>
            <p:nvPr/>
          </p:nvSpPr>
          <p:spPr>
            <a:xfrm>
              <a:off x="0" y="38100"/>
              <a:ext cx="4274726" cy="159037"/>
            </a:xfrm>
            <a:prstGeom prst="rect">
              <a:avLst/>
            </a:prstGeom>
          </p:spPr>
          <p:txBody>
            <a:bodyPr lIns="50800" tIns="50800" rIns="50800" bIns="50800" rtlCol="0" anchor="ctr"/>
            <a:lstStyle/>
            <a:p>
              <a:pPr marL="0" lvl="0" indent="0" algn="ctr">
                <a:lnSpc>
                  <a:spcPts val="1619"/>
                </a:lnSpc>
              </a:pPr>
              <a:endParaRPr/>
            </a:p>
          </p:txBody>
        </p:sp>
      </p:grpSp>
      <p:grpSp>
        <p:nvGrpSpPr>
          <p:cNvPr id="12" name="Group 12"/>
          <p:cNvGrpSpPr/>
          <p:nvPr/>
        </p:nvGrpSpPr>
        <p:grpSpPr>
          <a:xfrm>
            <a:off x="10506379" y="2181625"/>
            <a:ext cx="6578198" cy="6782162"/>
            <a:chOff x="0" y="0"/>
            <a:chExt cx="1732529" cy="1786248"/>
          </a:xfrm>
        </p:grpSpPr>
        <p:sp>
          <p:nvSpPr>
            <p:cNvPr id="13" name="Freeform 13"/>
            <p:cNvSpPr/>
            <p:nvPr/>
          </p:nvSpPr>
          <p:spPr>
            <a:xfrm>
              <a:off x="0" y="0"/>
              <a:ext cx="1732529" cy="1786248"/>
            </a:xfrm>
            <a:custGeom>
              <a:avLst/>
              <a:gdLst/>
              <a:ahLst/>
              <a:cxnLst/>
              <a:rect l="l" t="t" r="r" b="b"/>
              <a:pathLst>
                <a:path w="1732529" h="1786248">
                  <a:moveTo>
                    <a:pt x="58845" y="0"/>
                  </a:moveTo>
                  <a:lnTo>
                    <a:pt x="1673684" y="0"/>
                  </a:lnTo>
                  <a:cubicBezTo>
                    <a:pt x="1689291" y="0"/>
                    <a:pt x="1704258" y="6200"/>
                    <a:pt x="1715294" y="17235"/>
                  </a:cubicBezTo>
                  <a:cubicBezTo>
                    <a:pt x="1726330" y="28271"/>
                    <a:pt x="1732529" y="43239"/>
                    <a:pt x="1732529" y="58845"/>
                  </a:cubicBezTo>
                  <a:lnTo>
                    <a:pt x="1732529" y="1727403"/>
                  </a:lnTo>
                  <a:cubicBezTo>
                    <a:pt x="1732529" y="1743010"/>
                    <a:pt x="1726330" y="1757977"/>
                    <a:pt x="1715294" y="1769013"/>
                  </a:cubicBezTo>
                  <a:cubicBezTo>
                    <a:pt x="1704258" y="1780049"/>
                    <a:pt x="1689291" y="1786248"/>
                    <a:pt x="1673684" y="1786248"/>
                  </a:cubicBezTo>
                  <a:lnTo>
                    <a:pt x="58845" y="1786248"/>
                  </a:lnTo>
                  <a:cubicBezTo>
                    <a:pt x="43239" y="1786248"/>
                    <a:pt x="28271" y="1780049"/>
                    <a:pt x="17235" y="1769013"/>
                  </a:cubicBezTo>
                  <a:cubicBezTo>
                    <a:pt x="6200" y="1757977"/>
                    <a:pt x="0" y="1743010"/>
                    <a:pt x="0" y="1727403"/>
                  </a:cubicBezTo>
                  <a:lnTo>
                    <a:pt x="0" y="58845"/>
                  </a:lnTo>
                  <a:cubicBezTo>
                    <a:pt x="0" y="43239"/>
                    <a:pt x="6200" y="28271"/>
                    <a:pt x="17235" y="17235"/>
                  </a:cubicBezTo>
                  <a:cubicBezTo>
                    <a:pt x="28271" y="6200"/>
                    <a:pt x="43239" y="0"/>
                    <a:pt x="58845"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4" name="TextBox 14"/>
            <p:cNvSpPr txBox="1"/>
            <p:nvPr/>
          </p:nvSpPr>
          <p:spPr>
            <a:xfrm>
              <a:off x="0" y="38100"/>
              <a:ext cx="1732529" cy="1748148"/>
            </a:xfrm>
            <a:prstGeom prst="rect">
              <a:avLst/>
            </a:prstGeom>
          </p:spPr>
          <p:txBody>
            <a:bodyPr lIns="50800" tIns="50800" rIns="50800" bIns="50800" rtlCol="0" anchor="ctr"/>
            <a:lstStyle/>
            <a:p>
              <a:pPr marL="0" lvl="0" indent="0" algn="ctr">
                <a:lnSpc>
                  <a:spcPts val="1619"/>
                </a:lnSpc>
              </a:pPr>
              <a:endParaRPr/>
            </a:p>
          </p:txBody>
        </p:sp>
      </p:grpSp>
      <p:grpSp>
        <p:nvGrpSpPr>
          <p:cNvPr id="15" name="Group 15"/>
          <p:cNvGrpSpPr/>
          <p:nvPr/>
        </p:nvGrpSpPr>
        <p:grpSpPr>
          <a:xfrm>
            <a:off x="10051244" y="2970030"/>
            <a:ext cx="1042967" cy="1042967"/>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4119"/>
            </a:soli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7" name="TextBox 17"/>
            <p:cNvSpPr txBox="1"/>
            <p:nvPr/>
          </p:nvSpPr>
          <p:spPr>
            <a:xfrm>
              <a:off x="76200" y="114300"/>
              <a:ext cx="660400" cy="622300"/>
            </a:xfrm>
            <a:prstGeom prst="rect">
              <a:avLst/>
            </a:prstGeom>
          </p:spPr>
          <p:txBody>
            <a:bodyPr lIns="50800" tIns="50800" rIns="50800" bIns="50800" rtlCol="0" anchor="ctr"/>
            <a:lstStyle/>
            <a:p>
              <a:pPr marL="0" lvl="0" indent="0" algn="ctr">
                <a:lnSpc>
                  <a:spcPts val="1619"/>
                </a:lnSpc>
                <a:spcBef>
                  <a:spcPct val="0"/>
                </a:spcBef>
              </a:pPr>
              <a:endParaRPr/>
            </a:p>
          </p:txBody>
        </p:sp>
      </p:grpSp>
      <p:grpSp>
        <p:nvGrpSpPr>
          <p:cNvPr id="18" name="Group 18"/>
          <p:cNvGrpSpPr/>
          <p:nvPr/>
        </p:nvGrpSpPr>
        <p:grpSpPr>
          <a:xfrm>
            <a:off x="10041633" y="5051222"/>
            <a:ext cx="1042967" cy="1042967"/>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4119"/>
            </a:soli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20" name="TextBox 20"/>
            <p:cNvSpPr txBox="1"/>
            <p:nvPr/>
          </p:nvSpPr>
          <p:spPr>
            <a:xfrm>
              <a:off x="76200" y="114300"/>
              <a:ext cx="660400" cy="622300"/>
            </a:xfrm>
            <a:prstGeom prst="rect">
              <a:avLst/>
            </a:prstGeom>
          </p:spPr>
          <p:txBody>
            <a:bodyPr lIns="50800" tIns="50800" rIns="50800" bIns="50800" rtlCol="0" anchor="ctr"/>
            <a:lstStyle/>
            <a:p>
              <a:pPr marL="0" lvl="0" indent="0" algn="ctr">
                <a:lnSpc>
                  <a:spcPts val="1619"/>
                </a:lnSpc>
                <a:spcBef>
                  <a:spcPct val="0"/>
                </a:spcBef>
              </a:pPr>
              <a:endParaRPr/>
            </a:p>
          </p:txBody>
        </p:sp>
      </p:grpSp>
      <p:grpSp>
        <p:nvGrpSpPr>
          <p:cNvPr id="21" name="Group 21"/>
          <p:cNvGrpSpPr/>
          <p:nvPr/>
        </p:nvGrpSpPr>
        <p:grpSpPr>
          <a:xfrm>
            <a:off x="11472051" y="2779252"/>
            <a:ext cx="1428887" cy="1424523"/>
            <a:chOff x="0" y="0"/>
            <a:chExt cx="399722" cy="398501"/>
          </a:xfrm>
        </p:grpSpPr>
        <p:sp>
          <p:nvSpPr>
            <p:cNvPr id="22" name="Freeform 22"/>
            <p:cNvSpPr/>
            <p:nvPr/>
          </p:nvSpPr>
          <p:spPr>
            <a:xfrm>
              <a:off x="0" y="0"/>
              <a:ext cx="399722" cy="398501"/>
            </a:xfrm>
            <a:custGeom>
              <a:avLst/>
              <a:gdLst/>
              <a:ahLst/>
              <a:cxnLst/>
              <a:rect l="l" t="t" r="r" b="b"/>
              <a:pathLst>
                <a:path w="399722" h="398501">
                  <a:moveTo>
                    <a:pt x="108363" y="0"/>
                  </a:moveTo>
                  <a:lnTo>
                    <a:pt x="291359" y="0"/>
                  </a:lnTo>
                  <a:cubicBezTo>
                    <a:pt x="320098" y="0"/>
                    <a:pt x="347661" y="11417"/>
                    <a:pt x="367983" y="31739"/>
                  </a:cubicBezTo>
                  <a:cubicBezTo>
                    <a:pt x="388305" y="52061"/>
                    <a:pt x="399722" y="79623"/>
                    <a:pt x="399722" y="108363"/>
                  </a:cubicBezTo>
                  <a:lnTo>
                    <a:pt x="399722" y="290138"/>
                  </a:lnTo>
                  <a:cubicBezTo>
                    <a:pt x="399722" y="349985"/>
                    <a:pt x="351206" y="398501"/>
                    <a:pt x="291359" y="398501"/>
                  </a:cubicBezTo>
                  <a:lnTo>
                    <a:pt x="108363" y="398501"/>
                  </a:lnTo>
                  <a:cubicBezTo>
                    <a:pt x="48516" y="398501"/>
                    <a:pt x="0" y="349985"/>
                    <a:pt x="0" y="290138"/>
                  </a:cubicBezTo>
                  <a:lnTo>
                    <a:pt x="0" y="108363"/>
                  </a:lnTo>
                  <a:cubicBezTo>
                    <a:pt x="0" y="48516"/>
                    <a:pt x="48516" y="0"/>
                    <a:pt x="108363" y="0"/>
                  </a:cubicBezTo>
                  <a:close/>
                </a:path>
              </a:pathLst>
            </a:custGeom>
            <a:blipFill>
              <a:blip r:embed="rId3"/>
              <a:stretch>
                <a:fillRect l="-34" r="-34"/>
              </a:stretch>
            </a:blipFill>
          </p:spPr>
          <p:txBody>
            <a:bodyPr/>
            <a:lstStyle/>
            <a:p>
              <a:endParaRPr lang="en-US"/>
            </a:p>
          </p:txBody>
        </p:sp>
      </p:grpSp>
      <p:grpSp>
        <p:nvGrpSpPr>
          <p:cNvPr id="23" name="Group 23"/>
          <p:cNvGrpSpPr/>
          <p:nvPr/>
        </p:nvGrpSpPr>
        <p:grpSpPr>
          <a:xfrm>
            <a:off x="1028700" y="2181625"/>
            <a:ext cx="4828867" cy="2041012"/>
            <a:chOff x="0" y="0"/>
            <a:chExt cx="942820" cy="398501"/>
          </a:xfrm>
        </p:grpSpPr>
        <p:sp>
          <p:nvSpPr>
            <p:cNvPr id="24" name="Freeform 24"/>
            <p:cNvSpPr/>
            <p:nvPr/>
          </p:nvSpPr>
          <p:spPr>
            <a:xfrm>
              <a:off x="0" y="0"/>
              <a:ext cx="942819" cy="398501"/>
            </a:xfrm>
            <a:custGeom>
              <a:avLst/>
              <a:gdLst/>
              <a:ahLst/>
              <a:cxnLst/>
              <a:rect l="l" t="t" r="r" b="b"/>
              <a:pathLst>
                <a:path w="942819" h="398501">
                  <a:moveTo>
                    <a:pt x="32065" y="0"/>
                  </a:moveTo>
                  <a:lnTo>
                    <a:pt x="910754" y="0"/>
                  </a:lnTo>
                  <a:cubicBezTo>
                    <a:pt x="928463" y="0"/>
                    <a:pt x="942819" y="14356"/>
                    <a:pt x="942819" y="32065"/>
                  </a:cubicBezTo>
                  <a:lnTo>
                    <a:pt x="942819" y="366435"/>
                  </a:lnTo>
                  <a:cubicBezTo>
                    <a:pt x="942819" y="384145"/>
                    <a:pt x="928463" y="398501"/>
                    <a:pt x="910754" y="398501"/>
                  </a:cubicBezTo>
                  <a:lnTo>
                    <a:pt x="32065" y="398501"/>
                  </a:lnTo>
                  <a:cubicBezTo>
                    <a:pt x="14356" y="398501"/>
                    <a:pt x="0" y="384145"/>
                    <a:pt x="0" y="366435"/>
                  </a:cubicBezTo>
                  <a:lnTo>
                    <a:pt x="0" y="32065"/>
                  </a:lnTo>
                  <a:cubicBezTo>
                    <a:pt x="0" y="14356"/>
                    <a:pt x="14356" y="0"/>
                    <a:pt x="32065" y="0"/>
                  </a:cubicBezTo>
                  <a:close/>
                </a:path>
              </a:pathLst>
            </a:custGeom>
            <a:blipFill>
              <a:blip r:embed="rId4"/>
              <a:stretch>
                <a:fillRect l="-168" r="-168"/>
              </a:stretch>
            </a:blipFill>
          </p:spPr>
          <p:txBody>
            <a:bodyPr/>
            <a:lstStyle/>
            <a:p>
              <a:endParaRPr lang="en-US"/>
            </a:p>
          </p:txBody>
        </p:sp>
      </p:grpSp>
      <p:grpSp>
        <p:nvGrpSpPr>
          <p:cNvPr id="25" name="Group 25"/>
          <p:cNvGrpSpPr/>
          <p:nvPr/>
        </p:nvGrpSpPr>
        <p:grpSpPr>
          <a:xfrm>
            <a:off x="6075187" y="2181625"/>
            <a:ext cx="2732652" cy="2041012"/>
            <a:chOff x="0" y="0"/>
            <a:chExt cx="533541" cy="398501"/>
          </a:xfrm>
        </p:grpSpPr>
        <p:sp>
          <p:nvSpPr>
            <p:cNvPr id="26" name="Freeform 26"/>
            <p:cNvSpPr/>
            <p:nvPr/>
          </p:nvSpPr>
          <p:spPr>
            <a:xfrm>
              <a:off x="0" y="0"/>
              <a:ext cx="533541" cy="398501"/>
            </a:xfrm>
            <a:custGeom>
              <a:avLst/>
              <a:gdLst/>
              <a:ahLst/>
              <a:cxnLst/>
              <a:rect l="l" t="t" r="r" b="b"/>
              <a:pathLst>
                <a:path w="533541" h="398501">
                  <a:moveTo>
                    <a:pt x="56662" y="0"/>
                  </a:moveTo>
                  <a:lnTo>
                    <a:pt x="476878" y="0"/>
                  </a:lnTo>
                  <a:cubicBezTo>
                    <a:pt x="508172" y="0"/>
                    <a:pt x="533541" y="25369"/>
                    <a:pt x="533541" y="56662"/>
                  </a:cubicBezTo>
                  <a:lnTo>
                    <a:pt x="533541" y="341838"/>
                  </a:lnTo>
                  <a:cubicBezTo>
                    <a:pt x="533541" y="356866"/>
                    <a:pt x="527571" y="371278"/>
                    <a:pt x="516945" y="381905"/>
                  </a:cubicBezTo>
                  <a:cubicBezTo>
                    <a:pt x="506319" y="392531"/>
                    <a:pt x="491906" y="398501"/>
                    <a:pt x="476878" y="398501"/>
                  </a:cubicBezTo>
                  <a:lnTo>
                    <a:pt x="56662" y="398501"/>
                  </a:lnTo>
                  <a:cubicBezTo>
                    <a:pt x="41635" y="398501"/>
                    <a:pt x="27222" y="392531"/>
                    <a:pt x="16596" y="381905"/>
                  </a:cubicBezTo>
                  <a:cubicBezTo>
                    <a:pt x="5970" y="371278"/>
                    <a:pt x="0" y="356866"/>
                    <a:pt x="0" y="341838"/>
                  </a:cubicBezTo>
                  <a:lnTo>
                    <a:pt x="0" y="56662"/>
                  </a:lnTo>
                  <a:cubicBezTo>
                    <a:pt x="0" y="41635"/>
                    <a:pt x="5970" y="27222"/>
                    <a:pt x="16596" y="16596"/>
                  </a:cubicBezTo>
                  <a:cubicBezTo>
                    <a:pt x="27222" y="5970"/>
                    <a:pt x="41635" y="0"/>
                    <a:pt x="56662" y="0"/>
                  </a:cubicBezTo>
                  <a:close/>
                </a:path>
              </a:pathLst>
            </a:custGeom>
            <a:blipFill>
              <a:blip r:embed="rId5"/>
              <a:stretch>
                <a:fillRect l="-43" r="-43"/>
              </a:stretch>
            </a:blipFill>
          </p:spPr>
          <p:txBody>
            <a:bodyPr/>
            <a:lstStyle/>
            <a:p>
              <a:endParaRPr lang="en-US"/>
            </a:p>
          </p:txBody>
        </p:sp>
      </p:grpSp>
      <p:grpSp>
        <p:nvGrpSpPr>
          <p:cNvPr id="27" name="Group 27"/>
          <p:cNvGrpSpPr/>
          <p:nvPr/>
        </p:nvGrpSpPr>
        <p:grpSpPr>
          <a:xfrm>
            <a:off x="11462441" y="4860445"/>
            <a:ext cx="1428887" cy="1424523"/>
            <a:chOff x="0" y="0"/>
            <a:chExt cx="399722" cy="398501"/>
          </a:xfrm>
        </p:grpSpPr>
        <p:sp>
          <p:nvSpPr>
            <p:cNvPr id="28" name="Freeform 28"/>
            <p:cNvSpPr/>
            <p:nvPr/>
          </p:nvSpPr>
          <p:spPr>
            <a:xfrm>
              <a:off x="0" y="0"/>
              <a:ext cx="399722" cy="398501"/>
            </a:xfrm>
            <a:custGeom>
              <a:avLst/>
              <a:gdLst/>
              <a:ahLst/>
              <a:cxnLst/>
              <a:rect l="l" t="t" r="r" b="b"/>
              <a:pathLst>
                <a:path w="399722" h="398501">
                  <a:moveTo>
                    <a:pt x="108363" y="0"/>
                  </a:moveTo>
                  <a:lnTo>
                    <a:pt x="291359" y="0"/>
                  </a:lnTo>
                  <a:cubicBezTo>
                    <a:pt x="320098" y="0"/>
                    <a:pt x="347661" y="11417"/>
                    <a:pt x="367983" y="31739"/>
                  </a:cubicBezTo>
                  <a:cubicBezTo>
                    <a:pt x="388305" y="52061"/>
                    <a:pt x="399722" y="79623"/>
                    <a:pt x="399722" y="108363"/>
                  </a:cubicBezTo>
                  <a:lnTo>
                    <a:pt x="399722" y="290138"/>
                  </a:lnTo>
                  <a:cubicBezTo>
                    <a:pt x="399722" y="349985"/>
                    <a:pt x="351206" y="398501"/>
                    <a:pt x="291359" y="398501"/>
                  </a:cubicBezTo>
                  <a:lnTo>
                    <a:pt x="108363" y="398501"/>
                  </a:lnTo>
                  <a:cubicBezTo>
                    <a:pt x="48516" y="398501"/>
                    <a:pt x="0" y="349985"/>
                    <a:pt x="0" y="290138"/>
                  </a:cubicBezTo>
                  <a:lnTo>
                    <a:pt x="0" y="108363"/>
                  </a:lnTo>
                  <a:cubicBezTo>
                    <a:pt x="0" y="48516"/>
                    <a:pt x="48516" y="0"/>
                    <a:pt x="108363" y="0"/>
                  </a:cubicBezTo>
                  <a:close/>
                </a:path>
              </a:pathLst>
            </a:custGeom>
            <a:blipFill>
              <a:blip r:embed="rId6"/>
              <a:stretch>
                <a:fillRect l="-34" r="-34"/>
              </a:stretch>
            </a:blipFill>
          </p:spPr>
          <p:txBody>
            <a:bodyPr/>
            <a:lstStyle/>
            <a:p>
              <a:endParaRPr lang="en-US"/>
            </a:p>
          </p:txBody>
        </p:sp>
      </p:grpSp>
      <p:grpSp>
        <p:nvGrpSpPr>
          <p:cNvPr id="29" name="Group 29"/>
          <p:cNvGrpSpPr/>
          <p:nvPr/>
        </p:nvGrpSpPr>
        <p:grpSpPr>
          <a:xfrm>
            <a:off x="10032023" y="7132415"/>
            <a:ext cx="1042967" cy="1042967"/>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4119"/>
            </a:soli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31" name="TextBox 31"/>
            <p:cNvSpPr txBox="1"/>
            <p:nvPr/>
          </p:nvSpPr>
          <p:spPr>
            <a:xfrm>
              <a:off x="76200" y="114300"/>
              <a:ext cx="660400" cy="622300"/>
            </a:xfrm>
            <a:prstGeom prst="rect">
              <a:avLst/>
            </a:prstGeom>
          </p:spPr>
          <p:txBody>
            <a:bodyPr lIns="50800" tIns="50800" rIns="50800" bIns="50800" rtlCol="0" anchor="ctr"/>
            <a:lstStyle/>
            <a:p>
              <a:pPr marL="0" lvl="0" indent="0" algn="ctr">
                <a:lnSpc>
                  <a:spcPts val="1619"/>
                </a:lnSpc>
                <a:spcBef>
                  <a:spcPct val="0"/>
                </a:spcBef>
              </a:pPr>
              <a:endParaRPr/>
            </a:p>
          </p:txBody>
        </p:sp>
      </p:grpSp>
      <p:grpSp>
        <p:nvGrpSpPr>
          <p:cNvPr id="32" name="Group 32"/>
          <p:cNvGrpSpPr/>
          <p:nvPr/>
        </p:nvGrpSpPr>
        <p:grpSpPr>
          <a:xfrm>
            <a:off x="11452830" y="6941637"/>
            <a:ext cx="1428887" cy="1424523"/>
            <a:chOff x="0" y="0"/>
            <a:chExt cx="399722" cy="398501"/>
          </a:xfrm>
        </p:grpSpPr>
        <p:sp>
          <p:nvSpPr>
            <p:cNvPr id="33" name="Freeform 33"/>
            <p:cNvSpPr/>
            <p:nvPr/>
          </p:nvSpPr>
          <p:spPr>
            <a:xfrm>
              <a:off x="0" y="0"/>
              <a:ext cx="399722" cy="398501"/>
            </a:xfrm>
            <a:custGeom>
              <a:avLst/>
              <a:gdLst/>
              <a:ahLst/>
              <a:cxnLst/>
              <a:rect l="l" t="t" r="r" b="b"/>
              <a:pathLst>
                <a:path w="399722" h="398501">
                  <a:moveTo>
                    <a:pt x="108363" y="0"/>
                  </a:moveTo>
                  <a:lnTo>
                    <a:pt x="291359" y="0"/>
                  </a:lnTo>
                  <a:cubicBezTo>
                    <a:pt x="320098" y="0"/>
                    <a:pt x="347661" y="11417"/>
                    <a:pt x="367983" y="31739"/>
                  </a:cubicBezTo>
                  <a:cubicBezTo>
                    <a:pt x="388305" y="52061"/>
                    <a:pt x="399722" y="79623"/>
                    <a:pt x="399722" y="108363"/>
                  </a:cubicBezTo>
                  <a:lnTo>
                    <a:pt x="399722" y="290138"/>
                  </a:lnTo>
                  <a:cubicBezTo>
                    <a:pt x="399722" y="349985"/>
                    <a:pt x="351206" y="398501"/>
                    <a:pt x="291359" y="398501"/>
                  </a:cubicBezTo>
                  <a:lnTo>
                    <a:pt x="108363" y="398501"/>
                  </a:lnTo>
                  <a:cubicBezTo>
                    <a:pt x="48516" y="398501"/>
                    <a:pt x="0" y="349985"/>
                    <a:pt x="0" y="290138"/>
                  </a:cubicBezTo>
                  <a:lnTo>
                    <a:pt x="0" y="108363"/>
                  </a:lnTo>
                  <a:cubicBezTo>
                    <a:pt x="0" y="48516"/>
                    <a:pt x="48516" y="0"/>
                    <a:pt x="108363" y="0"/>
                  </a:cubicBezTo>
                  <a:close/>
                </a:path>
              </a:pathLst>
            </a:custGeom>
            <a:blipFill>
              <a:blip r:embed="rId7"/>
              <a:stretch>
                <a:fillRect l="-34" r="-34"/>
              </a:stretch>
            </a:blipFill>
          </p:spPr>
          <p:txBody>
            <a:bodyPr/>
            <a:lstStyle/>
            <a:p>
              <a:endParaRPr lang="en-US"/>
            </a:p>
          </p:txBody>
        </p:sp>
      </p:grpSp>
      <p:sp>
        <p:nvSpPr>
          <p:cNvPr id="34" name="TextBox 34"/>
          <p:cNvSpPr txBox="1"/>
          <p:nvPr/>
        </p:nvSpPr>
        <p:spPr>
          <a:xfrm>
            <a:off x="1157857"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Background of the study</a:t>
            </a:r>
          </a:p>
        </p:txBody>
      </p:sp>
      <p:sp>
        <p:nvSpPr>
          <p:cNvPr id="35" name="TextBox 35"/>
          <p:cNvSpPr txBox="1"/>
          <p:nvPr/>
        </p:nvSpPr>
        <p:spPr>
          <a:xfrm>
            <a:off x="3358755"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Problem Statement</a:t>
            </a:r>
          </a:p>
        </p:txBody>
      </p:sp>
      <p:sp>
        <p:nvSpPr>
          <p:cNvPr id="36" name="TextBox 36"/>
          <p:cNvSpPr txBox="1"/>
          <p:nvPr/>
        </p:nvSpPr>
        <p:spPr>
          <a:xfrm>
            <a:off x="5108285"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Framework</a:t>
            </a:r>
          </a:p>
        </p:txBody>
      </p:sp>
      <p:sp>
        <p:nvSpPr>
          <p:cNvPr id="37" name="TextBox 37"/>
          <p:cNvSpPr txBox="1"/>
          <p:nvPr/>
        </p:nvSpPr>
        <p:spPr>
          <a:xfrm>
            <a:off x="6552810"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Methodology</a:t>
            </a:r>
          </a:p>
        </p:txBody>
      </p:sp>
      <p:sp>
        <p:nvSpPr>
          <p:cNvPr id="38" name="TextBox 38"/>
          <p:cNvSpPr txBox="1"/>
          <p:nvPr/>
        </p:nvSpPr>
        <p:spPr>
          <a:xfrm>
            <a:off x="14585765" y="904812"/>
            <a:ext cx="2498812" cy="502049"/>
          </a:xfrm>
          <a:prstGeom prst="rect">
            <a:avLst/>
          </a:prstGeom>
        </p:spPr>
        <p:txBody>
          <a:bodyPr lIns="0" tIns="0" rIns="0" bIns="0" rtlCol="0" anchor="t">
            <a:spAutoFit/>
          </a:bodyPr>
          <a:lstStyle/>
          <a:p>
            <a:pPr marL="0" lvl="0" indent="0" algn="r">
              <a:lnSpc>
                <a:spcPts val="2098"/>
              </a:lnSpc>
            </a:pPr>
            <a:r>
              <a:rPr lang="en-US" sz="1542" b="1" spc="-38">
                <a:solidFill>
                  <a:srgbClr val="FFFFFF"/>
                </a:solidFill>
                <a:latin typeface="Canva Sans Bold"/>
                <a:ea typeface="Canva Sans Bold"/>
                <a:cs typeface="Canva Sans Bold"/>
                <a:sym typeface="Canva Sans Bold"/>
              </a:rPr>
              <a:t>Hanoi University of Science and Technology</a:t>
            </a:r>
          </a:p>
        </p:txBody>
      </p:sp>
      <p:sp>
        <p:nvSpPr>
          <p:cNvPr id="39" name="TextBox 39"/>
          <p:cNvSpPr txBox="1"/>
          <p:nvPr/>
        </p:nvSpPr>
        <p:spPr>
          <a:xfrm>
            <a:off x="1157857" y="4894863"/>
            <a:ext cx="8131215" cy="1678166"/>
          </a:xfrm>
          <a:prstGeom prst="rect">
            <a:avLst/>
          </a:prstGeom>
        </p:spPr>
        <p:txBody>
          <a:bodyPr lIns="0" tIns="0" rIns="0" bIns="0" rtlCol="0" anchor="t">
            <a:spAutoFit/>
          </a:bodyPr>
          <a:lstStyle/>
          <a:p>
            <a:pPr marL="0" lvl="0" indent="0" algn="l">
              <a:lnSpc>
                <a:spcPts val="6362"/>
              </a:lnSpc>
              <a:spcBef>
                <a:spcPct val="0"/>
              </a:spcBef>
            </a:pPr>
            <a:r>
              <a:rPr lang="en-US" sz="7069" b="1" spc="-282">
                <a:solidFill>
                  <a:srgbClr val="FFFFFF"/>
                </a:solidFill>
                <a:latin typeface="Pragmatica Bold"/>
                <a:ea typeface="Pragmatica Bold"/>
                <a:cs typeface="Pragmatica Bold"/>
                <a:sym typeface="Pragmatica Bold"/>
              </a:rPr>
              <a:t>Heterostructure</a:t>
            </a:r>
          </a:p>
          <a:p>
            <a:pPr marL="0" lvl="0" indent="0" algn="l">
              <a:lnSpc>
                <a:spcPts val="6362"/>
              </a:lnSpc>
              <a:spcBef>
                <a:spcPct val="0"/>
              </a:spcBef>
            </a:pPr>
            <a:r>
              <a:rPr lang="en-US" sz="7069" b="1" spc="-282">
                <a:solidFill>
                  <a:srgbClr val="FFFFFF"/>
                </a:solidFill>
                <a:latin typeface="Pragmatica Bold"/>
                <a:ea typeface="Pragmatica Bold"/>
                <a:cs typeface="Pragmatica Bold"/>
                <a:sym typeface="Pragmatica Bold"/>
              </a:rPr>
              <a:t>Composite Solution</a:t>
            </a:r>
          </a:p>
        </p:txBody>
      </p:sp>
      <p:sp>
        <p:nvSpPr>
          <p:cNvPr id="40" name="TextBox 40"/>
          <p:cNvSpPr txBox="1"/>
          <p:nvPr/>
        </p:nvSpPr>
        <p:spPr>
          <a:xfrm>
            <a:off x="1157857" y="7440427"/>
            <a:ext cx="5394953" cy="905583"/>
          </a:xfrm>
          <a:prstGeom prst="rect">
            <a:avLst/>
          </a:prstGeom>
        </p:spPr>
        <p:txBody>
          <a:bodyPr lIns="0" tIns="0" rIns="0" bIns="0" rtlCol="0" anchor="t">
            <a:spAutoFit/>
          </a:bodyPr>
          <a:lstStyle/>
          <a:p>
            <a:pPr marL="0" lvl="0" indent="0" algn="l">
              <a:lnSpc>
                <a:spcPts val="1865"/>
              </a:lnSpc>
            </a:pPr>
            <a:r>
              <a:rPr lang="en-US" sz="1371" spc="-34">
                <a:solidFill>
                  <a:srgbClr val="FFFFFF"/>
                </a:solidFill>
                <a:latin typeface="Canva Sans"/>
                <a:ea typeface="Canva Sans"/>
                <a:cs typeface="Canva Sans"/>
                <a:sym typeface="Canva Sans"/>
              </a:rPr>
              <a:t>MSxOySez/SiOx yolk-shell and honeycomb porous architecture delivers high capacity with structural stability. The synergistic core-shell design buffers volume expansion while accelerating Li-ion transport via Built-in Electric Field (BIEF).</a:t>
            </a:r>
          </a:p>
        </p:txBody>
      </p:sp>
      <p:sp>
        <p:nvSpPr>
          <p:cNvPr id="41" name="TextBox 41"/>
          <p:cNvSpPr txBox="1"/>
          <p:nvPr/>
        </p:nvSpPr>
        <p:spPr>
          <a:xfrm>
            <a:off x="10051244" y="3336118"/>
            <a:ext cx="1042967" cy="346876"/>
          </a:xfrm>
          <a:prstGeom prst="rect">
            <a:avLst/>
          </a:prstGeom>
        </p:spPr>
        <p:txBody>
          <a:bodyPr lIns="0" tIns="0" rIns="0" bIns="0" rtlCol="0" anchor="t">
            <a:spAutoFit/>
          </a:bodyPr>
          <a:lstStyle/>
          <a:p>
            <a:pPr marL="0" lvl="0" indent="0" algn="ctr">
              <a:lnSpc>
                <a:spcPts val="2501"/>
              </a:lnSpc>
            </a:pPr>
            <a:r>
              <a:rPr lang="en-US" sz="2842" b="1" spc="-142">
                <a:solidFill>
                  <a:srgbClr val="FFFFFF"/>
                </a:solidFill>
                <a:latin typeface="Pragmatica Bold"/>
                <a:ea typeface="Pragmatica Bold"/>
                <a:cs typeface="Pragmatica Bold"/>
                <a:sym typeface="Pragmatica Bold"/>
              </a:rPr>
              <a:t>01</a:t>
            </a:r>
          </a:p>
        </p:txBody>
      </p:sp>
      <p:sp>
        <p:nvSpPr>
          <p:cNvPr id="42" name="TextBox 42"/>
          <p:cNvSpPr txBox="1"/>
          <p:nvPr/>
        </p:nvSpPr>
        <p:spPr>
          <a:xfrm>
            <a:off x="10041633" y="5417310"/>
            <a:ext cx="1042967" cy="346876"/>
          </a:xfrm>
          <a:prstGeom prst="rect">
            <a:avLst/>
          </a:prstGeom>
        </p:spPr>
        <p:txBody>
          <a:bodyPr lIns="0" tIns="0" rIns="0" bIns="0" rtlCol="0" anchor="t">
            <a:spAutoFit/>
          </a:bodyPr>
          <a:lstStyle/>
          <a:p>
            <a:pPr marL="0" lvl="0" indent="0" algn="ctr">
              <a:lnSpc>
                <a:spcPts val="2501"/>
              </a:lnSpc>
            </a:pPr>
            <a:r>
              <a:rPr lang="en-US" sz="2842" b="1" spc="-142">
                <a:solidFill>
                  <a:srgbClr val="FFFFFF"/>
                </a:solidFill>
                <a:latin typeface="Pragmatica Bold"/>
                <a:ea typeface="Pragmatica Bold"/>
                <a:cs typeface="Pragmatica Bold"/>
                <a:sym typeface="Pragmatica Bold"/>
              </a:rPr>
              <a:t>02</a:t>
            </a:r>
          </a:p>
        </p:txBody>
      </p:sp>
      <p:sp>
        <p:nvSpPr>
          <p:cNvPr id="43" name="TextBox 43"/>
          <p:cNvSpPr txBox="1"/>
          <p:nvPr/>
        </p:nvSpPr>
        <p:spPr>
          <a:xfrm>
            <a:off x="13281939" y="3620508"/>
            <a:ext cx="3802638" cy="219783"/>
          </a:xfrm>
          <a:prstGeom prst="rect">
            <a:avLst/>
          </a:prstGeom>
        </p:spPr>
        <p:txBody>
          <a:bodyPr lIns="0" tIns="0" rIns="0" bIns="0" rtlCol="0" anchor="t">
            <a:spAutoFit/>
          </a:bodyPr>
          <a:lstStyle/>
          <a:p>
            <a:pPr marL="0" lvl="0" indent="0" algn="l">
              <a:lnSpc>
                <a:spcPts val="1865"/>
              </a:lnSpc>
            </a:pPr>
            <a:r>
              <a:rPr lang="en-US" sz="1371" spc="-34">
                <a:solidFill>
                  <a:srgbClr val="FFFFFF"/>
                </a:solidFill>
                <a:latin typeface="Canva Sans"/>
                <a:ea typeface="Canva Sans"/>
                <a:cs typeface="Canva Sans"/>
                <a:sym typeface="Canva Sans"/>
              </a:rPr>
              <a:t>High-capacity active material &gt;1500 mAh/g</a:t>
            </a:r>
          </a:p>
        </p:txBody>
      </p:sp>
      <p:sp>
        <p:nvSpPr>
          <p:cNvPr id="44" name="TextBox 44"/>
          <p:cNvSpPr txBox="1"/>
          <p:nvPr/>
        </p:nvSpPr>
        <p:spPr>
          <a:xfrm>
            <a:off x="13272328" y="5701700"/>
            <a:ext cx="3802638" cy="219783"/>
          </a:xfrm>
          <a:prstGeom prst="rect">
            <a:avLst/>
          </a:prstGeom>
        </p:spPr>
        <p:txBody>
          <a:bodyPr lIns="0" tIns="0" rIns="0" bIns="0" rtlCol="0" anchor="t">
            <a:spAutoFit/>
          </a:bodyPr>
          <a:lstStyle/>
          <a:p>
            <a:pPr marL="0" lvl="0" indent="0" algn="l">
              <a:lnSpc>
                <a:spcPts val="1865"/>
              </a:lnSpc>
            </a:pPr>
            <a:r>
              <a:rPr lang="en-US" sz="1371" spc="-34">
                <a:solidFill>
                  <a:srgbClr val="FFFFFF"/>
                </a:solidFill>
                <a:latin typeface="Canva Sans"/>
                <a:ea typeface="Canva Sans"/>
                <a:cs typeface="Canva Sans"/>
                <a:sym typeface="Canva Sans"/>
              </a:rPr>
              <a:t>Mechanical protection, conductivity &amp; BIEF</a:t>
            </a:r>
          </a:p>
        </p:txBody>
      </p:sp>
      <p:sp>
        <p:nvSpPr>
          <p:cNvPr id="45" name="TextBox 45"/>
          <p:cNvSpPr txBox="1"/>
          <p:nvPr/>
        </p:nvSpPr>
        <p:spPr>
          <a:xfrm>
            <a:off x="13281939" y="3175957"/>
            <a:ext cx="3793028" cy="275389"/>
          </a:xfrm>
          <a:prstGeom prst="rect">
            <a:avLst/>
          </a:prstGeom>
        </p:spPr>
        <p:txBody>
          <a:bodyPr lIns="0" tIns="0" rIns="0" bIns="0" rtlCol="0" anchor="t">
            <a:spAutoFit/>
          </a:bodyPr>
          <a:lstStyle/>
          <a:p>
            <a:pPr marL="0" lvl="0" indent="0" algn="l">
              <a:lnSpc>
                <a:spcPts val="2044"/>
              </a:lnSpc>
            </a:pPr>
            <a:r>
              <a:rPr lang="en-US" sz="2323" b="1" spc="-116">
                <a:solidFill>
                  <a:srgbClr val="FFFFFF"/>
                </a:solidFill>
                <a:latin typeface="Pragmatica Bold"/>
                <a:ea typeface="Pragmatica Bold"/>
                <a:cs typeface="Pragmatica Bold"/>
                <a:sym typeface="Pragmatica Bold"/>
              </a:rPr>
              <a:t>SiOx Core (80–120 nm)</a:t>
            </a:r>
          </a:p>
        </p:txBody>
      </p:sp>
      <p:sp>
        <p:nvSpPr>
          <p:cNvPr id="46" name="TextBox 46"/>
          <p:cNvSpPr txBox="1"/>
          <p:nvPr/>
        </p:nvSpPr>
        <p:spPr>
          <a:xfrm>
            <a:off x="13272328" y="5257149"/>
            <a:ext cx="3793028" cy="275389"/>
          </a:xfrm>
          <a:prstGeom prst="rect">
            <a:avLst/>
          </a:prstGeom>
        </p:spPr>
        <p:txBody>
          <a:bodyPr lIns="0" tIns="0" rIns="0" bIns="0" rtlCol="0" anchor="t">
            <a:spAutoFit/>
          </a:bodyPr>
          <a:lstStyle/>
          <a:p>
            <a:pPr marL="0" lvl="0" indent="0" algn="l">
              <a:lnSpc>
                <a:spcPts val="2044"/>
              </a:lnSpc>
            </a:pPr>
            <a:r>
              <a:rPr lang="en-US" sz="2323" b="1" spc="-116">
                <a:solidFill>
                  <a:srgbClr val="FFFFFF"/>
                </a:solidFill>
                <a:latin typeface="Pragmatica Bold"/>
                <a:ea typeface="Pragmatica Bold"/>
                <a:cs typeface="Pragmatica Bold"/>
                <a:sym typeface="Pragmatica Bold"/>
              </a:rPr>
              <a:t>MSxOySez Shell (15–20 nm)</a:t>
            </a:r>
          </a:p>
        </p:txBody>
      </p:sp>
      <p:sp>
        <p:nvSpPr>
          <p:cNvPr id="47" name="TextBox 47"/>
          <p:cNvSpPr txBox="1"/>
          <p:nvPr/>
        </p:nvSpPr>
        <p:spPr>
          <a:xfrm>
            <a:off x="10032023" y="7498502"/>
            <a:ext cx="1042967" cy="346876"/>
          </a:xfrm>
          <a:prstGeom prst="rect">
            <a:avLst/>
          </a:prstGeom>
        </p:spPr>
        <p:txBody>
          <a:bodyPr lIns="0" tIns="0" rIns="0" bIns="0" rtlCol="0" anchor="t">
            <a:spAutoFit/>
          </a:bodyPr>
          <a:lstStyle/>
          <a:p>
            <a:pPr marL="0" lvl="0" indent="0" algn="ctr">
              <a:lnSpc>
                <a:spcPts val="2501"/>
              </a:lnSpc>
            </a:pPr>
            <a:r>
              <a:rPr lang="en-US" sz="2842" b="1" spc="-142">
                <a:solidFill>
                  <a:srgbClr val="FFFFFF"/>
                </a:solidFill>
                <a:latin typeface="Pragmatica Bold"/>
                <a:ea typeface="Pragmatica Bold"/>
                <a:cs typeface="Pragmatica Bold"/>
                <a:sym typeface="Pragmatica Bold"/>
              </a:rPr>
              <a:t>03</a:t>
            </a:r>
          </a:p>
        </p:txBody>
      </p:sp>
      <p:sp>
        <p:nvSpPr>
          <p:cNvPr id="48" name="TextBox 48"/>
          <p:cNvSpPr txBox="1"/>
          <p:nvPr/>
        </p:nvSpPr>
        <p:spPr>
          <a:xfrm>
            <a:off x="13262717" y="7782892"/>
            <a:ext cx="3802638" cy="448383"/>
          </a:xfrm>
          <a:prstGeom prst="rect">
            <a:avLst/>
          </a:prstGeom>
        </p:spPr>
        <p:txBody>
          <a:bodyPr lIns="0" tIns="0" rIns="0" bIns="0" rtlCol="0" anchor="t">
            <a:spAutoFit/>
          </a:bodyPr>
          <a:lstStyle/>
          <a:p>
            <a:pPr marL="0" lvl="0" indent="0" algn="l">
              <a:lnSpc>
                <a:spcPts val="1865"/>
              </a:lnSpc>
            </a:pPr>
            <a:r>
              <a:rPr lang="en-US" sz="1371" spc="-34">
                <a:solidFill>
                  <a:srgbClr val="FFFFFF"/>
                </a:solidFill>
                <a:latin typeface="Canva Sans"/>
                <a:ea typeface="Canva Sans"/>
                <a:cs typeface="Canva Sans"/>
                <a:sym typeface="Canva Sans"/>
              </a:rPr>
              <a:t>Absorbs &gt;300% volume expansion during cycling</a:t>
            </a:r>
          </a:p>
        </p:txBody>
      </p:sp>
      <p:sp>
        <p:nvSpPr>
          <p:cNvPr id="49" name="TextBox 49"/>
          <p:cNvSpPr txBox="1"/>
          <p:nvPr/>
        </p:nvSpPr>
        <p:spPr>
          <a:xfrm>
            <a:off x="13262717" y="7338341"/>
            <a:ext cx="3793028" cy="275389"/>
          </a:xfrm>
          <a:prstGeom prst="rect">
            <a:avLst/>
          </a:prstGeom>
        </p:spPr>
        <p:txBody>
          <a:bodyPr lIns="0" tIns="0" rIns="0" bIns="0" rtlCol="0" anchor="t">
            <a:spAutoFit/>
          </a:bodyPr>
          <a:lstStyle/>
          <a:p>
            <a:pPr marL="0" lvl="0" indent="0" algn="l">
              <a:lnSpc>
                <a:spcPts val="2044"/>
              </a:lnSpc>
            </a:pPr>
            <a:r>
              <a:rPr lang="en-US" sz="2323" b="1" spc="-116">
                <a:solidFill>
                  <a:srgbClr val="FFFFFF"/>
                </a:solidFill>
                <a:latin typeface="Pragmatica Bold"/>
                <a:ea typeface="Pragmatica Bold"/>
                <a:cs typeface="Pragmatica Bold"/>
                <a:sym typeface="Pragmatica Bold"/>
              </a:rPr>
              <a:t>30–40% Void Space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Freeform 3"/>
          <p:cNvSpPr/>
          <p:nvPr/>
        </p:nvSpPr>
        <p:spPr>
          <a:xfrm>
            <a:off x="14952446" y="-1255365"/>
            <a:ext cx="9288783" cy="11632283"/>
          </a:xfrm>
          <a:custGeom>
            <a:avLst/>
            <a:gdLst/>
            <a:ahLst/>
            <a:cxnLst/>
            <a:rect l="l" t="t" r="r" b="b"/>
            <a:pathLst>
              <a:path w="9288783" h="11632283">
                <a:moveTo>
                  <a:pt x="0" y="0"/>
                </a:moveTo>
                <a:lnTo>
                  <a:pt x="9288783" y="0"/>
                </a:lnTo>
                <a:lnTo>
                  <a:pt x="9288783" y="11632283"/>
                </a:lnTo>
                <a:lnTo>
                  <a:pt x="0" y="11632283"/>
                </a:lnTo>
                <a:lnTo>
                  <a:pt x="0" y="0"/>
                </a:lnTo>
                <a:close/>
              </a:path>
            </a:pathLst>
          </a:custGeom>
          <a:blipFill>
            <a:blip r:embed="rId2">
              <a:alphaModFix amt="50000"/>
            </a:blip>
            <a:stretch>
              <a:fillRect/>
            </a:stretch>
          </a:blipFill>
        </p:spPr>
        <p:txBody>
          <a:bodyPr/>
          <a:lstStyle/>
          <a:p>
            <a:endParaRPr lang="en-US"/>
          </a:p>
        </p:txBody>
      </p:sp>
      <p:sp>
        <p:nvSpPr>
          <p:cNvPr id="4" name="AutoShape 4"/>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p:cNvSpPr/>
          <p:nvPr/>
        </p:nvSpPr>
        <p:spPr>
          <a:xfrm>
            <a:off x="6075187"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AutoShape 7"/>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8" name="AutoShape 8"/>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grpSp>
        <p:nvGrpSpPr>
          <p:cNvPr id="9" name="Group 9"/>
          <p:cNvGrpSpPr/>
          <p:nvPr/>
        </p:nvGrpSpPr>
        <p:grpSpPr>
          <a:xfrm>
            <a:off x="1028700" y="654448"/>
            <a:ext cx="16230600" cy="748504"/>
            <a:chOff x="0" y="0"/>
            <a:chExt cx="4274726" cy="197137"/>
          </a:xfrm>
        </p:grpSpPr>
        <p:sp>
          <p:nvSpPr>
            <p:cNvPr id="10" name="Freeform 10"/>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1" name="TextBox 11"/>
            <p:cNvSpPr txBox="1"/>
            <p:nvPr/>
          </p:nvSpPr>
          <p:spPr>
            <a:xfrm>
              <a:off x="0" y="38100"/>
              <a:ext cx="4274726" cy="159037"/>
            </a:xfrm>
            <a:prstGeom prst="rect">
              <a:avLst/>
            </a:prstGeom>
          </p:spPr>
          <p:txBody>
            <a:bodyPr lIns="50800" tIns="50800" rIns="50800" bIns="50800" rtlCol="0" anchor="ctr"/>
            <a:lstStyle/>
            <a:p>
              <a:pPr marL="0" lvl="0" indent="0" algn="ctr">
                <a:lnSpc>
                  <a:spcPts val="1619"/>
                </a:lnSpc>
              </a:pPr>
              <a:endParaRPr/>
            </a:p>
          </p:txBody>
        </p:sp>
      </p:grpSp>
      <p:grpSp>
        <p:nvGrpSpPr>
          <p:cNvPr id="12" name="Group 12"/>
          <p:cNvGrpSpPr/>
          <p:nvPr/>
        </p:nvGrpSpPr>
        <p:grpSpPr>
          <a:xfrm>
            <a:off x="6986109" y="823594"/>
            <a:ext cx="1632214" cy="410211"/>
            <a:chOff x="0" y="0"/>
            <a:chExt cx="429883" cy="108039"/>
          </a:xfrm>
        </p:grpSpPr>
        <p:sp>
          <p:nvSpPr>
            <p:cNvPr id="13" name="Freeform 13"/>
            <p:cNvSpPr/>
            <p:nvPr/>
          </p:nvSpPr>
          <p:spPr>
            <a:xfrm>
              <a:off x="0" y="0"/>
              <a:ext cx="429883" cy="108039"/>
            </a:xfrm>
            <a:custGeom>
              <a:avLst/>
              <a:gdLst/>
              <a:ahLst/>
              <a:cxnLst/>
              <a:rect l="l" t="t" r="r" b="b"/>
              <a:pathLst>
                <a:path w="429883" h="108039">
                  <a:moveTo>
                    <a:pt x="54020" y="0"/>
                  </a:moveTo>
                  <a:lnTo>
                    <a:pt x="375864" y="0"/>
                  </a:lnTo>
                  <a:cubicBezTo>
                    <a:pt x="390191" y="0"/>
                    <a:pt x="403931" y="5691"/>
                    <a:pt x="414061" y="15822"/>
                  </a:cubicBezTo>
                  <a:cubicBezTo>
                    <a:pt x="424192" y="25953"/>
                    <a:pt x="429883" y="39693"/>
                    <a:pt x="429883" y="54020"/>
                  </a:cubicBezTo>
                  <a:lnTo>
                    <a:pt x="429883" y="54020"/>
                  </a:lnTo>
                  <a:cubicBezTo>
                    <a:pt x="429883" y="83854"/>
                    <a:pt x="405698" y="108039"/>
                    <a:pt x="375864" y="108039"/>
                  </a:cubicBezTo>
                  <a:lnTo>
                    <a:pt x="54020" y="108039"/>
                  </a:lnTo>
                  <a:cubicBezTo>
                    <a:pt x="39693" y="108039"/>
                    <a:pt x="25953" y="102348"/>
                    <a:pt x="15822" y="92217"/>
                  </a:cubicBezTo>
                  <a:cubicBezTo>
                    <a:pt x="5691" y="82087"/>
                    <a:pt x="0" y="68346"/>
                    <a:pt x="0" y="54020"/>
                  </a:cubicBezTo>
                  <a:lnTo>
                    <a:pt x="0" y="54020"/>
                  </a:lnTo>
                  <a:cubicBezTo>
                    <a:pt x="0" y="39693"/>
                    <a:pt x="5691" y="25953"/>
                    <a:pt x="15822" y="15822"/>
                  </a:cubicBezTo>
                  <a:cubicBezTo>
                    <a:pt x="25953" y="5691"/>
                    <a:pt x="39693" y="0"/>
                    <a:pt x="54020" y="0"/>
                  </a:cubicBezTo>
                  <a:close/>
                </a:path>
              </a:pathLst>
            </a:custGeom>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ln cap="rnd">
              <a:noFill/>
              <a:prstDash val="solid"/>
              <a:round/>
            </a:ln>
          </p:spPr>
          <p:txBody>
            <a:bodyPr/>
            <a:lstStyle/>
            <a:p>
              <a:endParaRPr lang="en-US"/>
            </a:p>
          </p:txBody>
        </p:sp>
        <p:sp>
          <p:nvSpPr>
            <p:cNvPr id="14" name="TextBox 14"/>
            <p:cNvSpPr txBox="1"/>
            <p:nvPr/>
          </p:nvSpPr>
          <p:spPr>
            <a:xfrm>
              <a:off x="0" y="38100"/>
              <a:ext cx="429883" cy="69939"/>
            </a:xfrm>
            <a:prstGeom prst="rect">
              <a:avLst/>
            </a:prstGeom>
          </p:spPr>
          <p:txBody>
            <a:bodyPr lIns="50800" tIns="50800" rIns="50800" bIns="50800" rtlCol="0" anchor="ctr"/>
            <a:lstStyle/>
            <a:p>
              <a:pPr marL="0" lvl="0" indent="0" algn="ctr">
                <a:lnSpc>
                  <a:spcPts val="1619"/>
                </a:lnSpc>
              </a:pPr>
              <a:endParaRPr/>
            </a:p>
          </p:txBody>
        </p:sp>
      </p:grpSp>
      <p:grpSp>
        <p:nvGrpSpPr>
          <p:cNvPr id="15" name="Group 15"/>
          <p:cNvGrpSpPr/>
          <p:nvPr/>
        </p:nvGrpSpPr>
        <p:grpSpPr>
          <a:xfrm>
            <a:off x="1829372" y="5313605"/>
            <a:ext cx="6578198" cy="3130425"/>
            <a:chOff x="0" y="0"/>
            <a:chExt cx="1732529" cy="824474"/>
          </a:xfrm>
        </p:grpSpPr>
        <p:sp>
          <p:nvSpPr>
            <p:cNvPr id="16" name="Freeform 16"/>
            <p:cNvSpPr/>
            <p:nvPr/>
          </p:nvSpPr>
          <p:spPr>
            <a:xfrm>
              <a:off x="0" y="0"/>
              <a:ext cx="1732529" cy="824474"/>
            </a:xfrm>
            <a:custGeom>
              <a:avLst/>
              <a:gdLst/>
              <a:ahLst/>
              <a:cxnLst/>
              <a:rect l="l" t="t" r="r" b="b"/>
              <a:pathLst>
                <a:path w="1732529" h="824474">
                  <a:moveTo>
                    <a:pt x="58845" y="0"/>
                  </a:moveTo>
                  <a:lnTo>
                    <a:pt x="1673684" y="0"/>
                  </a:lnTo>
                  <a:cubicBezTo>
                    <a:pt x="1689291" y="0"/>
                    <a:pt x="1704258" y="6200"/>
                    <a:pt x="1715294" y="17235"/>
                  </a:cubicBezTo>
                  <a:cubicBezTo>
                    <a:pt x="1726330" y="28271"/>
                    <a:pt x="1732529" y="43239"/>
                    <a:pt x="1732529" y="58845"/>
                  </a:cubicBezTo>
                  <a:lnTo>
                    <a:pt x="1732529" y="765629"/>
                  </a:lnTo>
                  <a:cubicBezTo>
                    <a:pt x="1732529" y="781236"/>
                    <a:pt x="1726330" y="796203"/>
                    <a:pt x="1715294" y="807239"/>
                  </a:cubicBezTo>
                  <a:cubicBezTo>
                    <a:pt x="1704258" y="818274"/>
                    <a:pt x="1689291" y="824474"/>
                    <a:pt x="1673684" y="824474"/>
                  </a:cubicBezTo>
                  <a:lnTo>
                    <a:pt x="58845" y="824474"/>
                  </a:lnTo>
                  <a:cubicBezTo>
                    <a:pt x="43239" y="824474"/>
                    <a:pt x="28271" y="818274"/>
                    <a:pt x="17235" y="807239"/>
                  </a:cubicBezTo>
                  <a:cubicBezTo>
                    <a:pt x="6200" y="796203"/>
                    <a:pt x="0" y="781236"/>
                    <a:pt x="0" y="765629"/>
                  </a:cubicBezTo>
                  <a:lnTo>
                    <a:pt x="0" y="58845"/>
                  </a:lnTo>
                  <a:cubicBezTo>
                    <a:pt x="0" y="43239"/>
                    <a:pt x="6200" y="28271"/>
                    <a:pt x="17235" y="17235"/>
                  </a:cubicBezTo>
                  <a:cubicBezTo>
                    <a:pt x="28271" y="6200"/>
                    <a:pt x="43239" y="0"/>
                    <a:pt x="58845"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7" name="TextBox 17"/>
            <p:cNvSpPr txBox="1"/>
            <p:nvPr/>
          </p:nvSpPr>
          <p:spPr>
            <a:xfrm>
              <a:off x="0" y="38100"/>
              <a:ext cx="1732529" cy="786374"/>
            </a:xfrm>
            <a:prstGeom prst="rect">
              <a:avLst/>
            </a:prstGeom>
          </p:spPr>
          <p:txBody>
            <a:bodyPr lIns="50800" tIns="50800" rIns="50800" bIns="50800" rtlCol="0" anchor="ctr"/>
            <a:lstStyle/>
            <a:p>
              <a:pPr marL="0" lvl="0" indent="0" algn="ctr">
                <a:lnSpc>
                  <a:spcPts val="1619"/>
                </a:lnSpc>
              </a:pPr>
              <a:endParaRPr/>
            </a:p>
          </p:txBody>
        </p:sp>
      </p:grpSp>
      <p:grpSp>
        <p:nvGrpSpPr>
          <p:cNvPr id="18" name="Group 18"/>
          <p:cNvGrpSpPr/>
          <p:nvPr/>
        </p:nvGrpSpPr>
        <p:grpSpPr>
          <a:xfrm>
            <a:off x="9219467" y="5306860"/>
            <a:ext cx="6578198" cy="3130425"/>
            <a:chOff x="0" y="0"/>
            <a:chExt cx="1732529" cy="824474"/>
          </a:xfrm>
        </p:grpSpPr>
        <p:sp>
          <p:nvSpPr>
            <p:cNvPr id="19" name="Freeform 19"/>
            <p:cNvSpPr/>
            <p:nvPr/>
          </p:nvSpPr>
          <p:spPr>
            <a:xfrm>
              <a:off x="0" y="0"/>
              <a:ext cx="1732529" cy="824474"/>
            </a:xfrm>
            <a:custGeom>
              <a:avLst/>
              <a:gdLst/>
              <a:ahLst/>
              <a:cxnLst/>
              <a:rect l="l" t="t" r="r" b="b"/>
              <a:pathLst>
                <a:path w="1732529" h="824474">
                  <a:moveTo>
                    <a:pt x="58845" y="0"/>
                  </a:moveTo>
                  <a:lnTo>
                    <a:pt x="1673684" y="0"/>
                  </a:lnTo>
                  <a:cubicBezTo>
                    <a:pt x="1689291" y="0"/>
                    <a:pt x="1704258" y="6200"/>
                    <a:pt x="1715294" y="17235"/>
                  </a:cubicBezTo>
                  <a:cubicBezTo>
                    <a:pt x="1726330" y="28271"/>
                    <a:pt x="1732529" y="43239"/>
                    <a:pt x="1732529" y="58845"/>
                  </a:cubicBezTo>
                  <a:lnTo>
                    <a:pt x="1732529" y="765629"/>
                  </a:lnTo>
                  <a:cubicBezTo>
                    <a:pt x="1732529" y="781236"/>
                    <a:pt x="1726330" y="796203"/>
                    <a:pt x="1715294" y="807239"/>
                  </a:cubicBezTo>
                  <a:cubicBezTo>
                    <a:pt x="1704258" y="818274"/>
                    <a:pt x="1689291" y="824474"/>
                    <a:pt x="1673684" y="824474"/>
                  </a:cubicBezTo>
                  <a:lnTo>
                    <a:pt x="58845" y="824474"/>
                  </a:lnTo>
                  <a:cubicBezTo>
                    <a:pt x="43239" y="824474"/>
                    <a:pt x="28271" y="818274"/>
                    <a:pt x="17235" y="807239"/>
                  </a:cubicBezTo>
                  <a:cubicBezTo>
                    <a:pt x="6200" y="796203"/>
                    <a:pt x="0" y="781236"/>
                    <a:pt x="0" y="765629"/>
                  </a:cubicBezTo>
                  <a:lnTo>
                    <a:pt x="0" y="58845"/>
                  </a:lnTo>
                  <a:cubicBezTo>
                    <a:pt x="0" y="43239"/>
                    <a:pt x="6200" y="28271"/>
                    <a:pt x="17235" y="17235"/>
                  </a:cubicBezTo>
                  <a:cubicBezTo>
                    <a:pt x="28271" y="6200"/>
                    <a:pt x="43239" y="0"/>
                    <a:pt x="58845"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20" name="TextBox 20"/>
            <p:cNvSpPr txBox="1"/>
            <p:nvPr/>
          </p:nvSpPr>
          <p:spPr>
            <a:xfrm>
              <a:off x="0" y="38100"/>
              <a:ext cx="1732529" cy="786374"/>
            </a:xfrm>
            <a:prstGeom prst="rect">
              <a:avLst/>
            </a:prstGeom>
          </p:spPr>
          <p:txBody>
            <a:bodyPr lIns="50800" tIns="50800" rIns="50800" bIns="50800" rtlCol="0" anchor="ctr"/>
            <a:lstStyle/>
            <a:p>
              <a:pPr marL="0" lvl="0" indent="0" algn="ctr">
                <a:lnSpc>
                  <a:spcPts val="1619"/>
                </a:lnSpc>
              </a:pPr>
              <a:endParaRPr/>
            </a:p>
          </p:txBody>
        </p:sp>
      </p:grpSp>
      <p:grpSp>
        <p:nvGrpSpPr>
          <p:cNvPr id="21" name="Group 21"/>
          <p:cNvGrpSpPr/>
          <p:nvPr/>
        </p:nvGrpSpPr>
        <p:grpSpPr>
          <a:xfrm>
            <a:off x="1294549" y="4713124"/>
            <a:ext cx="1378563" cy="1378563"/>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4119"/>
            </a:soli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23" name="TextBox 23"/>
            <p:cNvSpPr txBox="1"/>
            <p:nvPr/>
          </p:nvSpPr>
          <p:spPr>
            <a:xfrm>
              <a:off x="76200" y="114300"/>
              <a:ext cx="660400" cy="622300"/>
            </a:xfrm>
            <a:prstGeom prst="rect">
              <a:avLst/>
            </a:prstGeom>
          </p:spPr>
          <p:txBody>
            <a:bodyPr lIns="50800" tIns="50800" rIns="50800" bIns="50800" rtlCol="0" anchor="ctr"/>
            <a:lstStyle/>
            <a:p>
              <a:pPr marL="0" lvl="0" indent="0" algn="ctr">
                <a:lnSpc>
                  <a:spcPts val="1619"/>
                </a:lnSpc>
                <a:spcBef>
                  <a:spcPct val="0"/>
                </a:spcBef>
              </a:pPr>
              <a:endParaRPr/>
            </a:p>
          </p:txBody>
        </p:sp>
      </p:grpSp>
      <p:grpSp>
        <p:nvGrpSpPr>
          <p:cNvPr id="24" name="Group 24"/>
          <p:cNvGrpSpPr/>
          <p:nvPr/>
        </p:nvGrpSpPr>
        <p:grpSpPr>
          <a:xfrm>
            <a:off x="8684645" y="4706379"/>
            <a:ext cx="1378563" cy="1378563"/>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4119"/>
            </a:soli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26" name="TextBox 26"/>
            <p:cNvSpPr txBox="1"/>
            <p:nvPr/>
          </p:nvSpPr>
          <p:spPr>
            <a:xfrm>
              <a:off x="76200" y="114300"/>
              <a:ext cx="660400" cy="622300"/>
            </a:xfrm>
            <a:prstGeom prst="rect">
              <a:avLst/>
            </a:prstGeom>
          </p:spPr>
          <p:txBody>
            <a:bodyPr lIns="50800" tIns="50800" rIns="50800" bIns="50800" rtlCol="0" anchor="ctr"/>
            <a:lstStyle/>
            <a:p>
              <a:pPr marL="0" lvl="0" indent="0" algn="ctr">
                <a:lnSpc>
                  <a:spcPts val="1619"/>
                </a:lnSpc>
                <a:spcBef>
                  <a:spcPct val="0"/>
                </a:spcBef>
              </a:pPr>
              <a:endParaRPr/>
            </a:p>
          </p:txBody>
        </p:sp>
      </p:grpSp>
      <p:sp>
        <p:nvSpPr>
          <p:cNvPr id="27" name="TextBox 27"/>
          <p:cNvSpPr txBox="1"/>
          <p:nvPr/>
        </p:nvSpPr>
        <p:spPr>
          <a:xfrm>
            <a:off x="1157857" y="914337"/>
            <a:ext cx="2498812" cy="194072"/>
          </a:xfrm>
          <a:prstGeom prst="rect">
            <a:avLst/>
          </a:prstGeom>
        </p:spPr>
        <p:txBody>
          <a:bodyPr lIns="0" tIns="0" rIns="0" bIns="0" rtlCol="0" anchor="t">
            <a:spAutoFit/>
          </a:bodyPr>
          <a:lstStyle/>
          <a:p>
            <a:pPr marL="0" lvl="0" indent="0" algn="ctr">
              <a:lnSpc>
                <a:spcPts val="1673"/>
              </a:lnSpc>
            </a:pPr>
            <a:r>
              <a:rPr lang="en-US" sz="1230" spc="-30">
                <a:solidFill>
                  <a:srgbClr val="FFFFFF"/>
                </a:solidFill>
                <a:latin typeface="Canva Sans"/>
                <a:ea typeface="Canva Sans"/>
                <a:cs typeface="Canva Sans"/>
                <a:sym typeface="Canva Sans"/>
              </a:rPr>
              <a:t>Background</a:t>
            </a:r>
          </a:p>
        </p:txBody>
      </p:sp>
      <p:sp>
        <p:nvSpPr>
          <p:cNvPr id="28" name="TextBox 28"/>
          <p:cNvSpPr txBox="1"/>
          <p:nvPr/>
        </p:nvSpPr>
        <p:spPr>
          <a:xfrm>
            <a:off x="3358755" y="914337"/>
            <a:ext cx="2498812" cy="194072"/>
          </a:xfrm>
          <a:prstGeom prst="rect">
            <a:avLst/>
          </a:prstGeom>
        </p:spPr>
        <p:txBody>
          <a:bodyPr lIns="0" tIns="0" rIns="0" bIns="0" rtlCol="0" anchor="t">
            <a:spAutoFit/>
          </a:bodyPr>
          <a:lstStyle/>
          <a:p>
            <a:pPr marL="0" lvl="0" indent="0" algn="ctr">
              <a:lnSpc>
                <a:spcPts val="1673"/>
              </a:lnSpc>
            </a:pPr>
            <a:r>
              <a:rPr lang="en-US" sz="1230" spc="-30">
                <a:solidFill>
                  <a:srgbClr val="FFFFFF"/>
                </a:solidFill>
                <a:latin typeface="Canva Sans"/>
                <a:ea typeface="Canva Sans"/>
                <a:cs typeface="Canva Sans"/>
                <a:sym typeface="Canva Sans"/>
              </a:rPr>
              <a:t>Technical Challenges</a:t>
            </a:r>
          </a:p>
        </p:txBody>
      </p:sp>
      <p:sp>
        <p:nvSpPr>
          <p:cNvPr id="29" name="TextBox 29"/>
          <p:cNvSpPr txBox="1"/>
          <p:nvPr/>
        </p:nvSpPr>
        <p:spPr>
          <a:xfrm>
            <a:off x="5108285" y="914337"/>
            <a:ext cx="2498812" cy="194072"/>
          </a:xfrm>
          <a:prstGeom prst="rect">
            <a:avLst/>
          </a:prstGeom>
        </p:spPr>
        <p:txBody>
          <a:bodyPr lIns="0" tIns="0" rIns="0" bIns="0" rtlCol="0" anchor="t">
            <a:spAutoFit/>
          </a:bodyPr>
          <a:lstStyle/>
          <a:p>
            <a:pPr marL="0" lvl="0" indent="0" algn="ctr">
              <a:lnSpc>
                <a:spcPts val="1673"/>
              </a:lnSpc>
            </a:pPr>
            <a:r>
              <a:rPr lang="en-US" sz="1230" spc="-30">
                <a:solidFill>
                  <a:srgbClr val="FFFFFF"/>
                </a:solidFill>
                <a:latin typeface="Canva Sans"/>
                <a:ea typeface="Canva Sans"/>
                <a:cs typeface="Canva Sans"/>
                <a:sym typeface="Canva Sans"/>
              </a:rPr>
              <a:t>Composite Solution</a:t>
            </a:r>
          </a:p>
        </p:txBody>
      </p:sp>
      <p:sp>
        <p:nvSpPr>
          <p:cNvPr id="30" name="TextBox 30"/>
          <p:cNvSpPr txBox="1"/>
          <p:nvPr/>
        </p:nvSpPr>
        <p:spPr>
          <a:xfrm>
            <a:off x="6552810" y="914337"/>
            <a:ext cx="2498812" cy="194072"/>
          </a:xfrm>
          <a:prstGeom prst="rect">
            <a:avLst/>
          </a:prstGeom>
        </p:spPr>
        <p:txBody>
          <a:bodyPr lIns="0" tIns="0" rIns="0" bIns="0" rtlCol="0" anchor="t">
            <a:spAutoFit/>
          </a:bodyPr>
          <a:lstStyle/>
          <a:p>
            <a:pPr marL="0" lvl="0" indent="0" algn="ctr">
              <a:lnSpc>
                <a:spcPts val="1673"/>
              </a:lnSpc>
            </a:pPr>
            <a:r>
              <a:rPr lang="en-US" sz="1230" spc="-30">
                <a:solidFill>
                  <a:srgbClr val="FFFFFF"/>
                </a:solidFill>
                <a:latin typeface="Canva Sans"/>
                <a:ea typeface="Canva Sans"/>
                <a:cs typeface="Canva Sans"/>
                <a:sym typeface="Canva Sans"/>
              </a:rPr>
              <a:t>BIEF Mechanism</a:t>
            </a:r>
          </a:p>
        </p:txBody>
      </p:sp>
      <p:sp>
        <p:nvSpPr>
          <p:cNvPr id="31" name="TextBox 31"/>
          <p:cNvSpPr txBox="1"/>
          <p:nvPr/>
        </p:nvSpPr>
        <p:spPr>
          <a:xfrm>
            <a:off x="14585765" y="895287"/>
            <a:ext cx="2498812" cy="263128"/>
          </a:xfrm>
          <a:prstGeom prst="rect">
            <a:avLst/>
          </a:prstGeom>
        </p:spPr>
        <p:txBody>
          <a:bodyPr lIns="0" tIns="0" rIns="0" bIns="0" rtlCol="0" anchor="t">
            <a:spAutoFit/>
          </a:bodyPr>
          <a:lstStyle/>
          <a:p>
            <a:pPr marL="0" lvl="0" indent="0" algn="r">
              <a:lnSpc>
                <a:spcPts val="2151"/>
              </a:lnSpc>
            </a:pPr>
            <a:r>
              <a:rPr lang="en-US" sz="1582" b="1" spc="-39">
                <a:solidFill>
                  <a:srgbClr val="FFFFFF"/>
                </a:solidFill>
                <a:latin typeface="Canva Sans Bold"/>
                <a:ea typeface="Canva Sans Bold"/>
                <a:cs typeface="Canva Sans Bold"/>
                <a:sym typeface="Canva Sans Bold"/>
              </a:rPr>
              <a:t>HUST Research</a:t>
            </a:r>
          </a:p>
        </p:txBody>
      </p:sp>
      <p:sp>
        <p:nvSpPr>
          <p:cNvPr id="32" name="TextBox 32"/>
          <p:cNvSpPr txBox="1"/>
          <p:nvPr/>
        </p:nvSpPr>
        <p:spPr>
          <a:xfrm>
            <a:off x="1157857" y="2480541"/>
            <a:ext cx="9375805" cy="1690615"/>
          </a:xfrm>
          <a:prstGeom prst="rect">
            <a:avLst/>
          </a:prstGeom>
        </p:spPr>
        <p:txBody>
          <a:bodyPr lIns="0" tIns="0" rIns="0" bIns="0" rtlCol="0" anchor="t">
            <a:spAutoFit/>
          </a:bodyPr>
          <a:lstStyle/>
          <a:p>
            <a:pPr marL="0" lvl="0" indent="0" algn="l">
              <a:lnSpc>
                <a:spcPts val="6450"/>
              </a:lnSpc>
              <a:spcBef>
                <a:spcPct val="0"/>
              </a:spcBef>
            </a:pPr>
            <a:r>
              <a:rPr lang="en-US" sz="7166" b="1" spc="-286">
                <a:solidFill>
                  <a:srgbClr val="FFFFFF"/>
                </a:solidFill>
                <a:latin typeface="Pragmatica Bold"/>
                <a:ea typeface="Pragmatica Bold"/>
                <a:cs typeface="Pragmatica Bold"/>
                <a:sym typeface="Pragmatica Bold"/>
              </a:rPr>
              <a:t>Built-in Electric Field (BIEF) Mechanism</a:t>
            </a:r>
          </a:p>
        </p:txBody>
      </p:sp>
      <p:sp>
        <p:nvSpPr>
          <p:cNvPr id="33" name="TextBox 33"/>
          <p:cNvSpPr txBox="1"/>
          <p:nvPr/>
        </p:nvSpPr>
        <p:spPr>
          <a:xfrm>
            <a:off x="2520976" y="6684596"/>
            <a:ext cx="5351969" cy="1181100"/>
          </a:xfrm>
          <a:prstGeom prst="rect">
            <a:avLst/>
          </a:prstGeom>
        </p:spPr>
        <p:txBody>
          <a:bodyPr lIns="0" tIns="0" rIns="0" bIns="0" rtlCol="0" anchor="t">
            <a:spAutoFit/>
          </a:bodyPr>
          <a:lstStyle/>
          <a:p>
            <a:pPr marL="0" lvl="0" indent="0" algn="l">
              <a:lnSpc>
                <a:spcPts val="1912"/>
              </a:lnSpc>
            </a:pPr>
            <a:r>
              <a:rPr lang="en-US" sz="1406" spc="-35">
                <a:solidFill>
                  <a:srgbClr val="FFFFFF"/>
                </a:solidFill>
                <a:latin typeface="Canva Sans"/>
                <a:ea typeface="Canva Sans"/>
                <a:cs typeface="Canva Sans"/>
                <a:sym typeface="Canva Sans"/>
              </a:rPr>
              <a:t>The BIEF originates from the MSxOySez/SiOx heterojunction interface, creating a directional electric field. This field lowers the energy barrier for Li+ diffusion, boosting ion transport efficiency by up to 3x compared to conventional SiOx anodes, enabling superior rate capability and fast-charging performance at 5.0C.</a:t>
            </a:r>
          </a:p>
        </p:txBody>
      </p:sp>
      <p:sp>
        <p:nvSpPr>
          <p:cNvPr id="34" name="TextBox 34"/>
          <p:cNvSpPr txBox="1"/>
          <p:nvPr/>
        </p:nvSpPr>
        <p:spPr>
          <a:xfrm>
            <a:off x="10063208" y="6677852"/>
            <a:ext cx="5351969" cy="1181100"/>
          </a:xfrm>
          <a:prstGeom prst="rect">
            <a:avLst/>
          </a:prstGeom>
        </p:spPr>
        <p:txBody>
          <a:bodyPr lIns="0" tIns="0" rIns="0" bIns="0" rtlCol="0" anchor="t">
            <a:spAutoFit/>
          </a:bodyPr>
          <a:lstStyle/>
          <a:p>
            <a:pPr marL="0" lvl="0" indent="0" algn="l">
              <a:lnSpc>
                <a:spcPts val="1912"/>
              </a:lnSpc>
            </a:pPr>
            <a:r>
              <a:rPr lang="en-US" sz="1406" spc="-35">
                <a:solidFill>
                  <a:srgbClr val="FFFFFF"/>
                </a:solidFill>
                <a:latin typeface="Canva Sans"/>
                <a:ea typeface="Canva Sans"/>
                <a:cs typeface="Canva Sans"/>
                <a:sym typeface="Canva Sans"/>
              </a:rPr>
              <a:t>The BIEF actively counteracts the &gt;300% volume expansion of SiOx during cycling. By distributing mechanical stress across the MSxOySez shell (15-20 nm thick) and the 30-40% void buffer space, the composite maintains structural integrity over 500+ cycles, preventing crack formation and capacity fade.</a:t>
            </a:r>
          </a:p>
        </p:txBody>
      </p:sp>
      <p:sp>
        <p:nvSpPr>
          <p:cNvPr id="35" name="TextBox 35"/>
          <p:cNvSpPr txBox="1"/>
          <p:nvPr/>
        </p:nvSpPr>
        <p:spPr>
          <a:xfrm>
            <a:off x="10641940" y="2279589"/>
            <a:ext cx="5528345" cy="1181100"/>
          </a:xfrm>
          <a:prstGeom prst="rect">
            <a:avLst/>
          </a:prstGeom>
        </p:spPr>
        <p:txBody>
          <a:bodyPr lIns="0" tIns="0" rIns="0" bIns="0" rtlCol="0" anchor="t">
            <a:spAutoFit/>
          </a:bodyPr>
          <a:lstStyle/>
          <a:p>
            <a:pPr marL="0" lvl="0" indent="0" algn="l">
              <a:lnSpc>
                <a:spcPts val="1912"/>
              </a:lnSpc>
            </a:pPr>
            <a:r>
              <a:rPr lang="en-US" sz="1406" spc="-35">
                <a:solidFill>
                  <a:srgbClr val="FFFFFF"/>
                </a:solidFill>
                <a:latin typeface="Canva Sans"/>
                <a:ea typeface="Canva Sans"/>
                <a:cs typeface="Canva Sans"/>
                <a:sym typeface="Canva Sans"/>
              </a:rPr>
              <a:t>The MSxOySez shell layer generates a Built-in Electric Field (BIEF) at the heterostructure interface. This internal field dramatically accelerates Li+ ion transport kinetics, reduces charge transfer resistance, and stabilizes the composite structure by absorbing mechanical stress during repeated lithiation and delithiation cycles.</a:t>
            </a:r>
          </a:p>
        </p:txBody>
      </p:sp>
      <p:sp>
        <p:nvSpPr>
          <p:cNvPr id="36" name="TextBox 36"/>
          <p:cNvSpPr txBox="1"/>
          <p:nvPr/>
        </p:nvSpPr>
        <p:spPr>
          <a:xfrm>
            <a:off x="2520976" y="6135734"/>
            <a:ext cx="4454209" cy="301115"/>
          </a:xfrm>
          <a:prstGeom prst="rect">
            <a:avLst/>
          </a:prstGeom>
        </p:spPr>
        <p:txBody>
          <a:bodyPr lIns="0" tIns="0" rIns="0" bIns="0" rtlCol="0" anchor="t">
            <a:spAutoFit/>
          </a:bodyPr>
          <a:lstStyle/>
          <a:p>
            <a:pPr marL="0" lvl="0" indent="0" algn="l">
              <a:lnSpc>
                <a:spcPts val="2188"/>
              </a:lnSpc>
            </a:pPr>
            <a:r>
              <a:rPr lang="en-US" sz="2487" b="1" spc="-124">
                <a:solidFill>
                  <a:srgbClr val="FFFFFF"/>
                </a:solidFill>
                <a:latin typeface="Pragmatica Bold"/>
                <a:ea typeface="Pragmatica Bold"/>
                <a:cs typeface="Pragmatica Bold"/>
                <a:sym typeface="Pragmatica Bold"/>
              </a:rPr>
              <a:t>Li+ Ion Transport Enhancement</a:t>
            </a:r>
          </a:p>
        </p:txBody>
      </p:sp>
      <p:sp>
        <p:nvSpPr>
          <p:cNvPr id="37" name="TextBox 37"/>
          <p:cNvSpPr txBox="1"/>
          <p:nvPr/>
        </p:nvSpPr>
        <p:spPr>
          <a:xfrm>
            <a:off x="10063208" y="6161142"/>
            <a:ext cx="4454209" cy="301115"/>
          </a:xfrm>
          <a:prstGeom prst="rect">
            <a:avLst/>
          </a:prstGeom>
        </p:spPr>
        <p:txBody>
          <a:bodyPr lIns="0" tIns="0" rIns="0" bIns="0" rtlCol="0" anchor="t">
            <a:spAutoFit/>
          </a:bodyPr>
          <a:lstStyle/>
          <a:p>
            <a:pPr marL="0" lvl="0" indent="0" algn="l">
              <a:lnSpc>
                <a:spcPts val="2188"/>
              </a:lnSpc>
            </a:pPr>
            <a:r>
              <a:rPr lang="en-US" sz="2487" b="1" spc="-124">
                <a:solidFill>
                  <a:srgbClr val="FFFFFF"/>
                </a:solidFill>
                <a:latin typeface="Pragmatica Bold"/>
                <a:ea typeface="Pragmatica Bold"/>
                <a:cs typeface="Pragmatica Bold"/>
                <a:sym typeface="Pragmatica Bold"/>
              </a:rPr>
              <a:t>Structural Stress Stabilization</a:t>
            </a:r>
          </a:p>
        </p:txBody>
      </p:sp>
      <p:sp>
        <p:nvSpPr>
          <p:cNvPr id="38" name="TextBox 38"/>
          <p:cNvSpPr txBox="1"/>
          <p:nvPr/>
        </p:nvSpPr>
        <p:spPr>
          <a:xfrm>
            <a:off x="1294549" y="5197999"/>
            <a:ext cx="1378563" cy="447081"/>
          </a:xfrm>
          <a:prstGeom prst="rect">
            <a:avLst/>
          </a:prstGeom>
        </p:spPr>
        <p:txBody>
          <a:bodyPr lIns="0" tIns="0" rIns="0" bIns="0" rtlCol="0" anchor="t">
            <a:spAutoFit/>
          </a:bodyPr>
          <a:lstStyle/>
          <a:p>
            <a:pPr marL="0" lvl="0" indent="0" algn="ctr">
              <a:lnSpc>
                <a:spcPts val="3287"/>
              </a:lnSpc>
            </a:pPr>
            <a:r>
              <a:rPr lang="en-US" sz="3735" b="1" spc="-186">
                <a:solidFill>
                  <a:srgbClr val="FFFFFF"/>
                </a:solidFill>
                <a:latin typeface="Pragmatica Bold"/>
                <a:ea typeface="Pragmatica Bold"/>
                <a:cs typeface="Pragmatica Bold"/>
                <a:sym typeface="Pragmatica Bold"/>
              </a:rPr>
              <a:t>01</a:t>
            </a:r>
          </a:p>
        </p:txBody>
      </p:sp>
      <p:sp>
        <p:nvSpPr>
          <p:cNvPr id="39" name="TextBox 39"/>
          <p:cNvSpPr txBox="1"/>
          <p:nvPr/>
        </p:nvSpPr>
        <p:spPr>
          <a:xfrm>
            <a:off x="8684645" y="5191254"/>
            <a:ext cx="1378563" cy="447081"/>
          </a:xfrm>
          <a:prstGeom prst="rect">
            <a:avLst/>
          </a:prstGeom>
        </p:spPr>
        <p:txBody>
          <a:bodyPr lIns="0" tIns="0" rIns="0" bIns="0" rtlCol="0" anchor="t">
            <a:spAutoFit/>
          </a:bodyPr>
          <a:lstStyle/>
          <a:p>
            <a:pPr marL="0" lvl="0" indent="0" algn="ctr">
              <a:lnSpc>
                <a:spcPts val="3287"/>
              </a:lnSpc>
            </a:pPr>
            <a:r>
              <a:rPr lang="en-US" sz="3735" b="1" spc="-186">
                <a:solidFill>
                  <a:srgbClr val="FFFFFF"/>
                </a:solidFill>
                <a:latin typeface="Pragmatica Bold"/>
                <a:ea typeface="Pragmatica Bold"/>
                <a:cs typeface="Pragmatica Bold"/>
                <a:sym typeface="Pragmatica Bold"/>
              </a:rPr>
              <a:t>02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AutoShape 3"/>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4" name="AutoShape 4"/>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p:cNvSpPr/>
          <p:nvPr/>
        </p:nvSpPr>
        <p:spPr>
          <a:xfrm>
            <a:off x="6075187"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AutoShape 7"/>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8" name="Freeform 8"/>
          <p:cNvSpPr/>
          <p:nvPr/>
        </p:nvSpPr>
        <p:spPr>
          <a:xfrm>
            <a:off x="10208924" y="-41848877"/>
            <a:ext cx="14003850" cy="73704475"/>
          </a:xfrm>
          <a:custGeom>
            <a:avLst/>
            <a:gdLst/>
            <a:ahLst/>
            <a:cxnLst/>
            <a:rect l="l" t="t" r="r" b="b"/>
            <a:pathLst>
              <a:path w="14003850" h="73704475">
                <a:moveTo>
                  <a:pt x="0" y="0"/>
                </a:moveTo>
                <a:lnTo>
                  <a:pt x="14003850" y="0"/>
                </a:lnTo>
                <a:lnTo>
                  <a:pt x="14003850" y="73704475"/>
                </a:lnTo>
                <a:lnTo>
                  <a:pt x="0" y="73704475"/>
                </a:lnTo>
                <a:lnTo>
                  <a:pt x="0" y="0"/>
                </a:lnTo>
                <a:close/>
              </a:path>
            </a:pathLst>
          </a:custGeom>
          <a:blipFill>
            <a:blip r:embed="rId2">
              <a:alphaModFix amt="50000"/>
            </a:blip>
            <a:stretch>
              <a:fillRect/>
            </a:stretch>
          </a:blipFill>
        </p:spPr>
        <p:txBody>
          <a:bodyPr/>
          <a:lstStyle/>
          <a:p>
            <a:endParaRPr lang="en-US"/>
          </a:p>
        </p:txBody>
      </p:sp>
      <p:grpSp>
        <p:nvGrpSpPr>
          <p:cNvPr id="9" name="Group 9"/>
          <p:cNvGrpSpPr/>
          <p:nvPr/>
        </p:nvGrpSpPr>
        <p:grpSpPr>
          <a:xfrm>
            <a:off x="1028700" y="654448"/>
            <a:ext cx="16230600" cy="748504"/>
            <a:chOff x="0" y="0"/>
            <a:chExt cx="4274726" cy="197137"/>
          </a:xfrm>
        </p:grpSpPr>
        <p:sp>
          <p:nvSpPr>
            <p:cNvPr id="10" name="Freeform 10"/>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1" name="TextBox 11"/>
            <p:cNvSpPr txBox="1"/>
            <p:nvPr/>
          </p:nvSpPr>
          <p:spPr>
            <a:xfrm>
              <a:off x="0" y="38100"/>
              <a:ext cx="4274726" cy="159037"/>
            </a:xfrm>
            <a:prstGeom prst="rect">
              <a:avLst/>
            </a:prstGeom>
          </p:spPr>
          <p:txBody>
            <a:bodyPr lIns="50800" tIns="50800" rIns="50800" bIns="50800" rtlCol="0" anchor="ctr"/>
            <a:lstStyle/>
            <a:p>
              <a:pPr marL="0" lvl="0" indent="0" algn="ctr">
                <a:lnSpc>
                  <a:spcPts val="1619"/>
                </a:lnSpc>
              </a:pPr>
              <a:endParaRPr/>
            </a:p>
          </p:txBody>
        </p:sp>
      </p:grpSp>
      <p:sp>
        <p:nvSpPr>
          <p:cNvPr id="12" name="TextBox 12"/>
          <p:cNvSpPr txBox="1"/>
          <p:nvPr/>
        </p:nvSpPr>
        <p:spPr>
          <a:xfrm>
            <a:off x="1157857"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Background of the study</a:t>
            </a:r>
          </a:p>
        </p:txBody>
      </p:sp>
      <p:sp>
        <p:nvSpPr>
          <p:cNvPr id="13" name="TextBox 13"/>
          <p:cNvSpPr txBox="1"/>
          <p:nvPr/>
        </p:nvSpPr>
        <p:spPr>
          <a:xfrm>
            <a:off x="3358755"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Problem Statement</a:t>
            </a:r>
          </a:p>
        </p:txBody>
      </p:sp>
      <p:sp>
        <p:nvSpPr>
          <p:cNvPr id="14" name="TextBox 14"/>
          <p:cNvSpPr txBox="1"/>
          <p:nvPr/>
        </p:nvSpPr>
        <p:spPr>
          <a:xfrm>
            <a:off x="5108285"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AI Applications</a:t>
            </a:r>
          </a:p>
        </p:txBody>
      </p:sp>
      <p:sp>
        <p:nvSpPr>
          <p:cNvPr id="15" name="TextBox 15"/>
          <p:cNvSpPr txBox="1"/>
          <p:nvPr/>
        </p:nvSpPr>
        <p:spPr>
          <a:xfrm>
            <a:off x="6552810"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Methodology</a:t>
            </a:r>
          </a:p>
        </p:txBody>
      </p:sp>
      <p:sp>
        <p:nvSpPr>
          <p:cNvPr id="16" name="TextBox 16"/>
          <p:cNvSpPr txBox="1"/>
          <p:nvPr/>
        </p:nvSpPr>
        <p:spPr>
          <a:xfrm>
            <a:off x="14585765" y="904812"/>
            <a:ext cx="2498812" cy="394716"/>
          </a:xfrm>
          <a:prstGeom prst="rect">
            <a:avLst/>
          </a:prstGeom>
        </p:spPr>
        <p:txBody>
          <a:bodyPr lIns="0" tIns="0" rIns="0" bIns="0" rtlCol="0" anchor="t">
            <a:spAutoFit/>
          </a:bodyPr>
          <a:lstStyle/>
          <a:p>
            <a:pPr marL="0" lvl="0" indent="0" algn="r">
              <a:lnSpc>
                <a:spcPts val="1632"/>
              </a:lnSpc>
            </a:pPr>
            <a:r>
              <a:rPr lang="en-US" sz="1200" b="1" spc="-30">
                <a:solidFill>
                  <a:srgbClr val="FFFFFF"/>
                </a:solidFill>
                <a:latin typeface="Canva Sans Bold"/>
                <a:ea typeface="Canva Sans Bold"/>
                <a:cs typeface="Canva Sans Bold"/>
                <a:sym typeface="Canva Sans Bold"/>
              </a:rPr>
              <a:t>Hanoi Univ. of Science &amp; Technology</a:t>
            </a:r>
          </a:p>
        </p:txBody>
      </p:sp>
      <p:grpSp>
        <p:nvGrpSpPr>
          <p:cNvPr id="17" name="Group 17"/>
          <p:cNvGrpSpPr/>
          <p:nvPr/>
        </p:nvGrpSpPr>
        <p:grpSpPr>
          <a:xfrm>
            <a:off x="1157857" y="2743404"/>
            <a:ext cx="4906026" cy="1417263"/>
            <a:chOff x="0" y="0"/>
            <a:chExt cx="1495831" cy="432119"/>
          </a:xfrm>
        </p:grpSpPr>
        <p:sp>
          <p:nvSpPr>
            <p:cNvPr id="18" name="Freeform 18"/>
            <p:cNvSpPr/>
            <p:nvPr/>
          </p:nvSpPr>
          <p:spPr>
            <a:xfrm>
              <a:off x="0" y="0"/>
              <a:ext cx="1495831" cy="432119"/>
            </a:xfrm>
            <a:custGeom>
              <a:avLst/>
              <a:gdLst/>
              <a:ahLst/>
              <a:cxnLst/>
              <a:rect l="l" t="t" r="r" b="b"/>
              <a:pathLst>
                <a:path w="1495831" h="432119">
                  <a:moveTo>
                    <a:pt x="157804" y="0"/>
                  </a:moveTo>
                  <a:lnTo>
                    <a:pt x="1338026" y="0"/>
                  </a:lnTo>
                  <a:cubicBezTo>
                    <a:pt x="1425179" y="0"/>
                    <a:pt x="1495831" y="70651"/>
                    <a:pt x="1495831" y="157804"/>
                  </a:cubicBezTo>
                  <a:lnTo>
                    <a:pt x="1495831" y="274314"/>
                  </a:lnTo>
                  <a:cubicBezTo>
                    <a:pt x="1495831" y="361467"/>
                    <a:pt x="1425179" y="432119"/>
                    <a:pt x="1338026" y="432119"/>
                  </a:cubicBezTo>
                  <a:lnTo>
                    <a:pt x="157804" y="432119"/>
                  </a:lnTo>
                  <a:cubicBezTo>
                    <a:pt x="70651" y="432119"/>
                    <a:pt x="0" y="361467"/>
                    <a:pt x="0" y="274314"/>
                  </a:cubicBezTo>
                  <a:lnTo>
                    <a:pt x="0" y="157804"/>
                  </a:lnTo>
                  <a:cubicBezTo>
                    <a:pt x="0" y="70651"/>
                    <a:pt x="70651" y="0"/>
                    <a:pt x="157804" y="0"/>
                  </a:cubicBezTo>
                  <a:close/>
                </a:path>
              </a:pathLst>
            </a:custGeom>
            <a:gradFill rotWithShape="1">
              <a:gsLst>
                <a:gs pos="0">
                  <a:srgbClr val="FFFFFF">
                    <a:alpha val="10000"/>
                  </a:srgbClr>
                </a:gs>
                <a:gs pos="100000">
                  <a:srgbClr val="FFFFFF">
                    <a:alpha val="10500"/>
                  </a:srgbClr>
                </a:gs>
              </a:gsLst>
              <a:lin ang="0"/>
            </a:gradFill>
            <a:ln w="19050" cap="rnd">
              <a:solidFill>
                <a:srgbClr val="F9F9F9"/>
              </a:solidFill>
              <a:prstDash val="solid"/>
              <a:round/>
            </a:ln>
          </p:spPr>
          <p:txBody>
            <a:bodyPr/>
            <a:lstStyle/>
            <a:p>
              <a:endParaRPr lang="en-US"/>
            </a:p>
          </p:txBody>
        </p:sp>
        <p:sp>
          <p:nvSpPr>
            <p:cNvPr id="19" name="TextBox 19"/>
            <p:cNvSpPr txBox="1"/>
            <p:nvPr/>
          </p:nvSpPr>
          <p:spPr>
            <a:xfrm>
              <a:off x="0" y="-38100"/>
              <a:ext cx="1495831" cy="470219"/>
            </a:xfrm>
            <a:prstGeom prst="rect">
              <a:avLst/>
            </a:prstGeom>
          </p:spPr>
          <p:txBody>
            <a:bodyPr lIns="50800" tIns="50800" rIns="50800" bIns="50800" rtlCol="0" anchor="ctr"/>
            <a:lstStyle/>
            <a:p>
              <a:pPr marL="0" lvl="0" indent="0" algn="ctr">
                <a:lnSpc>
                  <a:spcPts val="2659"/>
                </a:lnSpc>
              </a:pPr>
              <a:endParaRPr/>
            </a:p>
          </p:txBody>
        </p:sp>
      </p:grpSp>
      <p:grpSp>
        <p:nvGrpSpPr>
          <p:cNvPr id="20" name="Group 20"/>
          <p:cNvGrpSpPr/>
          <p:nvPr/>
        </p:nvGrpSpPr>
        <p:grpSpPr>
          <a:xfrm>
            <a:off x="7257875" y="6204780"/>
            <a:ext cx="4906026" cy="1417263"/>
            <a:chOff x="0" y="0"/>
            <a:chExt cx="1495831" cy="432119"/>
          </a:xfrm>
        </p:grpSpPr>
        <p:sp>
          <p:nvSpPr>
            <p:cNvPr id="21" name="Freeform 21"/>
            <p:cNvSpPr/>
            <p:nvPr/>
          </p:nvSpPr>
          <p:spPr>
            <a:xfrm>
              <a:off x="0" y="0"/>
              <a:ext cx="1495831" cy="432119"/>
            </a:xfrm>
            <a:custGeom>
              <a:avLst/>
              <a:gdLst/>
              <a:ahLst/>
              <a:cxnLst/>
              <a:rect l="l" t="t" r="r" b="b"/>
              <a:pathLst>
                <a:path w="1495831" h="432119">
                  <a:moveTo>
                    <a:pt x="157804" y="0"/>
                  </a:moveTo>
                  <a:lnTo>
                    <a:pt x="1338026" y="0"/>
                  </a:lnTo>
                  <a:cubicBezTo>
                    <a:pt x="1425179" y="0"/>
                    <a:pt x="1495831" y="70651"/>
                    <a:pt x="1495831" y="157804"/>
                  </a:cubicBezTo>
                  <a:lnTo>
                    <a:pt x="1495831" y="274314"/>
                  </a:lnTo>
                  <a:cubicBezTo>
                    <a:pt x="1495831" y="361467"/>
                    <a:pt x="1425179" y="432119"/>
                    <a:pt x="1338026" y="432119"/>
                  </a:cubicBezTo>
                  <a:lnTo>
                    <a:pt x="157804" y="432119"/>
                  </a:lnTo>
                  <a:cubicBezTo>
                    <a:pt x="70651" y="432119"/>
                    <a:pt x="0" y="361467"/>
                    <a:pt x="0" y="274314"/>
                  </a:cubicBezTo>
                  <a:lnTo>
                    <a:pt x="0" y="157804"/>
                  </a:lnTo>
                  <a:cubicBezTo>
                    <a:pt x="0" y="70651"/>
                    <a:pt x="70651" y="0"/>
                    <a:pt x="157804" y="0"/>
                  </a:cubicBezTo>
                  <a:close/>
                </a:path>
              </a:pathLst>
            </a:custGeom>
            <a:gradFill rotWithShape="1">
              <a:gsLst>
                <a:gs pos="0">
                  <a:srgbClr val="FFFFFF">
                    <a:alpha val="10000"/>
                  </a:srgbClr>
                </a:gs>
                <a:gs pos="100000">
                  <a:srgbClr val="FFFFFF">
                    <a:alpha val="10500"/>
                  </a:srgbClr>
                </a:gs>
              </a:gsLst>
              <a:lin ang="0"/>
            </a:gradFill>
            <a:ln w="19050" cap="rnd">
              <a:solidFill>
                <a:srgbClr val="F9F9F9"/>
              </a:solidFill>
              <a:prstDash val="solid"/>
              <a:round/>
            </a:ln>
          </p:spPr>
          <p:txBody>
            <a:bodyPr/>
            <a:lstStyle/>
            <a:p>
              <a:endParaRPr lang="en-US"/>
            </a:p>
          </p:txBody>
        </p:sp>
        <p:sp>
          <p:nvSpPr>
            <p:cNvPr id="22" name="TextBox 22"/>
            <p:cNvSpPr txBox="1"/>
            <p:nvPr/>
          </p:nvSpPr>
          <p:spPr>
            <a:xfrm>
              <a:off x="0" y="-38100"/>
              <a:ext cx="1495831" cy="47021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3" name="Group 23"/>
          <p:cNvGrpSpPr/>
          <p:nvPr/>
        </p:nvGrpSpPr>
        <p:grpSpPr>
          <a:xfrm>
            <a:off x="1157857" y="4396992"/>
            <a:ext cx="4906026" cy="1417263"/>
            <a:chOff x="0" y="0"/>
            <a:chExt cx="1495831" cy="432119"/>
          </a:xfrm>
        </p:grpSpPr>
        <p:sp>
          <p:nvSpPr>
            <p:cNvPr id="24" name="Freeform 24"/>
            <p:cNvSpPr/>
            <p:nvPr/>
          </p:nvSpPr>
          <p:spPr>
            <a:xfrm>
              <a:off x="0" y="0"/>
              <a:ext cx="1495831" cy="432119"/>
            </a:xfrm>
            <a:custGeom>
              <a:avLst/>
              <a:gdLst/>
              <a:ahLst/>
              <a:cxnLst/>
              <a:rect l="l" t="t" r="r" b="b"/>
              <a:pathLst>
                <a:path w="1495831" h="432119">
                  <a:moveTo>
                    <a:pt x="157804" y="0"/>
                  </a:moveTo>
                  <a:lnTo>
                    <a:pt x="1338026" y="0"/>
                  </a:lnTo>
                  <a:cubicBezTo>
                    <a:pt x="1425179" y="0"/>
                    <a:pt x="1495831" y="70651"/>
                    <a:pt x="1495831" y="157804"/>
                  </a:cubicBezTo>
                  <a:lnTo>
                    <a:pt x="1495831" y="274314"/>
                  </a:lnTo>
                  <a:cubicBezTo>
                    <a:pt x="1495831" y="361467"/>
                    <a:pt x="1425179" y="432119"/>
                    <a:pt x="1338026" y="432119"/>
                  </a:cubicBezTo>
                  <a:lnTo>
                    <a:pt x="157804" y="432119"/>
                  </a:lnTo>
                  <a:cubicBezTo>
                    <a:pt x="70651" y="432119"/>
                    <a:pt x="0" y="361467"/>
                    <a:pt x="0" y="274314"/>
                  </a:cubicBezTo>
                  <a:lnTo>
                    <a:pt x="0" y="157804"/>
                  </a:lnTo>
                  <a:cubicBezTo>
                    <a:pt x="0" y="70651"/>
                    <a:pt x="70651" y="0"/>
                    <a:pt x="157804" y="0"/>
                  </a:cubicBezTo>
                  <a:close/>
                </a:path>
              </a:pathLst>
            </a:custGeom>
            <a:gradFill rotWithShape="1">
              <a:gsLst>
                <a:gs pos="0">
                  <a:srgbClr val="FFFFFF">
                    <a:alpha val="10000"/>
                  </a:srgbClr>
                </a:gs>
                <a:gs pos="100000">
                  <a:srgbClr val="FFFFFF">
                    <a:alpha val="10500"/>
                  </a:srgbClr>
                </a:gs>
              </a:gsLst>
              <a:lin ang="0"/>
            </a:gradFill>
            <a:ln w="19050" cap="rnd">
              <a:solidFill>
                <a:srgbClr val="F9F9F9"/>
              </a:solidFill>
              <a:prstDash val="solid"/>
              <a:round/>
            </a:ln>
          </p:spPr>
          <p:txBody>
            <a:bodyPr/>
            <a:lstStyle/>
            <a:p>
              <a:endParaRPr lang="en-US"/>
            </a:p>
          </p:txBody>
        </p:sp>
        <p:sp>
          <p:nvSpPr>
            <p:cNvPr id="25" name="TextBox 25"/>
            <p:cNvSpPr txBox="1"/>
            <p:nvPr/>
          </p:nvSpPr>
          <p:spPr>
            <a:xfrm>
              <a:off x="0" y="-38100"/>
              <a:ext cx="1495831" cy="47021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6" name="Group 26"/>
          <p:cNvGrpSpPr/>
          <p:nvPr/>
        </p:nvGrpSpPr>
        <p:grpSpPr>
          <a:xfrm>
            <a:off x="7257875" y="7858368"/>
            <a:ext cx="4906026" cy="1417263"/>
            <a:chOff x="0" y="0"/>
            <a:chExt cx="1495831" cy="432119"/>
          </a:xfrm>
        </p:grpSpPr>
        <p:sp>
          <p:nvSpPr>
            <p:cNvPr id="27" name="Freeform 27"/>
            <p:cNvSpPr/>
            <p:nvPr/>
          </p:nvSpPr>
          <p:spPr>
            <a:xfrm>
              <a:off x="0" y="0"/>
              <a:ext cx="1495831" cy="432119"/>
            </a:xfrm>
            <a:custGeom>
              <a:avLst/>
              <a:gdLst/>
              <a:ahLst/>
              <a:cxnLst/>
              <a:rect l="l" t="t" r="r" b="b"/>
              <a:pathLst>
                <a:path w="1495831" h="432119">
                  <a:moveTo>
                    <a:pt x="157804" y="0"/>
                  </a:moveTo>
                  <a:lnTo>
                    <a:pt x="1338026" y="0"/>
                  </a:lnTo>
                  <a:cubicBezTo>
                    <a:pt x="1425179" y="0"/>
                    <a:pt x="1495831" y="70651"/>
                    <a:pt x="1495831" y="157804"/>
                  </a:cubicBezTo>
                  <a:lnTo>
                    <a:pt x="1495831" y="274314"/>
                  </a:lnTo>
                  <a:cubicBezTo>
                    <a:pt x="1495831" y="361467"/>
                    <a:pt x="1425179" y="432119"/>
                    <a:pt x="1338026" y="432119"/>
                  </a:cubicBezTo>
                  <a:lnTo>
                    <a:pt x="157804" y="432119"/>
                  </a:lnTo>
                  <a:cubicBezTo>
                    <a:pt x="70651" y="432119"/>
                    <a:pt x="0" y="361467"/>
                    <a:pt x="0" y="274314"/>
                  </a:cubicBezTo>
                  <a:lnTo>
                    <a:pt x="0" y="157804"/>
                  </a:lnTo>
                  <a:cubicBezTo>
                    <a:pt x="0" y="70651"/>
                    <a:pt x="70651" y="0"/>
                    <a:pt x="157804" y="0"/>
                  </a:cubicBezTo>
                  <a:close/>
                </a:path>
              </a:pathLst>
            </a:custGeom>
            <a:gradFill rotWithShape="1">
              <a:gsLst>
                <a:gs pos="0">
                  <a:srgbClr val="FFFFFF">
                    <a:alpha val="10000"/>
                  </a:srgbClr>
                </a:gs>
                <a:gs pos="100000">
                  <a:srgbClr val="FFFFFF">
                    <a:alpha val="10500"/>
                  </a:srgbClr>
                </a:gs>
              </a:gsLst>
              <a:lin ang="0"/>
            </a:gradFill>
            <a:ln w="19050" cap="rnd">
              <a:solidFill>
                <a:srgbClr val="F9F9F9"/>
              </a:solidFill>
              <a:prstDash val="solid"/>
              <a:round/>
            </a:ln>
          </p:spPr>
          <p:txBody>
            <a:bodyPr/>
            <a:lstStyle/>
            <a:p>
              <a:endParaRPr lang="en-US"/>
            </a:p>
          </p:txBody>
        </p:sp>
        <p:sp>
          <p:nvSpPr>
            <p:cNvPr id="28" name="TextBox 28"/>
            <p:cNvSpPr txBox="1"/>
            <p:nvPr/>
          </p:nvSpPr>
          <p:spPr>
            <a:xfrm>
              <a:off x="0" y="-38100"/>
              <a:ext cx="1495831" cy="47021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9" name="Group 29"/>
          <p:cNvGrpSpPr/>
          <p:nvPr/>
        </p:nvGrpSpPr>
        <p:grpSpPr>
          <a:xfrm>
            <a:off x="1289438" y="2869907"/>
            <a:ext cx="1148073" cy="1137933"/>
            <a:chOff x="0" y="0"/>
            <a:chExt cx="997623" cy="988812"/>
          </a:xfrm>
        </p:grpSpPr>
        <p:sp>
          <p:nvSpPr>
            <p:cNvPr id="30" name="Freeform 30"/>
            <p:cNvSpPr/>
            <p:nvPr/>
          </p:nvSpPr>
          <p:spPr>
            <a:xfrm>
              <a:off x="0" y="0"/>
              <a:ext cx="997623" cy="988812"/>
            </a:xfrm>
            <a:custGeom>
              <a:avLst/>
              <a:gdLst/>
              <a:ahLst/>
              <a:cxnLst/>
              <a:rect l="l" t="t" r="r" b="b"/>
              <a:pathLst>
                <a:path w="997623" h="988812">
                  <a:moveTo>
                    <a:pt x="494406" y="0"/>
                  </a:moveTo>
                  <a:lnTo>
                    <a:pt x="503217" y="0"/>
                  </a:lnTo>
                  <a:cubicBezTo>
                    <a:pt x="776270" y="0"/>
                    <a:pt x="997623" y="221353"/>
                    <a:pt x="997623" y="494406"/>
                  </a:cubicBezTo>
                  <a:lnTo>
                    <a:pt x="997623" y="494406"/>
                  </a:lnTo>
                  <a:cubicBezTo>
                    <a:pt x="997623" y="625531"/>
                    <a:pt x="945534" y="751285"/>
                    <a:pt x="852815" y="844004"/>
                  </a:cubicBezTo>
                  <a:cubicBezTo>
                    <a:pt x="760096" y="936723"/>
                    <a:pt x="634342" y="988812"/>
                    <a:pt x="503217" y="988812"/>
                  </a:cubicBezTo>
                  <a:lnTo>
                    <a:pt x="494406" y="988812"/>
                  </a:lnTo>
                  <a:cubicBezTo>
                    <a:pt x="363281" y="988812"/>
                    <a:pt x="237527" y="936723"/>
                    <a:pt x="144808" y="844004"/>
                  </a:cubicBezTo>
                  <a:cubicBezTo>
                    <a:pt x="52089" y="751285"/>
                    <a:pt x="0" y="625531"/>
                    <a:pt x="0" y="494406"/>
                  </a:cubicBezTo>
                  <a:lnTo>
                    <a:pt x="0" y="494406"/>
                  </a:lnTo>
                  <a:cubicBezTo>
                    <a:pt x="0" y="363281"/>
                    <a:pt x="52089" y="237527"/>
                    <a:pt x="144808" y="144808"/>
                  </a:cubicBezTo>
                  <a:cubicBezTo>
                    <a:pt x="237527" y="52089"/>
                    <a:pt x="363281" y="0"/>
                    <a:pt x="494406" y="0"/>
                  </a:cubicBezTo>
                  <a:close/>
                </a:path>
              </a:pathLst>
            </a:custGeom>
            <a:solidFill>
              <a:srgbClr val="2ABF00"/>
            </a:solidFill>
            <a:ln w="19050" cap="rnd">
              <a:solidFill>
                <a:srgbClr val="F9F9F9"/>
              </a:solidFill>
              <a:prstDash val="solid"/>
              <a:round/>
            </a:ln>
          </p:spPr>
          <p:txBody>
            <a:bodyPr/>
            <a:lstStyle/>
            <a:p>
              <a:endParaRPr lang="en-US"/>
            </a:p>
          </p:txBody>
        </p:sp>
        <p:sp>
          <p:nvSpPr>
            <p:cNvPr id="31" name="TextBox 31"/>
            <p:cNvSpPr txBox="1"/>
            <p:nvPr/>
          </p:nvSpPr>
          <p:spPr>
            <a:xfrm>
              <a:off x="0" y="-38100"/>
              <a:ext cx="997623" cy="102691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32" name="Group 32"/>
          <p:cNvGrpSpPr/>
          <p:nvPr/>
        </p:nvGrpSpPr>
        <p:grpSpPr>
          <a:xfrm>
            <a:off x="7389456" y="6331283"/>
            <a:ext cx="1148073" cy="1137933"/>
            <a:chOff x="0" y="0"/>
            <a:chExt cx="997623" cy="988812"/>
          </a:xfrm>
        </p:grpSpPr>
        <p:sp>
          <p:nvSpPr>
            <p:cNvPr id="33" name="Freeform 33"/>
            <p:cNvSpPr/>
            <p:nvPr/>
          </p:nvSpPr>
          <p:spPr>
            <a:xfrm>
              <a:off x="0" y="0"/>
              <a:ext cx="997623" cy="988812"/>
            </a:xfrm>
            <a:custGeom>
              <a:avLst/>
              <a:gdLst/>
              <a:ahLst/>
              <a:cxnLst/>
              <a:rect l="l" t="t" r="r" b="b"/>
              <a:pathLst>
                <a:path w="997623" h="988812">
                  <a:moveTo>
                    <a:pt x="494406" y="0"/>
                  </a:moveTo>
                  <a:lnTo>
                    <a:pt x="503217" y="0"/>
                  </a:lnTo>
                  <a:cubicBezTo>
                    <a:pt x="776270" y="0"/>
                    <a:pt x="997623" y="221353"/>
                    <a:pt x="997623" y="494406"/>
                  </a:cubicBezTo>
                  <a:lnTo>
                    <a:pt x="997623" y="494406"/>
                  </a:lnTo>
                  <a:cubicBezTo>
                    <a:pt x="997623" y="625531"/>
                    <a:pt x="945534" y="751285"/>
                    <a:pt x="852815" y="844004"/>
                  </a:cubicBezTo>
                  <a:cubicBezTo>
                    <a:pt x="760096" y="936723"/>
                    <a:pt x="634342" y="988812"/>
                    <a:pt x="503217" y="988812"/>
                  </a:cubicBezTo>
                  <a:lnTo>
                    <a:pt x="494406" y="988812"/>
                  </a:lnTo>
                  <a:cubicBezTo>
                    <a:pt x="363281" y="988812"/>
                    <a:pt x="237527" y="936723"/>
                    <a:pt x="144808" y="844004"/>
                  </a:cubicBezTo>
                  <a:cubicBezTo>
                    <a:pt x="52089" y="751285"/>
                    <a:pt x="0" y="625531"/>
                    <a:pt x="0" y="494406"/>
                  </a:cubicBezTo>
                  <a:lnTo>
                    <a:pt x="0" y="494406"/>
                  </a:lnTo>
                  <a:cubicBezTo>
                    <a:pt x="0" y="363281"/>
                    <a:pt x="52089" y="237527"/>
                    <a:pt x="144808" y="144808"/>
                  </a:cubicBezTo>
                  <a:cubicBezTo>
                    <a:pt x="237527" y="52089"/>
                    <a:pt x="363281" y="0"/>
                    <a:pt x="494406" y="0"/>
                  </a:cubicBezTo>
                  <a:close/>
                </a:path>
              </a:pathLst>
            </a:custGeom>
            <a:solidFill>
              <a:srgbClr val="2ABF00"/>
            </a:solidFill>
            <a:ln w="19050" cap="rnd">
              <a:solidFill>
                <a:srgbClr val="F9F9F9"/>
              </a:solidFill>
              <a:prstDash val="solid"/>
              <a:round/>
            </a:ln>
          </p:spPr>
          <p:txBody>
            <a:bodyPr/>
            <a:lstStyle/>
            <a:p>
              <a:endParaRPr lang="en-US"/>
            </a:p>
          </p:txBody>
        </p:sp>
        <p:sp>
          <p:nvSpPr>
            <p:cNvPr id="34" name="TextBox 34"/>
            <p:cNvSpPr txBox="1"/>
            <p:nvPr/>
          </p:nvSpPr>
          <p:spPr>
            <a:xfrm>
              <a:off x="0" y="-38100"/>
              <a:ext cx="997623" cy="102691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35" name="Group 35"/>
          <p:cNvGrpSpPr/>
          <p:nvPr/>
        </p:nvGrpSpPr>
        <p:grpSpPr>
          <a:xfrm>
            <a:off x="1289438" y="4523495"/>
            <a:ext cx="1148073" cy="1137933"/>
            <a:chOff x="0" y="0"/>
            <a:chExt cx="997623" cy="988812"/>
          </a:xfrm>
        </p:grpSpPr>
        <p:sp>
          <p:nvSpPr>
            <p:cNvPr id="36" name="Freeform 36"/>
            <p:cNvSpPr/>
            <p:nvPr/>
          </p:nvSpPr>
          <p:spPr>
            <a:xfrm>
              <a:off x="0" y="0"/>
              <a:ext cx="997623" cy="988812"/>
            </a:xfrm>
            <a:custGeom>
              <a:avLst/>
              <a:gdLst/>
              <a:ahLst/>
              <a:cxnLst/>
              <a:rect l="l" t="t" r="r" b="b"/>
              <a:pathLst>
                <a:path w="997623" h="988812">
                  <a:moveTo>
                    <a:pt x="494406" y="0"/>
                  </a:moveTo>
                  <a:lnTo>
                    <a:pt x="503217" y="0"/>
                  </a:lnTo>
                  <a:cubicBezTo>
                    <a:pt x="776270" y="0"/>
                    <a:pt x="997623" y="221353"/>
                    <a:pt x="997623" y="494406"/>
                  </a:cubicBezTo>
                  <a:lnTo>
                    <a:pt x="997623" y="494406"/>
                  </a:lnTo>
                  <a:cubicBezTo>
                    <a:pt x="997623" y="625531"/>
                    <a:pt x="945534" y="751285"/>
                    <a:pt x="852815" y="844004"/>
                  </a:cubicBezTo>
                  <a:cubicBezTo>
                    <a:pt x="760096" y="936723"/>
                    <a:pt x="634342" y="988812"/>
                    <a:pt x="503217" y="988812"/>
                  </a:cubicBezTo>
                  <a:lnTo>
                    <a:pt x="494406" y="988812"/>
                  </a:lnTo>
                  <a:cubicBezTo>
                    <a:pt x="363281" y="988812"/>
                    <a:pt x="237527" y="936723"/>
                    <a:pt x="144808" y="844004"/>
                  </a:cubicBezTo>
                  <a:cubicBezTo>
                    <a:pt x="52089" y="751285"/>
                    <a:pt x="0" y="625531"/>
                    <a:pt x="0" y="494406"/>
                  </a:cubicBezTo>
                  <a:lnTo>
                    <a:pt x="0" y="494406"/>
                  </a:lnTo>
                  <a:cubicBezTo>
                    <a:pt x="0" y="363281"/>
                    <a:pt x="52089" y="237527"/>
                    <a:pt x="144808" y="144808"/>
                  </a:cubicBezTo>
                  <a:cubicBezTo>
                    <a:pt x="237527" y="52089"/>
                    <a:pt x="363281" y="0"/>
                    <a:pt x="494406" y="0"/>
                  </a:cubicBezTo>
                  <a:close/>
                </a:path>
              </a:pathLst>
            </a:custGeom>
            <a:solidFill>
              <a:srgbClr val="FFFFFF"/>
            </a:solidFill>
            <a:ln w="19050" cap="rnd">
              <a:solidFill>
                <a:srgbClr val="F9F9F9"/>
              </a:solidFill>
              <a:prstDash val="solid"/>
              <a:round/>
            </a:ln>
          </p:spPr>
          <p:txBody>
            <a:bodyPr/>
            <a:lstStyle/>
            <a:p>
              <a:endParaRPr lang="en-US"/>
            </a:p>
          </p:txBody>
        </p:sp>
        <p:sp>
          <p:nvSpPr>
            <p:cNvPr id="37" name="TextBox 37"/>
            <p:cNvSpPr txBox="1"/>
            <p:nvPr/>
          </p:nvSpPr>
          <p:spPr>
            <a:xfrm>
              <a:off x="0" y="-38100"/>
              <a:ext cx="997623" cy="102691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38" name="Group 38"/>
          <p:cNvGrpSpPr/>
          <p:nvPr/>
        </p:nvGrpSpPr>
        <p:grpSpPr>
          <a:xfrm>
            <a:off x="7389456" y="7984871"/>
            <a:ext cx="1148073" cy="1137933"/>
            <a:chOff x="0" y="0"/>
            <a:chExt cx="997623" cy="988812"/>
          </a:xfrm>
        </p:grpSpPr>
        <p:sp>
          <p:nvSpPr>
            <p:cNvPr id="39" name="Freeform 39"/>
            <p:cNvSpPr/>
            <p:nvPr/>
          </p:nvSpPr>
          <p:spPr>
            <a:xfrm>
              <a:off x="0" y="0"/>
              <a:ext cx="997623" cy="988812"/>
            </a:xfrm>
            <a:custGeom>
              <a:avLst/>
              <a:gdLst/>
              <a:ahLst/>
              <a:cxnLst/>
              <a:rect l="l" t="t" r="r" b="b"/>
              <a:pathLst>
                <a:path w="997623" h="988812">
                  <a:moveTo>
                    <a:pt x="494406" y="0"/>
                  </a:moveTo>
                  <a:lnTo>
                    <a:pt x="503217" y="0"/>
                  </a:lnTo>
                  <a:cubicBezTo>
                    <a:pt x="776270" y="0"/>
                    <a:pt x="997623" y="221353"/>
                    <a:pt x="997623" y="494406"/>
                  </a:cubicBezTo>
                  <a:lnTo>
                    <a:pt x="997623" y="494406"/>
                  </a:lnTo>
                  <a:cubicBezTo>
                    <a:pt x="997623" y="625531"/>
                    <a:pt x="945534" y="751285"/>
                    <a:pt x="852815" y="844004"/>
                  </a:cubicBezTo>
                  <a:cubicBezTo>
                    <a:pt x="760096" y="936723"/>
                    <a:pt x="634342" y="988812"/>
                    <a:pt x="503217" y="988812"/>
                  </a:cubicBezTo>
                  <a:lnTo>
                    <a:pt x="494406" y="988812"/>
                  </a:lnTo>
                  <a:cubicBezTo>
                    <a:pt x="363281" y="988812"/>
                    <a:pt x="237527" y="936723"/>
                    <a:pt x="144808" y="844004"/>
                  </a:cubicBezTo>
                  <a:cubicBezTo>
                    <a:pt x="52089" y="751285"/>
                    <a:pt x="0" y="625531"/>
                    <a:pt x="0" y="494406"/>
                  </a:cubicBezTo>
                  <a:lnTo>
                    <a:pt x="0" y="494406"/>
                  </a:lnTo>
                  <a:cubicBezTo>
                    <a:pt x="0" y="363281"/>
                    <a:pt x="52089" y="237527"/>
                    <a:pt x="144808" y="144808"/>
                  </a:cubicBezTo>
                  <a:cubicBezTo>
                    <a:pt x="237527" y="52089"/>
                    <a:pt x="363281" y="0"/>
                    <a:pt x="494406" y="0"/>
                  </a:cubicBezTo>
                  <a:close/>
                </a:path>
              </a:pathLst>
            </a:custGeom>
            <a:solidFill>
              <a:srgbClr val="FFFFFF"/>
            </a:solidFill>
            <a:ln w="19050" cap="rnd">
              <a:solidFill>
                <a:srgbClr val="F9F9F9"/>
              </a:solidFill>
              <a:prstDash val="solid"/>
              <a:round/>
            </a:ln>
          </p:spPr>
          <p:txBody>
            <a:bodyPr/>
            <a:lstStyle/>
            <a:p>
              <a:endParaRPr lang="en-US"/>
            </a:p>
          </p:txBody>
        </p:sp>
        <p:sp>
          <p:nvSpPr>
            <p:cNvPr id="40" name="TextBox 40"/>
            <p:cNvSpPr txBox="1"/>
            <p:nvPr/>
          </p:nvSpPr>
          <p:spPr>
            <a:xfrm>
              <a:off x="0" y="-38100"/>
              <a:ext cx="997623" cy="102691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41" name="TextBox 41"/>
          <p:cNvSpPr txBox="1"/>
          <p:nvPr/>
        </p:nvSpPr>
        <p:spPr>
          <a:xfrm>
            <a:off x="2914691" y="3175639"/>
            <a:ext cx="2438347" cy="368545"/>
          </a:xfrm>
          <a:prstGeom prst="rect">
            <a:avLst/>
          </a:prstGeom>
        </p:spPr>
        <p:txBody>
          <a:bodyPr lIns="0" tIns="0" rIns="0" bIns="0" rtlCol="0" anchor="t">
            <a:spAutoFit/>
          </a:bodyPr>
          <a:lstStyle/>
          <a:p>
            <a:pPr marL="0" lvl="0" indent="0" algn="l">
              <a:lnSpc>
                <a:spcPts val="1406"/>
              </a:lnSpc>
            </a:pPr>
            <a:r>
              <a:rPr lang="en-US" sz="1597" spc="-79">
                <a:solidFill>
                  <a:srgbClr val="FFFFFF"/>
                </a:solidFill>
                <a:latin typeface="Pragmatica"/>
                <a:ea typeface="Pragmatica"/>
                <a:cs typeface="Pragmatica"/>
                <a:sym typeface="Pragmatica"/>
              </a:rPr>
              <a:t>Data Inputs</a:t>
            </a:r>
          </a:p>
          <a:p>
            <a:pPr marL="0" lvl="0" indent="0" algn="l">
              <a:lnSpc>
                <a:spcPts val="1406"/>
              </a:lnSpc>
            </a:pPr>
            <a:r>
              <a:rPr lang="en-US" sz="1597" spc="-79">
                <a:solidFill>
                  <a:srgbClr val="FFFFFF"/>
                </a:solidFill>
                <a:latin typeface="Pragmatica"/>
                <a:ea typeface="Pragmatica"/>
                <a:cs typeface="Pragmatica"/>
                <a:sym typeface="Pragmatica"/>
              </a:rPr>
              <a:t>Process CSV</a:t>
            </a:r>
          </a:p>
        </p:txBody>
      </p:sp>
      <p:sp>
        <p:nvSpPr>
          <p:cNvPr id="42" name="TextBox 42"/>
          <p:cNvSpPr txBox="1"/>
          <p:nvPr/>
        </p:nvSpPr>
        <p:spPr>
          <a:xfrm>
            <a:off x="9014709" y="6764391"/>
            <a:ext cx="2438347" cy="368545"/>
          </a:xfrm>
          <a:prstGeom prst="rect">
            <a:avLst/>
          </a:prstGeom>
        </p:spPr>
        <p:txBody>
          <a:bodyPr lIns="0" tIns="0" rIns="0" bIns="0" rtlCol="0" anchor="t">
            <a:spAutoFit/>
          </a:bodyPr>
          <a:lstStyle/>
          <a:p>
            <a:pPr marL="0" lvl="0" indent="0" algn="l">
              <a:lnSpc>
                <a:spcPts val="1406"/>
              </a:lnSpc>
            </a:pPr>
            <a:r>
              <a:rPr lang="en-US" sz="1597" spc="-79">
                <a:solidFill>
                  <a:srgbClr val="FFFFFF"/>
                </a:solidFill>
                <a:latin typeface="Pragmatica"/>
                <a:ea typeface="Pragmatica"/>
                <a:cs typeface="Pragmatica"/>
                <a:sym typeface="Pragmatica"/>
              </a:rPr>
              <a:t>SEM</a:t>
            </a:r>
          </a:p>
          <a:p>
            <a:pPr marL="0" lvl="0" indent="0" algn="l">
              <a:lnSpc>
                <a:spcPts val="1406"/>
              </a:lnSpc>
            </a:pPr>
            <a:r>
              <a:rPr lang="en-US" sz="1597" spc="-79">
                <a:solidFill>
                  <a:srgbClr val="FFFFFF"/>
                </a:solidFill>
                <a:latin typeface="Pragmatica"/>
                <a:ea typeface="Pragmatica"/>
                <a:cs typeface="Pragmatica"/>
                <a:sym typeface="Pragmatica"/>
              </a:rPr>
              <a:t>Features</a:t>
            </a:r>
          </a:p>
        </p:txBody>
      </p:sp>
      <p:sp>
        <p:nvSpPr>
          <p:cNvPr id="43" name="TextBox 43"/>
          <p:cNvSpPr txBox="1"/>
          <p:nvPr/>
        </p:nvSpPr>
        <p:spPr>
          <a:xfrm>
            <a:off x="2914691" y="4956603"/>
            <a:ext cx="2942876" cy="192930"/>
          </a:xfrm>
          <a:prstGeom prst="rect">
            <a:avLst/>
          </a:prstGeom>
        </p:spPr>
        <p:txBody>
          <a:bodyPr lIns="0" tIns="0" rIns="0" bIns="0" rtlCol="0" anchor="t">
            <a:spAutoFit/>
          </a:bodyPr>
          <a:lstStyle/>
          <a:p>
            <a:pPr marL="0" lvl="0" indent="0" algn="l">
              <a:lnSpc>
                <a:spcPts val="1406"/>
              </a:lnSpc>
            </a:pPr>
            <a:r>
              <a:rPr lang="en-US" sz="1597" spc="-79">
                <a:solidFill>
                  <a:srgbClr val="FFFFFF"/>
                </a:solidFill>
                <a:latin typeface="Pragmatica"/>
                <a:ea typeface="Pragmatica"/>
                <a:cs typeface="Pragmatica"/>
                <a:sym typeface="Pragmatica"/>
              </a:rPr>
              <a:t>EDX + Electrochemistry</a:t>
            </a:r>
          </a:p>
        </p:txBody>
      </p:sp>
      <p:sp>
        <p:nvSpPr>
          <p:cNvPr id="44" name="TextBox 44"/>
          <p:cNvSpPr txBox="1"/>
          <p:nvPr/>
        </p:nvSpPr>
        <p:spPr>
          <a:xfrm>
            <a:off x="9014709" y="8417979"/>
            <a:ext cx="2438347" cy="368545"/>
          </a:xfrm>
          <a:prstGeom prst="rect">
            <a:avLst/>
          </a:prstGeom>
        </p:spPr>
        <p:txBody>
          <a:bodyPr lIns="0" tIns="0" rIns="0" bIns="0" rtlCol="0" anchor="t">
            <a:spAutoFit/>
          </a:bodyPr>
          <a:lstStyle/>
          <a:p>
            <a:pPr marL="0" lvl="0" indent="0" algn="l">
              <a:lnSpc>
                <a:spcPts val="1406"/>
              </a:lnSpc>
            </a:pPr>
            <a:r>
              <a:rPr lang="en-US" sz="1597" spc="-79">
                <a:solidFill>
                  <a:srgbClr val="FFFFFF"/>
                </a:solidFill>
                <a:latin typeface="Pragmatica"/>
                <a:ea typeface="Pragmatica"/>
                <a:cs typeface="Pragmatica"/>
                <a:sym typeface="Pragmatica"/>
              </a:rPr>
              <a:t>retention_100</a:t>
            </a:r>
          </a:p>
          <a:p>
            <a:pPr marL="0" lvl="0" indent="0" algn="l">
              <a:lnSpc>
                <a:spcPts val="1406"/>
              </a:lnSpc>
            </a:pPr>
            <a:r>
              <a:rPr lang="en-US" sz="1597" spc="-79">
                <a:solidFill>
                  <a:srgbClr val="FFFFFF"/>
                </a:solidFill>
                <a:latin typeface="Pragmatica"/>
                <a:ea typeface="Pragmatica"/>
                <a:cs typeface="Pragmatica"/>
                <a:sym typeface="Pragmatica"/>
              </a:rPr>
              <a:t>Prediction</a:t>
            </a:r>
          </a:p>
        </p:txBody>
      </p:sp>
      <p:grpSp>
        <p:nvGrpSpPr>
          <p:cNvPr id="45" name="Group 45"/>
          <p:cNvGrpSpPr/>
          <p:nvPr/>
        </p:nvGrpSpPr>
        <p:grpSpPr>
          <a:xfrm>
            <a:off x="6167469" y="2726074"/>
            <a:ext cx="4906026" cy="1417263"/>
            <a:chOff x="0" y="0"/>
            <a:chExt cx="1495831" cy="432119"/>
          </a:xfrm>
        </p:grpSpPr>
        <p:sp>
          <p:nvSpPr>
            <p:cNvPr id="46" name="Freeform 46"/>
            <p:cNvSpPr/>
            <p:nvPr/>
          </p:nvSpPr>
          <p:spPr>
            <a:xfrm>
              <a:off x="0" y="0"/>
              <a:ext cx="1495831" cy="432119"/>
            </a:xfrm>
            <a:custGeom>
              <a:avLst/>
              <a:gdLst/>
              <a:ahLst/>
              <a:cxnLst/>
              <a:rect l="l" t="t" r="r" b="b"/>
              <a:pathLst>
                <a:path w="1495831" h="432119">
                  <a:moveTo>
                    <a:pt x="157804" y="0"/>
                  </a:moveTo>
                  <a:lnTo>
                    <a:pt x="1338026" y="0"/>
                  </a:lnTo>
                  <a:cubicBezTo>
                    <a:pt x="1425179" y="0"/>
                    <a:pt x="1495831" y="70651"/>
                    <a:pt x="1495831" y="157804"/>
                  </a:cubicBezTo>
                  <a:lnTo>
                    <a:pt x="1495831" y="274314"/>
                  </a:lnTo>
                  <a:cubicBezTo>
                    <a:pt x="1495831" y="361467"/>
                    <a:pt x="1425179" y="432119"/>
                    <a:pt x="1338026" y="432119"/>
                  </a:cubicBezTo>
                  <a:lnTo>
                    <a:pt x="157804" y="432119"/>
                  </a:lnTo>
                  <a:cubicBezTo>
                    <a:pt x="70651" y="432119"/>
                    <a:pt x="0" y="361467"/>
                    <a:pt x="0" y="274314"/>
                  </a:cubicBezTo>
                  <a:lnTo>
                    <a:pt x="0" y="157804"/>
                  </a:lnTo>
                  <a:cubicBezTo>
                    <a:pt x="0" y="70651"/>
                    <a:pt x="70651" y="0"/>
                    <a:pt x="157804" y="0"/>
                  </a:cubicBezTo>
                  <a:close/>
                </a:path>
              </a:pathLst>
            </a:custGeom>
            <a:gradFill rotWithShape="1">
              <a:gsLst>
                <a:gs pos="0">
                  <a:srgbClr val="FFFFFF">
                    <a:alpha val="10000"/>
                  </a:srgbClr>
                </a:gs>
                <a:gs pos="100000">
                  <a:srgbClr val="FFFFFF">
                    <a:alpha val="10500"/>
                  </a:srgbClr>
                </a:gs>
              </a:gsLst>
              <a:lin ang="0"/>
            </a:gradFill>
            <a:ln w="19050" cap="rnd">
              <a:solidFill>
                <a:srgbClr val="F9F9F9"/>
              </a:solidFill>
              <a:prstDash val="solid"/>
              <a:round/>
            </a:ln>
          </p:spPr>
          <p:txBody>
            <a:bodyPr/>
            <a:lstStyle/>
            <a:p>
              <a:endParaRPr lang="en-US"/>
            </a:p>
          </p:txBody>
        </p:sp>
        <p:sp>
          <p:nvSpPr>
            <p:cNvPr id="47" name="TextBox 47"/>
            <p:cNvSpPr txBox="1"/>
            <p:nvPr/>
          </p:nvSpPr>
          <p:spPr>
            <a:xfrm>
              <a:off x="0" y="-38100"/>
              <a:ext cx="1495831" cy="47021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48" name="Group 48"/>
          <p:cNvGrpSpPr/>
          <p:nvPr/>
        </p:nvGrpSpPr>
        <p:grpSpPr>
          <a:xfrm>
            <a:off x="12353274" y="6187449"/>
            <a:ext cx="4906026" cy="1417263"/>
            <a:chOff x="0" y="0"/>
            <a:chExt cx="1495831" cy="432119"/>
          </a:xfrm>
        </p:grpSpPr>
        <p:sp>
          <p:nvSpPr>
            <p:cNvPr id="49" name="Freeform 49"/>
            <p:cNvSpPr/>
            <p:nvPr/>
          </p:nvSpPr>
          <p:spPr>
            <a:xfrm>
              <a:off x="0" y="0"/>
              <a:ext cx="1495831" cy="432119"/>
            </a:xfrm>
            <a:custGeom>
              <a:avLst/>
              <a:gdLst/>
              <a:ahLst/>
              <a:cxnLst/>
              <a:rect l="l" t="t" r="r" b="b"/>
              <a:pathLst>
                <a:path w="1495831" h="432119">
                  <a:moveTo>
                    <a:pt x="157804" y="0"/>
                  </a:moveTo>
                  <a:lnTo>
                    <a:pt x="1338026" y="0"/>
                  </a:lnTo>
                  <a:cubicBezTo>
                    <a:pt x="1425179" y="0"/>
                    <a:pt x="1495831" y="70651"/>
                    <a:pt x="1495831" y="157804"/>
                  </a:cubicBezTo>
                  <a:lnTo>
                    <a:pt x="1495831" y="274314"/>
                  </a:lnTo>
                  <a:cubicBezTo>
                    <a:pt x="1495831" y="361467"/>
                    <a:pt x="1425179" y="432119"/>
                    <a:pt x="1338026" y="432119"/>
                  </a:cubicBezTo>
                  <a:lnTo>
                    <a:pt x="157804" y="432119"/>
                  </a:lnTo>
                  <a:cubicBezTo>
                    <a:pt x="70651" y="432119"/>
                    <a:pt x="0" y="361467"/>
                    <a:pt x="0" y="274314"/>
                  </a:cubicBezTo>
                  <a:lnTo>
                    <a:pt x="0" y="157804"/>
                  </a:lnTo>
                  <a:cubicBezTo>
                    <a:pt x="0" y="70651"/>
                    <a:pt x="70651" y="0"/>
                    <a:pt x="157804" y="0"/>
                  </a:cubicBezTo>
                  <a:close/>
                </a:path>
              </a:pathLst>
            </a:custGeom>
            <a:gradFill rotWithShape="1">
              <a:gsLst>
                <a:gs pos="0">
                  <a:srgbClr val="FFFFFF">
                    <a:alpha val="10000"/>
                  </a:srgbClr>
                </a:gs>
                <a:gs pos="100000">
                  <a:srgbClr val="FFFFFF">
                    <a:alpha val="10500"/>
                  </a:srgbClr>
                </a:gs>
              </a:gsLst>
              <a:lin ang="0"/>
            </a:gradFill>
            <a:ln w="19050" cap="rnd">
              <a:solidFill>
                <a:srgbClr val="F9F9F9"/>
              </a:solidFill>
              <a:prstDash val="solid"/>
              <a:round/>
            </a:ln>
          </p:spPr>
          <p:txBody>
            <a:bodyPr/>
            <a:lstStyle/>
            <a:p>
              <a:endParaRPr lang="en-US"/>
            </a:p>
          </p:txBody>
        </p:sp>
        <p:sp>
          <p:nvSpPr>
            <p:cNvPr id="50" name="TextBox 50"/>
            <p:cNvSpPr txBox="1"/>
            <p:nvPr/>
          </p:nvSpPr>
          <p:spPr>
            <a:xfrm>
              <a:off x="0" y="-38100"/>
              <a:ext cx="1495831" cy="47021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1" name="Group 51"/>
          <p:cNvGrpSpPr/>
          <p:nvPr/>
        </p:nvGrpSpPr>
        <p:grpSpPr>
          <a:xfrm>
            <a:off x="6299049" y="2852577"/>
            <a:ext cx="1148073" cy="1137933"/>
            <a:chOff x="0" y="0"/>
            <a:chExt cx="997623" cy="988812"/>
          </a:xfrm>
        </p:grpSpPr>
        <p:sp>
          <p:nvSpPr>
            <p:cNvPr id="52" name="Freeform 52"/>
            <p:cNvSpPr/>
            <p:nvPr/>
          </p:nvSpPr>
          <p:spPr>
            <a:xfrm>
              <a:off x="0" y="0"/>
              <a:ext cx="997623" cy="988812"/>
            </a:xfrm>
            <a:custGeom>
              <a:avLst/>
              <a:gdLst/>
              <a:ahLst/>
              <a:cxnLst/>
              <a:rect l="l" t="t" r="r" b="b"/>
              <a:pathLst>
                <a:path w="997623" h="988812">
                  <a:moveTo>
                    <a:pt x="494406" y="0"/>
                  </a:moveTo>
                  <a:lnTo>
                    <a:pt x="503217" y="0"/>
                  </a:lnTo>
                  <a:cubicBezTo>
                    <a:pt x="776270" y="0"/>
                    <a:pt x="997623" y="221353"/>
                    <a:pt x="997623" y="494406"/>
                  </a:cubicBezTo>
                  <a:lnTo>
                    <a:pt x="997623" y="494406"/>
                  </a:lnTo>
                  <a:cubicBezTo>
                    <a:pt x="997623" y="625531"/>
                    <a:pt x="945534" y="751285"/>
                    <a:pt x="852815" y="844004"/>
                  </a:cubicBezTo>
                  <a:cubicBezTo>
                    <a:pt x="760096" y="936723"/>
                    <a:pt x="634342" y="988812"/>
                    <a:pt x="503217" y="988812"/>
                  </a:cubicBezTo>
                  <a:lnTo>
                    <a:pt x="494406" y="988812"/>
                  </a:lnTo>
                  <a:cubicBezTo>
                    <a:pt x="363281" y="988812"/>
                    <a:pt x="237527" y="936723"/>
                    <a:pt x="144808" y="844004"/>
                  </a:cubicBezTo>
                  <a:cubicBezTo>
                    <a:pt x="52089" y="751285"/>
                    <a:pt x="0" y="625531"/>
                    <a:pt x="0" y="494406"/>
                  </a:cubicBezTo>
                  <a:lnTo>
                    <a:pt x="0" y="494406"/>
                  </a:lnTo>
                  <a:cubicBezTo>
                    <a:pt x="0" y="363281"/>
                    <a:pt x="52089" y="237527"/>
                    <a:pt x="144808" y="144808"/>
                  </a:cubicBezTo>
                  <a:cubicBezTo>
                    <a:pt x="237527" y="52089"/>
                    <a:pt x="363281" y="0"/>
                    <a:pt x="494406" y="0"/>
                  </a:cubicBezTo>
                  <a:close/>
                </a:path>
              </a:pathLst>
            </a:custGeom>
            <a:solidFill>
              <a:srgbClr val="2ABF00"/>
            </a:solidFill>
            <a:ln w="19050" cap="rnd">
              <a:solidFill>
                <a:srgbClr val="F9F9F9"/>
              </a:solidFill>
              <a:prstDash val="solid"/>
              <a:round/>
            </a:ln>
          </p:spPr>
          <p:txBody>
            <a:bodyPr/>
            <a:lstStyle/>
            <a:p>
              <a:endParaRPr lang="en-US"/>
            </a:p>
          </p:txBody>
        </p:sp>
        <p:sp>
          <p:nvSpPr>
            <p:cNvPr id="53" name="TextBox 53"/>
            <p:cNvSpPr txBox="1"/>
            <p:nvPr/>
          </p:nvSpPr>
          <p:spPr>
            <a:xfrm>
              <a:off x="0" y="-38100"/>
              <a:ext cx="997623" cy="102691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4" name="Group 54"/>
          <p:cNvGrpSpPr/>
          <p:nvPr/>
        </p:nvGrpSpPr>
        <p:grpSpPr>
          <a:xfrm>
            <a:off x="12484855" y="6313952"/>
            <a:ext cx="1148073" cy="1137933"/>
            <a:chOff x="0" y="0"/>
            <a:chExt cx="997623" cy="988812"/>
          </a:xfrm>
        </p:grpSpPr>
        <p:sp>
          <p:nvSpPr>
            <p:cNvPr id="55" name="Freeform 55"/>
            <p:cNvSpPr/>
            <p:nvPr/>
          </p:nvSpPr>
          <p:spPr>
            <a:xfrm>
              <a:off x="0" y="0"/>
              <a:ext cx="997623" cy="988812"/>
            </a:xfrm>
            <a:custGeom>
              <a:avLst/>
              <a:gdLst/>
              <a:ahLst/>
              <a:cxnLst/>
              <a:rect l="l" t="t" r="r" b="b"/>
              <a:pathLst>
                <a:path w="997623" h="988812">
                  <a:moveTo>
                    <a:pt x="494406" y="0"/>
                  </a:moveTo>
                  <a:lnTo>
                    <a:pt x="503217" y="0"/>
                  </a:lnTo>
                  <a:cubicBezTo>
                    <a:pt x="776270" y="0"/>
                    <a:pt x="997623" y="221353"/>
                    <a:pt x="997623" y="494406"/>
                  </a:cubicBezTo>
                  <a:lnTo>
                    <a:pt x="997623" y="494406"/>
                  </a:lnTo>
                  <a:cubicBezTo>
                    <a:pt x="997623" y="625531"/>
                    <a:pt x="945534" y="751285"/>
                    <a:pt x="852815" y="844004"/>
                  </a:cubicBezTo>
                  <a:cubicBezTo>
                    <a:pt x="760096" y="936723"/>
                    <a:pt x="634342" y="988812"/>
                    <a:pt x="503217" y="988812"/>
                  </a:cubicBezTo>
                  <a:lnTo>
                    <a:pt x="494406" y="988812"/>
                  </a:lnTo>
                  <a:cubicBezTo>
                    <a:pt x="363281" y="988812"/>
                    <a:pt x="237527" y="936723"/>
                    <a:pt x="144808" y="844004"/>
                  </a:cubicBezTo>
                  <a:cubicBezTo>
                    <a:pt x="52089" y="751285"/>
                    <a:pt x="0" y="625531"/>
                    <a:pt x="0" y="494406"/>
                  </a:cubicBezTo>
                  <a:lnTo>
                    <a:pt x="0" y="494406"/>
                  </a:lnTo>
                  <a:cubicBezTo>
                    <a:pt x="0" y="363281"/>
                    <a:pt x="52089" y="237527"/>
                    <a:pt x="144808" y="144808"/>
                  </a:cubicBezTo>
                  <a:cubicBezTo>
                    <a:pt x="237527" y="52089"/>
                    <a:pt x="363281" y="0"/>
                    <a:pt x="494406" y="0"/>
                  </a:cubicBezTo>
                  <a:close/>
                </a:path>
              </a:pathLst>
            </a:custGeom>
            <a:solidFill>
              <a:srgbClr val="2ABF00"/>
            </a:solidFill>
            <a:ln w="19050" cap="rnd">
              <a:solidFill>
                <a:srgbClr val="F9F9F9"/>
              </a:solidFill>
              <a:prstDash val="solid"/>
              <a:round/>
            </a:ln>
          </p:spPr>
          <p:txBody>
            <a:bodyPr/>
            <a:lstStyle/>
            <a:p>
              <a:endParaRPr lang="en-US"/>
            </a:p>
          </p:txBody>
        </p:sp>
        <p:sp>
          <p:nvSpPr>
            <p:cNvPr id="56" name="TextBox 56"/>
            <p:cNvSpPr txBox="1"/>
            <p:nvPr/>
          </p:nvSpPr>
          <p:spPr>
            <a:xfrm>
              <a:off x="0" y="-38100"/>
              <a:ext cx="997623" cy="102691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7" name="TextBox 57"/>
          <p:cNvSpPr txBox="1"/>
          <p:nvPr/>
        </p:nvSpPr>
        <p:spPr>
          <a:xfrm>
            <a:off x="7924302" y="3272030"/>
            <a:ext cx="2857844" cy="474163"/>
          </a:xfrm>
          <a:prstGeom prst="rect">
            <a:avLst/>
          </a:prstGeom>
        </p:spPr>
        <p:txBody>
          <a:bodyPr lIns="0" tIns="0" rIns="0" bIns="0" rtlCol="0" anchor="t">
            <a:spAutoFit/>
          </a:bodyPr>
          <a:lstStyle/>
          <a:p>
            <a:pPr marL="0" lvl="0" indent="0" algn="l">
              <a:lnSpc>
                <a:spcPts val="1917"/>
              </a:lnSpc>
            </a:pPr>
            <a:r>
              <a:rPr lang="en-US" sz="1597" spc="-79">
                <a:solidFill>
                  <a:srgbClr val="FFFFFF"/>
                </a:solidFill>
                <a:latin typeface="Pragmatica"/>
                <a:ea typeface="Pragmatica"/>
                <a:cs typeface="Pragmatica"/>
                <a:sym typeface="Pragmatica"/>
              </a:rPr>
              <a:t>GP/UCB</a:t>
            </a:r>
          </a:p>
          <a:p>
            <a:pPr marL="0" lvl="0" indent="0" algn="l">
              <a:lnSpc>
                <a:spcPts val="1917"/>
              </a:lnSpc>
            </a:pPr>
            <a:r>
              <a:rPr lang="en-US" sz="1597" spc="-79">
                <a:solidFill>
                  <a:srgbClr val="FFFFFF"/>
                </a:solidFill>
                <a:latin typeface="Pragmatica"/>
                <a:ea typeface="Pragmatica"/>
                <a:cs typeface="Pragmatica"/>
                <a:sym typeface="Pragmatica"/>
              </a:rPr>
              <a:t>Ranking</a:t>
            </a:r>
          </a:p>
        </p:txBody>
      </p:sp>
      <p:sp>
        <p:nvSpPr>
          <p:cNvPr id="58" name="TextBox 58"/>
          <p:cNvSpPr txBox="1"/>
          <p:nvPr/>
        </p:nvSpPr>
        <p:spPr>
          <a:xfrm>
            <a:off x="14110108" y="6747060"/>
            <a:ext cx="2672968" cy="368545"/>
          </a:xfrm>
          <a:prstGeom prst="rect">
            <a:avLst/>
          </a:prstGeom>
        </p:spPr>
        <p:txBody>
          <a:bodyPr lIns="0" tIns="0" rIns="0" bIns="0" rtlCol="0" anchor="t">
            <a:spAutoFit/>
          </a:bodyPr>
          <a:lstStyle/>
          <a:p>
            <a:pPr marL="0" lvl="0" indent="0" algn="l">
              <a:lnSpc>
                <a:spcPts val="1406"/>
              </a:lnSpc>
            </a:pPr>
            <a:r>
              <a:rPr lang="en-US" sz="1597" spc="-79">
                <a:solidFill>
                  <a:srgbClr val="FFFFFF"/>
                </a:solidFill>
                <a:latin typeface="Pragmatica"/>
                <a:ea typeface="Pragmatica"/>
                <a:cs typeface="Pragmatica"/>
                <a:sym typeface="Pragmatica"/>
              </a:rPr>
              <a:t>Top-3</a:t>
            </a:r>
          </a:p>
          <a:p>
            <a:pPr marL="0" lvl="0" indent="0" algn="l">
              <a:lnSpc>
                <a:spcPts val="1406"/>
              </a:lnSpc>
            </a:pPr>
            <a:r>
              <a:rPr lang="en-US" sz="1597" spc="-79">
                <a:solidFill>
                  <a:srgbClr val="FFFFFF"/>
                </a:solidFill>
                <a:latin typeface="Pragmatica"/>
                <a:ea typeface="Pragmatica"/>
                <a:cs typeface="Pragmatica"/>
                <a:sym typeface="Pragmatica"/>
              </a:rPr>
              <a:t>Recipes</a:t>
            </a:r>
          </a:p>
        </p:txBody>
      </p:sp>
      <p:grpSp>
        <p:nvGrpSpPr>
          <p:cNvPr id="59" name="Group 59"/>
          <p:cNvGrpSpPr/>
          <p:nvPr/>
        </p:nvGrpSpPr>
        <p:grpSpPr>
          <a:xfrm>
            <a:off x="6167469" y="4379662"/>
            <a:ext cx="4906026" cy="1417263"/>
            <a:chOff x="0" y="0"/>
            <a:chExt cx="1495831" cy="432119"/>
          </a:xfrm>
        </p:grpSpPr>
        <p:sp>
          <p:nvSpPr>
            <p:cNvPr id="60" name="Freeform 60"/>
            <p:cNvSpPr/>
            <p:nvPr/>
          </p:nvSpPr>
          <p:spPr>
            <a:xfrm>
              <a:off x="0" y="0"/>
              <a:ext cx="1495831" cy="432119"/>
            </a:xfrm>
            <a:custGeom>
              <a:avLst/>
              <a:gdLst/>
              <a:ahLst/>
              <a:cxnLst/>
              <a:rect l="l" t="t" r="r" b="b"/>
              <a:pathLst>
                <a:path w="1495831" h="432119">
                  <a:moveTo>
                    <a:pt x="157804" y="0"/>
                  </a:moveTo>
                  <a:lnTo>
                    <a:pt x="1338026" y="0"/>
                  </a:lnTo>
                  <a:cubicBezTo>
                    <a:pt x="1425179" y="0"/>
                    <a:pt x="1495831" y="70651"/>
                    <a:pt x="1495831" y="157804"/>
                  </a:cubicBezTo>
                  <a:lnTo>
                    <a:pt x="1495831" y="274314"/>
                  </a:lnTo>
                  <a:cubicBezTo>
                    <a:pt x="1495831" y="361467"/>
                    <a:pt x="1425179" y="432119"/>
                    <a:pt x="1338026" y="432119"/>
                  </a:cubicBezTo>
                  <a:lnTo>
                    <a:pt x="157804" y="432119"/>
                  </a:lnTo>
                  <a:cubicBezTo>
                    <a:pt x="70651" y="432119"/>
                    <a:pt x="0" y="361467"/>
                    <a:pt x="0" y="274314"/>
                  </a:cubicBezTo>
                  <a:lnTo>
                    <a:pt x="0" y="157804"/>
                  </a:lnTo>
                  <a:cubicBezTo>
                    <a:pt x="0" y="70651"/>
                    <a:pt x="70651" y="0"/>
                    <a:pt x="157804" y="0"/>
                  </a:cubicBezTo>
                  <a:close/>
                </a:path>
              </a:pathLst>
            </a:custGeom>
            <a:gradFill rotWithShape="1">
              <a:gsLst>
                <a:gs pos="0">
                  <a:srgbClr val="FFFFFF">
                    <a:alpha val="10000"/>
                  </a:srgbClr>
                </a:gs>
                <a:gs pos="100000">
                  <a:srgbClr val="FFFFFF">
                    <a:alpha val="10500"/>
                  </a:srgbClr>
                </a:gs>
              </a:gsLst>
              <a:lin ang="0"/>
            </a:gradFill>
            <a:ln w="19050" cap="rnd">
              <a:solidFill>
                <a:srgbClr val="F9F9F9"/>
              </a:solidFill>
              <a:prstDash val="solid"/>
              <a:round/>
            </a:ln>
          </p:spPr>
          <p:txBody>
            <a:bodyPr/>
            <a:lstStyle/>
            <a:p>
              <a:endParaRPr lang="en-US"/>
            </a:p>
          </p:txBody>
        </p:sp>
        <p:sp>
          <p:nvSpPr>
            <p:cNvPr id="61" name="TextBox 61"/>
            <p:cNvSpPr txBox="1"/>
            <p:nvPr/>
          </p:nvSpPr>
          <p:spPr>
            <a:xfrm>
              <a:off x="0" y="-38100"/>
              <a:ext cx="1495831" cy="47021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2" name="Group 62"/>
          <p:cNvGrpSpPr/>
          <p:nvPr/>
        </p:nvGrpSpPr>
        <p:grpSpPr>
          <a:xfrm>
            <a:off x="12353274" y="7841037"/>
            <a:ext cx="4906026" cy="1417263"/>
            <a:chOff x="0" y="0"/>
            <a:chExt cx="1495831" cy="432119"/>
          </a:xfrm>
        </p:grpSpPr>
        <p:sp>
          <p:nvSpPr>
            <p:cNvPr id="63" name="Freeform 63"/>
            <p:cNvSpPr/>
            <p:nvPr/>
          </p:nvSpPr>
          <p:spPr>
            <a:xfrm>
              <a:off x="0" y="0"/>
              <a:ext cx="1495831" cy="432119"/>
            </a:xfrm>
            <a:custGeom>
              <a:avLst/>
              <a:gdLst/>
              <a:ahLst/>
              <a:cxnLst/>
              <a:rect l="l" t="t" r="r" b="b"/>
              <a:pathLst>
                <a:path w="1495831" h="432119">
                  <a:moveTo>
                    <a:pt x="157804" y="0"/>
                  </a:moveTo>
                  <a:lnTo>
                    <a:pt x="1338026" y="0"/>
                  </a:lnTo>
                  <a:cubicBezTo>
                    <a:pt x="1425179" y="0"/>
                    <a:pt x="1495831" y="70651"/>
                    <a:pt x="1495831" y="157804"/>
                  </a:cubicBezTo>
                  <a:lnTo>
                    <a:pt x="1495831" y="274314"/>
                  </a:lnTo>
                  <a:cubicBezTo>
                    <a:pt x="1495831" y="361467"/>
                    <a:pt x="1425179" y="432119"/>
                    <a:pt x="1338026" y="432119"/>
                  </a:cubicBezTo>
                  <a:lnTo>
                    <a:pt x="157804" y="432119"/>
                  </a:lnTo>
                  <a:cubicBezTo>
                    <a:pt x="70651" y="432119"/>
                    <a:pt x="0" y="361467"/>
                    <a:pt x="0" y="274314"/>
                  </a:cubicBezTo>
                  <a:lnTo>
                    <a:pt x="0" y="157804"/>
                  </a:lnTo>
                  <a:cubicBezTo>
                    <a:pt x="0" y="70651"/>
                    <a:pt x="70651" y="0"/>
                    <a:pt x="157804" y="0"/>
                  </a:cubicBezTo>
                  <a:close/>
                </a:path>
              </a:pathLst>
            </a:custGeom>
            <a:gradFill rotWithShape="1">
              <a:gsLst>
                <a:gs pos="0">
                  <a:srgbClr val="FFFFFF">
                    <a:alpha val="10000"/>
                  </a:srgbClr>
                </a:gs>
                <a:gs pos="100000">
                  <a:srgbClr val="FFFFFF">
                    <a:alpha val="10500"/>
                  </a:srgbClr>
                </a:gs>
              </a:gsLst>
              <a:lin ang="0"/>
            </a:gradFill>
            <a:ln w="19050" cap="rnd">
              <a:solidFill>
                <a:srgbClr val="F9F9F9"/>
              </a:solidFill>
              <a:prstDash val="solid"/>
              <a:round/>
            </a:ln>
          </p:spPr>
          <p:txBody>
            <a:bodyPr/>
            <a:lstStyle/>
            <a:p>
              <a:endParaRPr lang="en-US"/>
            </a:p>
          </p:txBody>
        </p:sp>
        <p:sp>
          <p:nvSpPr>
            <p:cNvPr id="64" name="TextBox 64"/>
            <p:cNvSpPr txBox="1"/>
            <p:nvPr/>
          </p:nvSpPr>
          <p:spPr>
            <a:xfrm>
              <a:off x="0" y="-38100"/>
              <a:ext cx="1495831" cy="47021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5" name="Group 65"/>
          <p:cNvGrpSpPr/>
          <p:nvPr/>
        </p:nvGrpSpPr>
        <p:grpSpPr>
          <a:xfrm>
            <a:off x="6299049" y="4506165"/>
            <a:ext cx="1148073" cy="1137933"/>
            <a:chOff x="0" y="0"/>
            <a:chExt cx="997623" cy="988812"/>
          </a:xfrm>
        </p:grpSpPr>
        <p:sp>
          <p:nvSpPr>
            <p:cNvPr id="66" name="Freeform 66"/>
            <p:cNvSpPr/>
            <p:nvPr/>
          </p:nvSpPr>
          <p:spPr>
            <a:xfrm>
              <a:off x="0" y="0"/>
              <a:ext cx="997623" cy="988812"/>
            </a:xfrm>
            <a:custGeom>
              <a:avLst/>
              <a:gdLst/>
              <a:ahLst/>
              <a:cxnLst/>
              <a:rect l="l" t="t" r="r" b="b"/>
              <a:pathLst>
                <a:path w="997623" h="988812">
                  <a:moveTo>
                    <a:pt x="494406" y="0"/>
                  </a:moveTo>
                  <a:lnTo>
                    <a:pt x="503217" y="0"/>
                  </a:lnTo>
                  <a:cubicBezTo>
                    <a:pt x="776270" y="0"/>
                    <a:pt x="997623" y="221353"/>
                    <a:pt x="997623" y="494406"/>
                  </a:cubicBezTo>
                  <a:lnTo>
                    <a:pt x="997623" y="494406"/>
                  </a:lnTo>
                  <a:cubicBezTo>
                    <a:pt x="997623" y="625531"/>
                    <a:pt x="945534" y="751285"/>
                    <a:pt x="852815" y="844004"/>
                  </a:cubicBezTo>
                  <a:cubicBezTo>
                    <a:pt x="760096" y="936723"/>
                    <a:pt x="634342" y="988812"/>
                    <a:pt x="503217" y="988812"/>
                  </a:cubicBezTo>
                  <a:lnTo>
                    <a:pt x="494406" y="988812"/>
                  </a:lnTo>
                  <a:cubicBezTo>
                    <a:pt x="363281" y="988812"/>
                    <a:pt x="237527" y="936723"/>
                    <a:pt x="144808" y="844004"/>
                  </a:cubicBezTo>
                  <a:cubicBezTo>
                    <a:pt x="52089" y="751285"/>
                    <a:pt x="0" y="625531"/>
                    <a:pt x="0" y="494406"/>
                  </a:cubicBezTo>
                  <a:lnTo>
                    <a:pt x="0" y="494406"/>
                  </a:lnTo>
                  <a:cubicBezTo>
                    <a:pt x="0" y="363281"/>
                    <a:pt x="52089" y="237527"/>
                    <a:pt x="144808" y="144808"/>
                  </a:cubicBezTo>
                  <a:cubicBezTo>
                    <a:pt x="237527" y="52089"/>
                    <a:pt x="363281" y="0"/>
                    <a:pt x="494406" y="0"/>
                  </a:cubicBezTo>
                  <a:close/>
                </a:path>
              </a:pathLst>
            </a:custGeom>
            <a:solidFill>
              <a:srgbClr val="FFFFFF"/>
            </a:solidFill>
            <a:ln w="19050" cap="rnd">
              <a:solidFill>
                <a:srgbClr val="F9F9F9"/>
              </a:solidFill>
              <a:prstDash val="solid"/>
              <a:round/>
            </a:ln>
          </p:spPr>
          <p:txBody>
            <a:bodyPr/>
            <a:lstStyle/>
            <a:p>
              <a:endParaRPr lang="en-US"/>
            </a:p>
          </p:txBody>
        </p:sp>
        <p:sp>
          <p:nvSpPr>
            <p:cNvPr id="67" name="TextBox 67"/>
            <p:cNvSpPr txBox="1"/>
            <p:nvPr/>
          </p:nvSpPr>
          <p:spPr>
            <a:xfrm>
              <a:off x="0" y="-38100"/>
              <a:ext cx="997623" cy="102691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8" name="Group 68"/>
          <p:cNvGrpSpPr/>
          <p:nvPr/>
        </p:nvGrpSpPr>
        <p:grpSpPr>
          <a:xfrm>
            <a:off x="12484855" y="7980702"/>
            <a:ext cx="1148073" cy="1137933"/>
            <a:chOff x="0" y="0"/>
            <a:chExt cx="997623" cy="988812"/>
          </a:xfrm>
        </p:grpSpPr>
        <p:sp>
          <p:nvSpPr>
            <p:cNvPr id="69" name="Freeform 69"/>
            <p:cNvSpPr/>
            <p:nvPr/>
          </p:nvSpPr>
          <p:spPr>
            <a:xfrm>
              <a:off x="0" y="0"/>
              <a:ext cx="997623" cy="988812"/>
            </a:xfrm>
            <a:custGeom>
              <a:avLst/>
              <a:gdLst/>
              <a:ahLst/>
              <a:cxnLst/>
              <a:rect l="l" t="t" r="r" b="b"/>
              <a:pathLst>
                <a:path w="997623" h="988812">
                  <a:moveTo>
                    <a:pt x="494406" y="0"/>
                  </a:moveTo>
                  <a:lnTo>
                    <a:pt x="503217" y="0"/>
                  </a:lnTo>
                  <a:cubicBezTo>
                    <a:pt x="776270" y="0"/>
                    <a:pt x="997623" y="221353"/>
                    <a:pt x="997623" y="494406"/>
                  </a:cubicBezTo>
                  <a:lnTo>
                    <a:pt x="997623" y="494406"/>
                  </a:lnTo>
                  <a:cubicBezTo>
                    <a:pt x="997623" y="625531"/>
                    <a:pt x="945534" y="751285"/>
                    <a:pt x="852815" y="844004"/>
                  </a:cubicBezTo>
                  <a:cubicBezTo>
                    <a:pt x="760096" y="936723"/>
                    <a:pt x="634342" y="988812"/>
                    <a:pt x="503217" y="988812"/>
                  </a:cubicBezTo>
                  <a:lnTo>
                    <a:pt x="494406" y="988812"/>
                  </a:lnTo>
                  <a:cubicBezTo>
                    <a:pt x="363281" y="988812"/>
                    <a:pt x="237527" y="936723"/>
                    <a:pt x="144808" y="844004"/>
                  </a:cubicBezTo>
                  <a:cubicBezTo>
                    <a:pt x="52089" y="751285"/>
                    <a:pt x="0" y="625531"/>
                    <a:pt x="0" y="494406"/>
                  </a:cubicBezTo>
                  <a:lnTo>
                    <a:pt x="0" y="494406"/>
                  </a:lnTo>
                  <a:cubicBezTo>
                    <a:pt x="0" y="363281"/>
                    <a:pt x="52089" y="237527"/>
                    <a:pt x="144808" y="144808"/>
                  </a:cubicBezTo>
                  <a:cubicBezTo>
                    <a:pt x="237527" y="52089"/>
                    <a:pt x="363281" y="0"/>
                    <a:pt x="494406" y="0"/>
                  </a:cubicBezTo>
                  <a:close/>
                </a:path>
              </a:pathLst>
            </a:custGeom>
            <a:solidFill>
              <a:srgbClr val="FFFFFF"/>
            </a:solidFill>
            <a:ln w="19050" cap="rnd">
              <a:solidFill>
                <a:srgbClr val="F9F9F9"/>
              </a:solidFill>
              <a:prstDash val="solid"/>
              <a:round/>
            </a:ln>
          </p:spPr>
          <p:txBody>
            <a:bodyPr/>
            <a:lstStyle/>
            <a:p>
              <a:endParaRPr lang="en-US"/>
            </a:p>
          </p:txBody>
        </p:sp>
        <p:sp>
          <p:nvSpPr>
            <p:cNvPr id="70" name="TextBox 70"/>
            <p:cNvSpPr txBox="1"/>
            <p:nvPr/>
          </p:nvSpPr>
          <p:spPr>
            <a:xfrm>
              <a:off x="0" y="-38100"/>
              <a:ext cx="997623" cy="102691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71" name="TextBox 71"/>
          <p:cNvSpPr txBox="1"/>
          <p:nvPr/>
        </p:nvSpPr>
        <p:spPr>
          <a:xfrm>
            <a:off x="7924302" y="4939273"/>
            <a:ext cx="2696346" cy="192930"/>
          </a:xfrm>
          <a:prstGeom prst="rect">
            <a:avLst/>
          </a:prstGeom>
        </p:spPr>
        <p:txBody>
          <a:bodyPr lIns="0" tIns="0" rIns="0" bIns="0" rtlCol="0" anchor="t">
            <a:spAutoFit/>
          </a:bodyPr>
          <a:lstStyle/>
          <a:p>
            <a:pPr marL="0" lvl="0" indent="0" algn="l">
              <a:lnSpc>
                <a:spcPts val="1406"/>
              </a:lnSpc>
            </a:pPr>
            <a:r>
              <a:rPr lang="en-US" sz="1597" spc="-79">
                <a:solidFill>
                  <a:srgbClr val="FFFFFF"/>
                </a:solidFill>
                <a:latin typeface="Pragmatica"/>
                <a:ea typeface="Pragmatica"/>
                <a:cs typeface="Pragmatica"/>
                <a:sym typeface="Pragmatica"/>
              </a:rPr>
              <a:t>Master</a:t>
            </a:r>
          </a:p>
          <a:p>
            <a:pPr marL="0" lvl="0" indent="0" algn="l">
              <a:lnSpc>
                <a:spcPts val="1406"/>
              </a:lnSpc>
            </a:pPr>
            <a:r>
              <a:rPr lang="en-US" sz="1597" spc="-79">
                <a:solidFill>
                  <a:srgbClr val="FFFFFF"/>
                </a:solidFill>
                <a:latin typeface="Pragmatica"/>
                <a:ea typeface="Pragmatica"/>
                <a:cs typeface="Pragmatica"/>
                <a:sym typeface="Pragmatica"/>
              </a:rPr>
              <a:t>Dataset</a:t>
            </a:r>
          </a:p>
        </p:txBody>
      </p:sp>
      <p:sp>
        <p:nvSpPr>
          <p:cNvPr id="72" name="TextBox 72"/>
          <p:cNvSpPr txBox="1"/>
          <p:nvPr/>
        </p:nvSpPr>
        <p:spPr>
          <a:xfrm>
            <a:off x="14110108" y="8369662"/>
            <a:ext cx="2974469" cy="474163"/>
          </a:xfrm>
          <a:prstGeom prst="rect">
            <a:avLst/>
          </a:prstGeom>
        </p:spPr>
        <p:txBody>
          <a:bodyPr lIns="0" tIns="0" rIns="0" bIns="0" rtlCol="0" anchor="t">
            <a:spAutoFit/>
          </a:bodyPr>
          <a:lstStyle/>
          <a:p>
            <a:pPr marL="0" lvl="0" indent="0" algn="l">
              <a:lnSpc>
                <a:spcPts val="1917"/>
              </a:lnSpc>
            </a:pPr>
            <a:r>
              <a:rPr lang="en-US" sz="1597" spc="-79">
                <a:solidFill>
                  <a:srgbClr val="FFFFFF"/>
                </a:solidFill>
                <a:latin typeface="Pragmatica"/>
                <a:ea typeface="Pragmatica"/>
                <a:cs typeface="Pragmatica"/>
                <a:sym typeface="Pragmatica"/>
              </a:rPr>
              <a:t>Human</a:t>
            </a:r>
          </a:p>
          <a:p>
            <a:pPr marL="0" lvl="0" indent="0" algn="l">
              <a:lnSpc>
                <a:spcPts val="1917"/>
              </a:lnSpc>
            </a:pPr>
            <a:r>
              <a:rPr lang="en-US" sz="1597" spc="-79">
                <a:solidFill>
                  <a:srgbClr val="FFFFFF"/>
                </a:solidFill>
                <a:latin typeface="Pragmatica"/>
                <a:ea typeface="Pragmatica"/>
                <a:cs typeface="Pragmatica"/>
                <a:sym typeface="Pragmatica"/>
              </a:rPr>
              <a:t>Review</a:t>
            </a:r>
          </a:p>
        </p:txBody>
      </p:sp>
      <p:sp>
        <p:nvSpPr>
          <p:cNvPr id="73" name="TextBox 73"/>
          <p:cNvSpPr txBox="1"/>
          <p:nvPr/>
        </p:nvSpPr>
        <p:spPr>
          <a:xfrm>
            <a:off x="1289438" y="3022431"/>
            <a:ext cx="1148073" cy="531549"/>
          </a:xfrm>
          <a:prstGeom prst="rect">
            <a:avLst/>
          </a:prstGeom>
        </p:spPr>
        <p:txBody>
          <a:bodyPr lIns="0" tIns="0" rIns="0" bIns="0" rtlCol="0" anchor="t">
            <a:spAutoFit/>
          </a:bodyPr>
          <a:lstStyle/>
          <a:p>
            <a:pPr marL="0" lvl="0" indent="0" algn="ctr">
              <a:lnSpc>
                <a:spcPts val="4302"/>
              </a:lnSpc>
            </a:pPr>
            <a:r>
              <a:rPr lang="en-US" sz="3072" b="1" spc="-122">
                <a:solidFill>
                  <a:srgbClr val="FFFFFF"/>
                </a:solidFill>
                <a:latin typeface="Pragmatica Bold"/>
                <a:ea typeface="Pragmatica Bold"/>
                <a:cs typeface="Pragmatica Bold"/>
                <a:sym typeface="Pragmatica Bold"/>
              </a:rPr>
              <a:t>01</a:t>
            </a:r>
          </a:p>
        </p:txBody>
      </p:sp>
      <p:sp>
        <p:nvSpPr>
          <p:cNvPr id="74" name="TextBox 74"/>
          <p:cNvSpPr txBox="1"/>
          <p:nvPr/>
        </p:nvSpPr>
        <p:spPr>
          <a:xfrm>
            <a:off x="7389456" y="6483806"/>
            <a:ext cx="1148073" cy="533032"/>
          </a:xfrm>
          <a:prstGeom prst="rect">
            <a:avLst/>
          </a:prstGeom>
        </p:spPr>
        <p:txBody>
          <a:bodyPr lIns="0" tIns="0" rIns="0" bIns="0" rtlCol="0" anchor="t">
            <a:spAutoFit/>
          </a:bodyPr>
          <a:lstStyle/>
          <a:p>
            <a:pPr marL="0" lvl="0" indent="0" algn="ctr">
              <a:lnSpc>
                <a:spcPts val="4302"/>
              </a:lnSpc>
            </a:pPr>
            <a:r>
              <a:rPr lang="en-US" sz="3072" b="1" spc="-122">
                <a:solidFill>
                  <a:srgbClr val="FFFFFF"/>
                </a:solidFill>
                <a:latin typeface="Pragmatica Bold"/>
                <a:ea typeface="Pragmatica Bold"/>
                <a:cs typeface="Pragmatica Bold"/>
                <a:sym typeface="Pragmatica Bold"/>
              </a:rPr>
              <a:t>05</a:t>
            </a:r>
          </a:p>
        </p:txBody>
      </p:sp>
      <p:sp>
        <p:nvSpPr>
          <p:cNvPr id="75" name="TextBox 75"/>
          <p:cNvSpPr txBox="1"/>
          <p:nvPr/>
        </p:nvSpPr>
        <p:spPr>
          <a:xfrm>
            <a:off x="1289438" y="4676018"/>
            <a:ext cx="1148073" cy="533032"/>
          </a:xfrm>
          <a:prstGeom prst="rect">
            <a:avLst/>
          </a:prstGeom>
        </p:spPr>
        <p:txBody>
          <a:bodyPr lIns="0" tIns="0" rIns="0" bIns="0" rtlCol="0" anchor="t">
            <a:spAutoFit/>
          </a:bodyPr>
          <a:lstStyle/>
          <a:p>
            <a:pPr marL="0" lvl="0" indent="0" algn="ctr">
              <a:lnSpc>
                <a:spcPts val="4302"/>
              </a:lnSpc>
            </a:pPr>
            <a:r>
              <a:rPr lang="en-US" sz="3072" b="1" spc="-122">
                <a:solidFill>
                  <a:srgbClr val="262626"/>
                </a:solidFill>
                <a:latin typeface="Pragmatica Bold"/>
                <a:ea typeface="Pragmatica Bold"/>
                <a:cs typeface="Pragmatica Bold"/>
                <a:sym typeface="Pragmatica Bold"/>
              </a:rPr>
              <a:t>02</a:t>
            </a:r>
          </a:p>
        </p:txBody>
      </p:sp>
      <p:sp>
        <p:nvSpPr>
          <p:cNvPr id="76" name="TextBox 76"/>
          <p:cNvSpPr txBox="1"/>
          <p:nvPr/>
        </p:nvSpPr>
        <p:spPr>
          <a:xfrm>
            <a:off x="7389456" y="8150556"/>
            <a:ext cx="1148073" cy="533032"/>
          </a:xfrm>
          <a:prstGeom prst="rect">
            <a:avLst/>
          </a:prstGeom>
        </p:spPr>
        <p:txBody>
          <a:bodyPr lIns="0" tIns="0" rIns="0" bIns="0" rtlCol="0" anchor="t">
            <a:spAutoFit/>
          </a:bodyPr>
          <a:lstStyle/>
          <a:p>
            <a:pPr marL="0" lvl="0" indent="0" algn="ctr">
              <a:lnSpc>
                <a:spcPts val="4302"/>
              </a:lnSpc>
            </a:pPr>
            <a:r>
              <a:rPr lang="en-US" sz="3072" b="1" spc="-122">
                <a:solidFill>
                  <a:srgbClr val="262626"/>
                </a:solidFill>
                <a:latin typeface="Pragmatica Bold"/>
                <a:ea typeface="Pragmatica Bold"/>
                <a:cs typeface="Pragmatica Bold"/>
                <a:sym typeface="Pragmatica Bold"/>
              </a:rPr>
              <a:t>06</a:t>
            </a:r>
          </a:p>
        </p:txBody>
      </p:sp>
      <p:sp>
        <p:nvSpPr>
          <p:cNvPr id="77" name="TextBox 77"/>
          <p:cNvSpPr txBox="1"/>
          <p:nvPr/>
        </p:nvSpPr>
        <p:spPr>
          <a:xfrm>
            <a:off x="6299049" y="3005100"/>
            <a:ext cx="1148073" cy="533032"/>
          </a:xfrm>
          <a:prstGeom prst="rect">
            <a:avLst/>
          </a:prstGeom>
        </p:spPr>
        <p:txBody>
          <a:bodyPr lIns="0" tIns="0" rIns="0" bIns="0" rtlCol="0" anchor="t">
            <a:spAutoFit/>
          </a:bodyPr>
          <a:lstStyle/>
          <a:p>
            <a:pPr marL="0" lvl="0" indent="0" algn="ctr">
              <a:lnSpc>
                <a:spcPts val="4302"/>
              </a:lnSpc>
            </a:pPr>
            <a:r>
              <a:rPr lang="en-US" sz="3072" b="1" spc="-122">
                <a:solidFill>
                  <a:srgbClr val="FFFFFF"/>
                </a:solidFill>
                <a:latin typeface="Pragmatica Bold"/>
                <a:ea typeface="Pragmatica Bold"/>
                <a:cs typeface="Pragmatica Bold"/>
                <a:sym typeface="Pragmatica Bold"/>
              </a:rPr>
              <a:t>03</a:t>
            </a:r>
          </a:p>
        </p:txBody>
      </p:sp>
      <p:sp>
        <p:nvSpPr>
          <p:cNvPr id="78" name="TextBox 78"/>
          <p:cNvSpPr txBox="1"/>
          <p:nvPr/>
        </p:nvSpPr>
        <p:spPr>
          <a:xfrm>
            <a:off x="12484855" y="6466476"/>
            <a:ext cx="1148073" cy="533032"/>
          </a:xfrm>
          <a:prstGeom prst="rect">
            <a:avLst/>
          </a:prstGeom>
        </p:spPr>
        <p:txBody>
          <a:bodyPr lIns="0" tIns="0" rIns="0" bIns="0" rtlCol="0" anchor="t">
            <a:spAutoFit/>
          </a:bodyPr>
          <a:lstStyle/>
          <a:p>
            <a:pPr marL="0" lvl="0" indent="0" algn="ctr">
              <a:lnSpc>
                <a:spcPts val="4302"/>
              </a:lnSpc>
            </a:pPr>
            <a:r>
              <a:rPr lang="en-US" sz="3072" b="1" spc="-122">
                <a:solidFill>
                  <a:srgbClr val="FFFFFF"/>
                </a:solidFill>
                <a:latin typeface="Pragmatica Bold"/>
                <a:ea typeface="Pragmatica Bold"/>
                <a:cs typeface="Pragmatica Bold"/>
                <a:sym typeface="Pragmatica Bold"/>
              </a:rPr>
              <a:t>07</a:t>
            </a:r>
          </a:p>
        </p:txBody>
      </p:sp>
      <p:sp>
        <p:nvSpPr>
          <p:cNvPr id="79" name="TextBox 79"/>
          <p:cNvSpPr txBox="1"/>
          <p:nvPr/>
        </p:nvSpPr>
        <p:spPr>
          <a:xfrm>
            <a:off x="6299049" y="4658688"/>
            <a:ext cx="1151090" cy="533032"/>
          </a:xfrm>
          <a:prstGeom prst="rect">
            <a:avLst/>
          </a:prstGeom>
        </p:spPr>
        <p:txBody>
          <a:bodyPr lIns="0" tIns="0" rIns="0" bIns="0" rtlCol="0" anchor="t">
            <a:spAutoFit/>
          </a:bodyPr>
          <a:lstStyle/>
          <a:p>
            <a:pPr marL="0" lvl="0" indent="0" algn="ctr">
              <a:lnSpc>
                <a:spcPts val="4302"/>
              </a:lnSpc>
            </a:pPr>
            <a:r>
              <a:rPr lang="en-US" sz="3072" b="1" spc="-122">
                <a:solidFill>
                  <a:srgbClr val="262626"/>
                </a:solidFill>
                <a:latin typeface="Pragmatica Bold"/>
                <a:ea typeface="Pragmatica Bold"/>
                <a:cs typeface="Pragmatica Bold"/>
                <a:sym typeface="Pragmatica Bold"/>
              </a:rPr>
              <a:t>04</a:t>
            </a:r>
          </a:p>
        </p:txBody>
      </p:sp>
      <p:sp>
        <p:nvSpPr>
          <p:cNvPr id="80" name="TextBox 80"/>
          <p:cNvSpPr txBox="1"/>
          <p:nvPr/>
        </p:nvSpPr>
        <p:spPr>
          <a:xfrm>
            <a:off x="12484855" y="8119200"/>
            <a:ext cx="1148073" cy="533032"/>
          </a:xfrm>
          <a:prstGeom prst="rect">
            <a:avLst/>
          </a:prstGeom>
        </p:spPr>
        <p:txBody>
          <a:bodyPr lIns="0" tIns="0" rIns="0" bIns="0" rtlCol="0" anchor="t">
            <a:spAutoFit/>
          </a:bodyPr>
          <a:lstStyle/>
          <a:p>
            <a:pPr marL="0" lvl="0" indent="0" algn="ctr">
              <a:lnSpc>
                <a:spcPts val="4302"/>
              </a:lnSpc>
            </a:pPr>
            <a:r>
              <a:rPr lang="en-US" sz="3072" b="1" spc="-122">
                <a:solidFill>
                  <a:srgbClr val="262626"/>
                </a:solidFill>
                <a:latin typeface="Pragmatica Bold"/>
                <a:ea typeface="Pragmatica Bold"/>
                <a:cs typeface="Pragmatica Bold"/>
                <a:sym typeface="Pragmatica Bold"/>
              </a:rPr>
              <a:t>08</a:t>
            </a:r>
          </a:p>
        </p:txBody>
      </p:sp>
      <p:sp>
        <p:nvSpPr>
          <p:cNvPr id="81" name="TextBox 81"/>
          <p:cNvSpPr txBox="1"/>
          <p:nvPr/>
        </p:nvSpPr>
        <p:spPr>
          <a:xfrm>
            <a:off x="11787869" y="3098734"/>
            <a:ext cx="6340597" cy="1447251"/>
          </a:xfrm>
          <a:prstGeom prst="rect">
            <a:avLst/>
          </a:prstGeom>
        </p:spPr>
        <p:txBody>
          <a:bodyPr lIns="0" tIns="0" rIns="0" bIns="0" rtlCol="0" anchor="t">
            <a:spAutoFit/>
          </a:bodyPr>
          <a:lstStyle/>
          <a:p>
            <a:pPr marL="0" lvl="0" indent="0" algn="l">
              <a:lnSpc>
                <a:spcPts val="5554"/>
              </a:lnSpc>
            </a:pPr>
            <a:r>
              <a:rPr lang="en-US" sz="6171" b="1" spc="-246">
                <a:solidFill>
                  <a:srgbClr val="FFFFFF"/>
                </a:solidFill>
                <a:latin typeface="Pragmatica Bold"/>
                <a:ea typeface="Pragmatica Bold"/>
                <a:cs typeface="Pragmatica Bold"/>
                <a:sym typeface="Pragmatica Bold"/>
              </a:rPr>
              <a:t>AI</a:t>
            </a:r>
          </a:p>
          <a:p>
            <a:pPr marL="0" lvl="0" indent="0" algn="l">
              <a:lnSpc>
                <a:spcPts val="5554"/>
              </a:lnSpc>
            </a:pPr>
            <a:r>
              <a:rPr lang="en-US" sz="6171" b="1" spc="-246">
                <a:solidFill>
                  <a:srgbClr val="FFFFFF"/>
                </a:solidFill>
                <a:latin typeface="Pragmatica Bold"/>
                <a:ea typeface="Pragmatica Bold"/>
                <a:cs typeface="Pragmatica Bold"/>
                <a:sym typeface="Pragmatica Bold"/>
              </a:rPr>
              <a:t>Applications</a:t>
            </a:r>
          </a:p>
        </p:txBody>
      </p:sp>
      <p:sp>
        <p:nvSpPr>
          <p:cNvPr id="82" name="TextBox 82"/>
          <p:cNvSpPr txBox="1"/>
          <p:nvPr/>
        </p:nvSpPr>
        <p:spPr>
          <a:xfrm>
            <a:off x="1157857" y="7026899"/>
            <a:ext cx="4750642" cy="1134183"/>
          </a:xfrm>
          <a:prstGeom prst="rect">
            <a:avLst/>
          </a:prstGeom>
        </p:spPr>
        <p:txBody>
          <a:bodyPr lIns="0" tIns="0" rIns="0" bIns="0" rtlCol="0" anchor="t">
            <a:spAutoFit/>
          </a:bodyPr>
          <a:lstStyle/>
          <a:p>
            <a:pPr marL="0" lvl="0" indent="0" algn="l">
              <a:lnSpc>
                <a:spcPts val="1865"/>
              </a:lnSpc>
            </a:pPr>
            <a:r>
              <a:rPr lang="en-US" sz="1371" spc="-34">
                <a:solidFill>
                  <a:srgbClr val="FFFFFF"/>
                </a:solidFill>
                <a:latin typeface="Canva Sans"/>
                <a:ea typeface="Canva Sans"/>
                <a:cs typeface="Canva Sans"/>
                <a:sym typeface="Canva Sans"/>
              </a:rPr>
              <a:t>Pipeline: raw process, SEM, EDX, and electrochemistry CSVs are merged into a master dataset. A RandomForest baseline and Gaussian Process surrogate predict retention_100. Candidate recipes are ranked by GP/UCB, then the researcher accepts, modifies, or rejects the top-3 suggestions.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AutoShape 3"/>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4" name="AutoShape 4"/>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p:cNvSpPr/>
          <p:nvPr/>
        </p:nvSpPr>
        <p:spPr>
          <a:xfrm>
            <a:off x="6075187"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AutoShape 7"/>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8" name="Freeform 8"/>
          <p:cNvSpPr/>
          <p:nvPr/>
        </p:nvSpPr>
        <p:spPr>
          <a:xfrm>
            <a:off x="14950017" y="-1114244"/>
            <a:ext cx="8534070" cy="11618164"/>
          </a:xfrm>
          <a:custGeom>
            <a:avLst/>
            <a:gdLst/>
            <a:ahLst/>
            <a:cxnLst/>
            <a:rect l="l" t="t" r="r" b="b"/>
            <a:pathLst>
              <a:path w="8534070" h="11618164">
                <a:moveTo>
                  <a:pt x="0" y="0"/>
                </a:moveTo>
                <a:lnTo>
                  <a:pt x="8534069" y="0"/>
                </a:lnTo>
                <a:lnTo>
                  <a:pt x="8534069" y="11618163"/>
                </a:lnTo>
                <a:lnTo>
                  <a:pt x="0" y="11618163"/>
                </a:lnTo>
                <a:lnTo>
                  <a:pt x="0" y="0"/>
                </a:lnTo>
                <a:close/>
              </a:path>
            </a:pathLst>
          </a:custGeom>
          <a:blipFill>
            <a:blip r:embed="rId2">
              <a:alphaModFix amt="50000"/>
            </a:blip>
            <a:stretch>
              <a:fillRect/>
            </a:stretch>
          </a:blipFill>
        </p:spPr>
        <p:txBody>
          <a:bodyPr/>
          <a:lstStyle/>
          <a:p>
            <a:endParaRPr lang="en-US"/>
          </a:p>
        </p:txBody>
      </p:sp>
      <p:grpSp>
        <p:nvGrpSpPr>
          <p:cNvPr id="9" name="Group 9"/>
          <p:cNvGrpSpPr/>
          <p:nvPr/>
        </p:nvGrpSpPr>
        <p:grpSpPr>
          <a:xfrm>
            <a:off x="1028700" y="654448"/>
            <a:ext cx="16230600" cy="748504"/>
            <a:chOff x="0" y="0"/>
            <a:chExt cx="4274726" cy="197137"/>
          </a:xfrm>
        </p:grpSpPr>
        <p:sp>
          <p:nvSpPr>
            <p:cNvPr id="10" name="Freeform 10"/>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1" name="TextBox 11"/>
            <p:cNvSpPr txBox="1"/>
            <p:nvPr/>
          </p:nvSpPr>
          <p:spPr>
            <a:xfrm>
              <a:off x="0" y="38100"/>
              <a:ext cx="4274726" cy="159037"/>
            </a:xfrm>
            <a:prstGeom prst="rect">
              <a:avLst/>
            </a:prstGeom>
          </p:spPr>
          <p:txBody>
            <a:bodyPr lIns="50800" tIns="50800" rIns="50800" bIns="50800" rtlCol="0" anchor="ctr"/>
            <a:lstStyle/>
            <a:p>
              <a:pPr marL="0" lvl="0" indent="0" algn="ctr">
                <a:lnSpc>
                  <a:spcPts val="1619"/>
                </a:lnSpc>
              </a:pPr>
              <a:endParaRPr/>
            </a:p>
          </p:txBody>
        </p:sp>
      </p:grpSp>
      <p:grpSp>
        <p:nvGrpSpPr>
          <p:cNvPr id="12" name="Group 12"/>
          <p:cNvGrpSpPr/>
          <p:nvPr/>
        </p:nvGrpSpPr>
        <p:grpSpPr>
          <a:xfrm>
            <a:off x="1240550" y="823594"/>
            <a:ext cx="2333426" cy="410211"/>
            <a:chOff x="0" y="0"/>
            <a:chExt cx="614565" cy="108039"/>
          </a:xfrm>
        </p:grpSpPr>
        <p:sp>
          <p:nvSpPr>
            <p:cNvPr id="13" name="Freeform 13"/>
            <p:cNvSpPr/>
            <p:nvPr/>
          </p:nvSpPr>
          <p:spPr>
            <a:xfrm>
              <a:off x="0" y="0"/>
              <a:ext cx="614565" cy="108039"/>
            </a:xfrm>
            <a:custGeom>
              <a:avLst/>
              <a:gdLst/>
              <a:ahLst/>
              <a:cxnLst/>
              <a:rect l="l" t="t" r="r" b="b"/>
              <a:pathLst>
                <a:path w="614565" h="108039">
                  <a:moveTo>
                    <a:pt x="54020" y="0"/>
                  </a:moveTo>
                  <a:lnTo>
                    <a:pt x="560545" y="0"/>
                  </a:lnTo>
                  <a:cubicBezTo>
                    <a:pt x="574872" y="0"/>
                    <a:pt x="588612" y="5691"/>
                    <a:pt x="598743" y="15822"/>
                  </a:cubicBezTo>
                  <a:cubicBezTo>
                    <a:pt x="608874" y="25953"/>
                    <a:pt x="614565" y="39693"/>
                    <a:pt x="614565" y="54020"/>
                  </a:cubicBezTo>
                  <a:lnTo>
                    <a:pt x="614565" y="54020"/>
                  </a:lnTo>
                  <a:cubicBezTo>
                    <a:pt x="614565" y="83854"/>
                    <a:pt x="590379" y="108039"/>
                    <a:pt x="560545" y="108039"/>
                  </a:cubicBezTo>
                  <a:lnTo>
                    <a:pt x="54020" y="108039"/>
                  </a:lnTo>
                  <a:cubicBezTo>
                    <a:pt x="39693" y="108039"/>
                    <a:pt x="25953" y="102348"/>
                    <a:pt x="15822" y="92217"/>
                  </a:cubicBezTo>
                  <a:cubicBezTo>
                    <a:pt x="5691" y="82087"/>
                    <a:pt x="0" y="68346"/>
                    <a:pt x="0" y="54020"/>
                  </a:cubicBezTo>
                  <a:lnTo>
                    <a:pt x="0" y="54020"/>
                  </a:lnTo>
                  <a:cubicBezTo>
                    <a:pt x="0" y="39693"/>
                    <a:pt x="5691" y="25953"/>
                    <a:pt x="15822" y="15822"/>
                  </a:cubicBezTo>
                  <a:cubicBezTo>
                    <a:pt x="25953" y="5691"/>
                    <a:pt x="39693" y="0"/>
                    <a:pt x="54020" y="0"/>
                  </a:cubicBezTo>
                  <a:close/>
                </a:path>
              </a:pathLst>
            </a:custGeom>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ln cap="rnd">
              <a:noFill/>
              <a:prstDash val="solid"/>
              <a:round/>
            </a:ln>
          </p:spPr>
          <p:txBody>
            <a:bodyPr/>
            <a:lstStyle/>
            <a:p>
              <a:endParaRPr lang="en-US"/>
            </a:p>
          </p:txBody>
        </p:sp>
        <p:sp>
          <p:nvSpPr>
            <p:cNvPr id="14" name="TextBox 14"/>
            <p:cNvSpPr txBox="1"/>
            <p:nvPr/>
          </p:nvSpPr>
          <p:spPr>
            <a:xfrm>
              <a:off x="0" y="38100"/>
              <a:ext cx="614565" cy="69939"/>
            </a:xfrm>
            <a:prstGeom prst="rect">
              <a:avLst/>
            </a:prstGeom>
          </p:spPr>
          <p:txBody>
            <a:bodyPr lIns="50800" tIns="50800" rIns="50800" bIns="50800" rtlCol="0" anchor="ctr"/>
            <a:lstStyle/>
            <a:p>
              <a:pPr marL="0" lvl="0" indent="0" algn="ctr">
                <a:lnSpc>
                  <a:spcPts val="1619"/>
                </a:lnSpc>
              </a:pPr>
              <a:endParaRPr/>
            </a:p>
          </p:txBody>
        </p:sp>
      </p:grpSp>
      <p:pic>
        <p:nvPicPr>
          <p:cNvPr id="100000" name="Picture 1" descr="SAM segmentation overlay on SEM micrograph"/>
          <p:cNvPicPr>
            <a:picLocks noChangeAspect="1"/>
          </p:cNvPicPr>
          <p:nvPr/>
        </p:nvPicPr>
        <p:blipFill>
          <a:blip r:embed="rId3"/>
          <a:stretch>
            <a:fillRect/>
          </a:stretch>
        </p:blipFill>
        <p:spPr>
          <a:xfrm>
            <a:off x="1028700" y="2580285"/>
            <a:ext cx="6750000" cy="5062500"/>
          </a:xfrm>
          <a:prstGeom prst="rect">
            <a:avLst/>
          </a:prstGeom>
        </p:spPr>
      </p:pic>
      <p:sp>
        <p:nvSpPr>
          <p:cNvPr id="21" name="TextBox 21"/>
          <p:cNvSpPr txBox="1"/>
          <p:nvPr/>
        </p:nvSpPr>
        <p:spPr>
          <a:xfrm>
            <a:off x="1157857" y="895287"/>
            <a:ext cx="2498812" cy="238272"/>
          </a:xfrm>
          <a:prstGeom prst="rect">
            <a:avLst/>
          </a:prstGeom>
        </p:spPr>
        <p:txBody>
          <a:bodyPr lIns="0" tIns="0" rIns="0" bIns="0" rtlCol="0" anchor="t">
            <a:spAutoFit/>
          </a:bodyPr>
          <a:lstStyle/>
          <a:p>
            <a:pPr marL="0" lvl="0" indent="0" algn="ctr">
              <a:lnSpc>
                <a:spcPts val="1902"/>
              </a:lnSpc>
            </a:pPr>
            <a:r>
              <a:rPr lang="en-US" sz="1399" spc="-34">
                <a:solidFill>
                  <a:srgbClr val="FFFFFF"/>
                </a:solidFill>
                <a:latin typeface="Canva Sans"/>
                <a:ea typeface="Canva Sans"/>
                <a:cs typeface="Canva Sans"/>
                <a:sym typeface="Canva Sans"/>
              </a:rPr>
              <a:t>SEM Feature Extraction</a:t>
            </a:r>
          </a:p>
        </p:txBody>
      </p:sp>
      <p:sp>
        <p:nvSpPr>
          <p:cNvPr id="22" name="TextBox 22"/>
          <p:cNvSpPr txBox="1"/>
          <p:nvPr/>
        </p:nvSpPr>
        <p:spPr>
          <a:xfrm>
            <a:off x="3358755" y="895287"/>
            <a:ext cx="2498812" cy="238272"/>
          </a:xfrm>
          <a:prstGeom prst="rect">
            <a:avLst/>
          </a:prstGeom>
        </p:spPr>
        <p:txBody>
          <a:bodyPr lIns="0" tIns="0" rIns="0" bIns="0" rtlCol="0" anchor="t">
            <a:spAutoFit/>
          </a:bodyPr>
          <a:lstStyle/>
          <a:p>
            <a:pPr marL="0" lvl="0" indent="0" algn="ctr">
              <a:lnSpc>
                <a:spcPts val="1902"/>
              </a:lnSpc>
            </a:pPr>
            <a:r>
              <a:rPr lang="en-US" sz="1399" spc="-34">
                <a:solidFill>
                  <a:srgbClr val="FFFFFF"/>
                </a:solidFill>
                <a:latin typeface="Canva Sans"/>
                <a:ea typeface="Canva Sans"/>
                <a:cs typeface="Canva Sans"/>
                <a:sym typeface="Canva Sans"/>
              </a:rPr>
              <a:t>Problem Statement</a:t>
            </a:r>
          </a:p>
        </p:txBody>
      </p:sp>
      <p:sp>
        <p:nvSpPr>
          <p:cNvPr id="23" name="TextBox 23"/>
          <p:cNvSpPr txBox="1"/>
          <p:nvPr/>
        </p:nvSpPr>
        <p:spPr>
          <a:xfrm>
            <a:off x="5108285" y="895287"/>
            <a:ext cx="2498812" cy="238272"/>
          </a:xfrm>
          <a:prstGeom prst="rect">
            <a:avLst/>
          </a:prstGeom>
        </p:spPr>
        <p:txBody>
          <a:bodyPr lIns="0" tIns="0" rIns="0" bIns="0" rtlCol="0" anchor="t">
            <a:spAutoFit/>
          </a:bodyPr>
          <a:lstStyle/>
          <a:p>
            <a:pPr marL="0" lvl="0" indent="0" algn="ctr">
              <a:lnSpc>
                <a:spcPts val="1902"/>
              </a:lnSpc>
            </a:pPr>
            <a:r>
              <a:rPr lang="en-US" sz="1399" spc="-34">
                <a:solidFill>
                  <a:srgbClr val="FFFFFF"/>
                </a:solidFill>
                <a:latin typeface="Canva Sans"/>
                <a:ea typeface="Canva Sans"/>
                <a:cs typeface="Canva Sans"/>
                <a:sym typeface="Canva Sans"/>
              </a:rPr>
              <a:t>Framework</a:t>
            </a:r>
          </a:p>
        </p:txBody>
      </p:sp>
      <p:sp>
        <p:nvSpPr>
          <p:cNvPr id="24" name="TextBox 24"/>
          <p:cNvSpPr txBox="1"/>
          <p:nvPr/>
        </p:nvSpPr>
        <p:spPr>
          <a:xfrm>
            <a:off x="6552810" y="895287"/>
            <a:ext cx="2498812" cy="238272"/>
          </a:xfrm>
          <a:prstGeom prst="rect">
            <a:avLst/>
          </a:prstGeom>
        </p:spPr>
        <p:txBody>
          <a:bodyPr lIns="0" tIns="0" rIns="0" bIns="0" rtlCol="0" anchor="t">
            <a:spAutoFit/>
          </a:bodyPr>
          <a:lstStyle/>
          <a:p>
            <a:pPr marL="0" lvl="0" indent="0" algn="ctr">
              <a:lnSpc>
                <a:spcPts val="1902"/>
              </a:lnSpc>
            </a:pPr>
            <a:r>
              <a:rPr lang="en-US" sz="1399" spc="-34">
                <a:solidFill>
                  <a:srgbClr val="FFFFFF"/>
                </a:solidFill>
                <a:latin typeface="Canva Sans"/>
                <a:ea typeface="Canva Sans"/>
                <a:cs typeface="Canva Sans"/>
                <a:sym typeface="Canva Sans"/>
              </a:rPr>
              <a:t>Methodology</a:t>
            </a:r>
          </a:p>
        </p:txBody>
      </p:sp>
      <p:sp>
        <p:nvSpPr>
          <p:cNvPr id="25" name="TextBox 25"/>
          <p:cNvSpPr txBox="1"/>
          <p:nvPr/>
        </p:nvSpPr>
        <p:spPr>
          <a:xfrm>
            <a:off x="14585765" y="904812"/>
            <a:ext cx="2498812" cy="287300"/>
          </a:xfrm>
          <a:prstGeom prst="rect">
            <a:avLst/>
          </a:prstGeom>
        </p:spPr>
        <p:txBody>
          <a:bodyPr lIns="0" tIns="0" rIns="0" bIns="0" rtlCol="0" anchor="t">
            <a:spAutoFit/>
          </a:bodyPr>
          <a:lstStyle/>
          <a:p>
            <a:pPr marL="0" lvl="0" indent="0" algn="r">
              <a:lnSpc>
                <a:spcPts val="2446"/>
              </a:lnSpc>
            </a:pPr>
            <a:r>
              <a:rPr lang="en-US" sz="1798" b="1" spc="-44">
                <a:solidFill>
                  <a:srgbClr val="FFFFFF"/>
                </a:solidFill>
                <a:latin typeface="Canva Sans Bold"/>
                <a:ea typeface="Canva Sans Bold"/>
                <a:cs typeface="Canva Sans Bold"/>
                <a:sym typeface="Canva Sans Bold"/>
              </a:rPr>
              <a:t>Larana Company</a:t>
            </a:r>
          </a:p>
        </p:txBody>
      </p:sp>
      <p:sp>
        <p:nvSpPr>
          <p:cNvPr id="26" name="TextBox 26"/>
          <p:cNvSpPr txBox="1"/>
          <p:nvPr/>
        </p:nvSpPr>
        <p:spPr>
          <a:xfrm>
            <a:off x="8871997" y="2837460"/>
            <a:ext cx="9165821" cy="2197708"/>
          </a:xfrm>
          <a:prstGeom prst="rect">
            <a:avLst/>
          </a:prstGeom>
        </p:spPr>
        <p:txBody>
          <a:bodyPr lIns="0" tIns="0" rIns="0" bIns="0" rtlCol="0" anchor="t">
            <a:spAutoFit/>
          </a:bodyPr>
          <a:lstStyle/>
          <a:p>
            <a:pPr marL="0" lvl="0" indent="0" algn="l">
              <a:lnSpc>
                <a:spcPts val="8325"/>
              </a:lnSpc>
              <a:spcBef>
                <a:spcPct val="0"/>
              </a:spcBef>
            </a:pPr>
            <a:r>
              <a:rPr lang="en-US" sz="9250" b="1" u="none" strike="noStrike" spc="-370">
                <a:solidFill>
                  <a:srgbClr val="FFFFFF"/>
                </a:solidFill>
                <a:latin typeface="Pragmatica Bold"/>
                <a:ea typeface="Pragmatica Bold"/>
                <a:cs typeface="Pragmatica Bold"/>
                <a:sym typeface="Pragmatica Bold"/>
              </a:rPr>
              <a:t>SEM-Derived</a:t>
            </a:r>
          </a:p>
          <a:p>
            <a:pPr marL="0" lvl="0" indent="0" algn="l">
              <a:lnSpc>
                <a:spcPts val="8325"/>
              </a:lnSpc>
              <a:spcBef>
                <a:spcPct val="0"/>
              </a:spcBef>
            </a:pPr>
            <a:r>
              <a:rPr lang="en-US" sz="9250" b="1" u="none" strike="noStrike" spc="-370">
                <a:solidFill>
                  <a:srgbClr val="FFFFFF"/>
                </a:solidFill>
                <a:latin typeface="Pragmatica Bold"/>
                <a:ea typeface="Pragmatica Bold"/>
                <a:cs typeface="Pragmatica Bold"/>
                <a:sym typeface="Pragmatica Bold"/>
              </a:rPr>
              <a:t>Morphology</a:t>
            </a:r>
          </a:p>
        </p:txBody>
      </p:sp>
      <p:sp>
        <p:nvSpPr>
          <p:cNvPr id="27" name="TextBox 27"/>
          <p:cNvSpPr txBox="1"/>
          <p:nvPr/>
        </p:nvSpPr>
        <p:spPr>
          <a:xfrm>
            <a:off x="8871997" y="7754231"/>
            <a:ext cx="6761545" cy="1053361"/>
          </a:xfrm>
          <a:prstGeom prst="rect">
            <a:avLst/>
          </a:prstGeom>
        </p:spPr>
        <p:txBody>
          <a:bodyPr lIns="0" tIns="0" rIns="0" bIns="0" rtlCol="0" anchor="t">
            <a:spAutoFit/>
          </a:bodyPr>
          <a:lstStyle/>
          <a:p>
            <a:pPr marL="0" lvl="0" indent="0" algn="l">
              <a:lnSpc>
                <a:spcPts val="2174"/>
              </a:lnSpc>
            </a:pPr>
            <a:r>
              <a:rPr lang="en-US" sz="1598" spc="-39">
                <a:solidFill>
                  <a:srgbClr val="FFFFFF"/>
                </a:solidFill>
                <a:latin typeface="Canva Sans"/>
                <a:ea typeface="Canva Sans"/>
                <a:cs typeface="Canva Sans"/>
                <a:sym typeface="Canva Sans"/>
              </a:rPr>
              <a:t>SEM images are converted into lightweight morphology features: particle size, porosity score, agglomeration index, crack density, and surface uniformity. These descriptors tell the model what the electrode microstructure looks like.</a:t>
            </a:r>
          </a:p>
        </p:txBody>
      </p:sp>
      <p:sp>
        <p:nvSpPr>
          <p:cNvPr id="28" name="TextBox 28"/>
          <p:cNvSpPr txBox="1"/>
          <p:nvPr/>
        </p:nvSpPr>
        <p:spPr>
          <a:xfrm>
            <a:off x="8871997" y="6423020"/>
            <a:ext cx="6761545" cy="1053361"/>
          </a:xfrm>
          <a:prstGeom prst="rect">
            <a:avLst/>
          </a:prstGeom>
        </p:spPr>
        <p:txBody>
          <a:bodyPr lIns="0" tIns="0" rIns="0" bIns="0" rtlCol="0" anchor="t">
            <a:spAutoFit/>
          </a:bodyPr>
          <a:lstStyle/>
          <a:p>
            <a:pPr marL="0" lvl="0" indent="0" algn="l">
              <a:lnSpc>
                <a:spcPts val="2174"/>
              </a:lnSpc>
            </a:pPr>
            <a:r>
              <a:rPr lang="en-US" sz="1598" spc="-39">
                <a:solidFill>
                  <a:srgbClr val="FFFFFF"/>
                </a:solidFill>
                <a:latin typeface="Canva Sans"/>
                <a:ea typeface="Canva Sans"/>
                <a:cs typeface="Canva Sans"/>
                <a:sym typeface="Canva Sans"/>
              </a:rPr>
              <a:t>The shown SAM overlay is a tested visual route for segmentation. In the MVP, simple ImageJ/OpenCV/scikit-image features are enough; SAM/SAM2 can be used later when the dataset and labeling workflow are mature.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Freeform 3"/>
          <p:cNvSpPr/>
          <p:nvPr/>
        </p:nvSpPr>
        <p:spPr>
          <a:xfrm>
            <a:off x="14909342" y="-671880"/>
            <a:ext cx="4982449" cy="11630759"/>
          </a:xfrm>
          <a:custGeom>
            <a:avLst/>
            <a:gdLst/>
            <a:ahLst/>
            <a:cxnLst/>
            <a:rect l="l" t="t" r="r" b="b"/>
            <a:pathLst>
              <a:path w="8534070" h="11630759">
                <a:moveTo>
                  <a:pt x="0" y="0"/>
                </a:moveTo>
                <a:lnTo>
                  <a:pt x="8534069" y="0"/>
                </a:lnTo>
                <a:lnTo>
                  <a:pt x="8534069" y="11630759"/>
                </a:lnTo>
                <a:lnTo>
                  <a:pt x="0" y="11630759"/>
                </a:lnTo>
                <a:lnTo>
                  <a:pt x="0" y="0"/>
                </a:lnTo>
                <a:close/>
              </a:path>
            </a:pathLst>
          </a:custGeom>
          <a:blipFill>
            <a:blip r:embed="rId2">
              <a:alphaModFix amt="50000"/>
            </a:blip>
            <a:stretch>
              <a:fillRect/>
            </a:stretch>
          </a:blipFill>
        </p:spPr>
        <p:txBody>
          <a:bodyPr/>
          <a:lstStyle/>
          <a:p>
            <a:endParaRPr lang="en-US"/>
          </a:p>
        </p:txBody>
      </p:sp>
      <p:sp>
        <p:nvSpPr>
          <p:cNvPr id="4" name="AutoShape 4"/>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p:cNvSpPr/>
          <p:nvPr/>
        </p:nvSpPr>
        <p:spPr>
          <a:xfrm>
            <a:off x="6075187"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AutoShape 7"/>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8" name="AutoShape 8"/>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grpSp>
        <p:nvGrpSpPr>
          <p:cNvPr id="9" name="Group 9"/>
          <p:cNvGrpSpPr/>
          <p:nvPr/>
        </p:nvGrpSpPr>
        <p:grpSpPr>
          <a:xfrm>
            <a:off x="1028700" y="654448"/>
            <a:ext cx="16230600" cy="748504"/>
            <a:chOff x="0" y="0"/>
            <a:chExt cx="4274726" cy="197137"/>
          </a:xfrm>
        </p:grpSpPr>
        <p:sp>
          <p:nvSpPr>
            <p:cNvPr id="10" name="Freeform 10"/>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1" name="TextBox 11"/>
            <p:cNvSpPr txBox="1"/>
            <p:nvPr/>
          </p:nvSpPr>
          <p:spPr>
            <a:xfrm>
              <a:off x="0" y="38100"/>
              <a:ext cx="4274726" cy="159037"/>
            </a:xfrm>
            <a:prstGeom prst="rect">
              <a:avLst/>
            </a:prstGeom>
          </p:spPr>
          <p:txBody>
            <a:bodyPr lIns="50800" tIns="50800" rIns="50800" bIns="50800" rtlCol="0" anchor="ctr"/>
            <a:lstStyle/>
            <a:p>
              <a:pPr marL="0" lvl="0" indent="0" algn="ctr">
                <a:lnSpc>
                  <a:spcPts val="1619"/>
                </a:lnSpc>
              </a:pPr>
              <a:endParaRPr/>
            </a:p>
          </p:txBody>
        </p:sp>
      </p:grpSp>
      <p:grpSp>
        <p:nvGrpSpPr>
          <p:cNvPr id="12" name="Group 12"/>
          <p:cNvGrpSpPr/>
          <p:nvPr/>
        </p:nvGrpSpPr>
        <p:grpSpPr>
          <a:xfrm>
            <a:off x="6986109" y="823594"/>
            <a:ext cx="1632214" cy="410211"/>
            <a:chOff x="0" y="0"/>
            <a:chExt cx="429883" cy="108039"/>
          </a:xfrm>
        </p:grpSpPr>
        <p:sp>
          <p:nvSpPr>
            <p:cNvPr id="13" name="Freeform 13"/>
            <p:cNvSpPr/>
            <p:nvPr/>
          </p:nvSpPr>
          <p:spPr>
            <a:xfrm>
              <a:off x="0" y="0"/>
              <a:ext cx="429883" cy="108039"/>
            </a:xfrm>
            <a:custGeom>
              <a:avLst/>
              <a:gdLst/>
              <a:ahLst/>
              <a:cxnLst/>
              <a:rect l="l" t="t" r="r" b="b"/>
              <a:pathLst>
                <a:path w="429883" h="108039">
                  <a:moveTo>
                    <a:pt x="54020" y="0"/>
                  </a:moveTo>
                  <a:lnTo>
                    <a:pt x="375864" y="0"/>
                  </a:lnTo>
                  <a:cubicBezTo>
                    <a:pt x="390191" y="0"/>
                    <a:pt x="403931" y="5691"/>
                    <a:pt x="414061" y="15822"/>
                  </a:cubicBezTo>
                  <a:cubicBezTo>
                    <a:pt x="424192" y="25953"/>
                    <a:pt x="429883" y="39693"/>
                    <a:pt x="429883" y="54020"/>
                  </a:cubicBezTo>
                  <a:lnTo>
                    <a:pt x="429883" y="54020"/>
                  </a:lnTo>
                  <a:cubicBezTo>
                    <a:pt x="429883" y="83854"/>
                    <a:pt x="405698" y="108039"/>
                    <a:pt x="375864" y="108039"/>
                  </a:cubicBezTo>
                  <a:lnTo>
                    <a:pt x="54020" y="108039"/>
                  </a:lnTo>
                  <a:cubicBezTo>
                    <a:pt x="39693" y="108039"/>
                    <a:pt x="25953" y="102348"/>
                    <a:pt x="15822" y="92217"/>
                  </a:cubicBezTo>
                  <a:cubicBezTo>
                    <a:pt x="5691" y="82087"/>
                    <a:pt x="0" y="68346"/>
                    <a:pt x="0" y="54020"/>
                  </a:cubicBezTo>
                  <a:lnTo>
                    <a:pt x="0" y="54020"/>
                  </a:lnTo>
                  <a:cubicBezTo>
                    <a:pt x="0" y="39693"/>
                    <a:pt x="5691" y="25953"/>
                    <a:pt x="15822" y="15822"/>
                  </a:cubicBezTo>
                  <a:cubicBezTo>
                    <a:pt x="25953" y="5691"/>
                    <a:pt x="39693" y="0"/>
                    <a:pt x="54020" y="0"/>
                  </a:cubicBezTo>
                  <a:close/>
                </a:path>
              </a:pathLst>
            </a:custGeom>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ln cap="rnd">
              <a:noFill/>
              <a:prstDash val="solid"/>
              <a:round/>
            </a:ln>
          </p:spPr>
          <p:txBody>
            <a:bodyPr/>
            <a:lstStyle/>
            <a:p>
              <a:endParaRPr lang="en-US"/>
            </a:p>
          </p:txBody>
        </p:sp>
        <p:sp>
          <p:nvSpPr>
            <p:cNvPr id="14" name="TextBox 14"/>
            <p:cNvSpPr txBox="1"/>
            <p:nvPr/>
          </p:nvSpPr>
          <p:spPr>
            <a:xfrm>
              <a:off x="0" y="38100"/>
              <a:ext cx="429883" cy="69939"/>
            </a:xfrm>
            <a:prstGeom prst="rect">
              <a:avLst/>
            </a:prstGeom>
          </p:spPr>
          <p:txBody>
            <a:bodyPr lIns="50800" tIns="50800" rIns="50800" bIns="50800" rtlCol="0" anchor="ctr"/>
            <a:lstStyle/>
            <a:p>
              <a:pPr marL="0" lvl="0" indent="0" algn="ctr">
                <a:lnSpc>
                  <a:spcPts val="1619"/>
                </a:lnSpc>
              </a:pPr>
              <a:endParaRPr/>
            </a:p>
          </p:txBody>
        </p:sp>
      </p:grpSp>
      <p:grpSp>
        <p:nvGrpSpPr>
          <p:cNvPr id="15" name="Group 15"/>
          <p:cNvGrpSpPr/>
          <p:nvPr/>
        </p:nvGrpSpPr>
        <p:grpSpPr>
          <a:xfrm>
            <a:off x="1829372" y="5313605"/>
            <a:ext cx="6578198" cy="3130425"/>
            <a:chOff x="0" y="0"/>
            <a:chExt cx="1732529" cy="824474"/>
          </a:xfrm>
        </p:grpSpPr>
        <p:sp>
          <p:nvSpPr>
            <p:cNvPr id="16" name="Freeform 16"/>
            <p:cNvSpPr/>
            <p:nvPr/>
          </p:nvSpPr>
          <p:spPr>
            <a:xfrm>
              <a:off x="0" y="0"/>
              <a:ext cx="1732529" cy="824474"/>
            </a:xfrm>
            <a:custGeom>
              <a:avLst/>
              <a:gdLst/>
              <a:ahLst/>
              <a:cxnLst/>
              <a:rect l="l" t="t" r="r" b="b"/>
              <a:pathLst>
                <a:path w="1732529" h="824474">
                  <a:moveTo>
                    <a:pt x="58845" y="0"/>
                  </a:moveTo>
                  <a:lnTo>
                    <a:pt x="1673684" y="0"/>
                  </a:lnTo>
                  <a:cubicBezTo>
                    <a:pt x="1689291" y="0"/>
                    <a:pt x="1704258" y="6200"/>
                    <a:pt x="1715294" y="17235"/>
                  </a:cubicBezTo>
                  <a:cubicBezTo>
                    <a:pt x="1726330" y="28271"/>
                    <a:pt x="1732529" y="43239"/>
                    <a:pt x="1732529" y="58845"/>
                  </a:cubicBezTo>
                  <a:lnTo>
                    <a:pt x="1732529" y="765629"/>
                  </a:lnTo>
                  <a:cubicBezTo>
                    <a:pt x="1732529" y="781236"/>
                    <a:pt x="1726330" y="796203"/>
                    <a:pt x="1715294" y="807239"/>
                  </a:cubicBezTo>
                  <a:cubicBezTo>
                    <a:pt x="1704258" y="818274"/>
                    <a:pt x="1689291" y="824474"/>
                    <a:pt x="1673684" y="824474"/>
                  </a:cubicBezTo>
                  <a:lnTo>
                    <a:pt x="58845" y="824474"/>
                  </a:lnTo>
                  <a:cubicBezTo>
                    <a:pt x="43239" y="824474"/>
                    <a:pt x="28271" y="818274"/>
                    <a:pt x="17235" y="807239"/>
                  </a:cubicBezTo>
                  <a:cubicBezTo>
                    <a:pt x="6200" y="796203"/>
                    <a:pt x="0" y="781236"/>
                    <a:pt x="0" y="765629"/>
                  </a:cubicBezTo>
                  <a:lnTo>
                    <a:pt x="0" y="58845"/>
                  </a:lnTo>
                  <a:cubicBezTo>
                    <a:pt x="0" y="43239"/>
                    <a:pt x="6200" y="28271"/>
                    <a:pt x="17235" y="17235"/>
                  </a:cubicBezTo>
                  <a:cubicBezTo>
                    <a:pt x="28271" y="6200"/>
                    <a:pt x="43239" y="0"/>
                    <a:pt x="58845"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7" name="TextBox 17"/>
            <p:cNvSpPr txBox="1"/>
            <p:nvPr/>
          </p:nvSpPr>
          <p:spPr>
            <a:xfrm>
              <a:off x="0" y="38100"/>
              <a:ext cx="1732529" cy="786374"/>
            </a:xfrm>
            <a:prstGeom prst="rect">
              <a:avLst/>
            </a:prstGeom>
          </p:spPr>
          <p:txBody>
            <a:bodyPr lIns="50800" tIns="50800" rIns="50800" bIns="50800" rtlCol="0" anchor="ctr"/>
            <a:lstStyle/>
            <a:p>
              <a:pPr marL="0" lvl="0" indent="0" algn="ctr">
                <a:lnSpc>
                  <a:spcPts val="1619"/>
                </a:lnSpc>
              </a:pPr>
              <a:endParaRPr/>
            </a:p>
          </p:txBody>
        </p:sp>
      </p:grpSp>
      <p:grpSp>
        <p:nvGrpSpPr>
          <p:cNvPr id="18" name="Group 18"/>
          <p:cNvGrpSpPr/>
          <p:nvPr/>
        </p:nvGrpSpPr>
        <p:grpSpPr>
          <a:xfrm>
            <a:off x="9219467" y="5306860"/>
            <a:ext cx="6578198" cy="3130425"/>
            <a:chOff x="0" y="0"/>
            <a:chExt cx="1732529" cy="824474"/>
          </a:xfrm>
        </p:grpSpPr>
        <p:sp>
          <p:nvSpPr>
            <p:cNvPr id="19" name="Freeform 19"/>
            <p:cNvSpPr/>
            <p:nvPr/>
          </p:nvSpPr>
          <p:spPr>
            <a:xfrm>
              <a:off x="0" y="0"/>
              <a:ext cx="1732529" cy="824474"/>
            </a:xfrm>
            <a:custGeom>
              <a:avLst/>
              <a:gdLst/>
              <a:ahLst/>
              <a:cxnLst/>
              <a:rect l="l" t="t" r="r" b="b"/>
              <a:pathLst>
                <a:path w="1732529" h="824474">
                  <a:moveTo>
                    <a:pt x="58845" y="0"/>
                  </a:moveTo>
                  <a:lnTo>
                    <a:pt x="1673684" y="0"/>
                  </a:lnTo>
                  <a:cubicBezTo>
                    <a:pt x="1689291" y="0"/>
                    <a:pt x="1704258" y="6200"/>
                    <a:pt x="1715294" y="17235"/>
                  </a:cubicBezTo>
                  <a:cubicBezTo>
                    <a:pt x="1726330" y="28271"/>
                    <a:pt x="1732529" y="43239"/>
                    <a:pt x="1732529" y="58845"/>
                  </a:cubicBezTo>
                  <a:lnTo>
                    <a:pt x="1732529" y="765629"/>
                  </a:lnTo>
                  <a:cubicBezTo>
                    <a:pt x="1732529" y="781236"/>
                    <a:pt x="1726330" y="796203"/>
                    <a:pt x="1715294" y="807239"/>
                  </a:cubicBezTo>
                  <a:cubicBezTo>
                    <a:pt x="1704258" y="818274"/>
                    <a:pt x="1689291" y="824474"/>
                    <a:pt x="1673684" y="824474"/>
                  </a:cubicBezTo>
                  <a:lnTo>
                    <a:pt x="58845" y="824474"/>
                  </a:lnTo>
                  <a:cubicBezTo>
                    <a:pt x="43239" y="824474"/>
                    <a:pt x="28271" y="818274"/>
                    <a:pt x="17235" y="807239"/>
                  </a:cubicBezTo>
                  <a:cubicBezTo>
                    <a:pt x="6200" y="796203"/>
                    <a:pt x="0" y="781236"/>
                    <a:pt x="0" y="765629"/>
                  </a:cubicBezTo>
                  <a:lnTo>
                    <a:pt x="0" y="58845"/>
                  </a:lnTo>
                  <a:cubicBezTo>
                    <a:pt x="0" y="43239"/>
                    <a:pt x="6200" y="28271"/>
                    <a:pt x="17235" y="17235"/>
                  </a:cubicBezTo>
                  <a:cubicBezTo>
                    <a:pt x="28271" y="6200"/>
                    <a:pt x="43239" y="0"/>
                    <a:pt x="58845"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20" name="TextBox 20"/>
            <p:cNvSpPr txBox="1"/>
            <p:nvPr/>
          </p:nvSpPr>
          <p:spPr>
            <a:xfrm>
              <a:off x="0" y="38100"/>
              <a:ext cx="1732529" cy="786374"/>
            </a:xfrm>
            <a:prstGeom prst="rect">
              <a:avLst/>
            </a:prstGeom>
          </p:spPr>
          <p:txBody>
            <a:bodyPr lIns="50800" tIns="50800" rIns="50800" bIns="50800" rtlCol="0" anchor="ctr"/>
            <a:lstStyle/>
            <a:p>
              <a:pPr marL="0" lvl="0" indent="0" algn="ctr">
                <a:lnSpc>
                  <a:spcPts val="1619"/>
                </a:lnSpc>
              </a:pPr>
              <a:endParaRPr/>
            </a:p>
          </p:txBody>
        </p:sp>
      </p:grpSp>
      <p:grpSp>
        <p:nvGrpSpPr>
          <p:cNvPr id="21" name="Group 21"/>
          <p:cNvGrpSpPr/>
          <p:nvPr/>
        </p:nvGrpSpPr>
        <p:grpSpPr>
          <a:xfrm>
            <a:off x="1294549" y="4713124"/>
            <a:ext cx="1378563" cy="1378563"/>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4119"/>
            </a:soli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23" name="TextBox 23"/>
            <p:cNvSpPr txBox="1"/>
            <p:nvPr/>
          </p:nvSpPr>
          <p:spPr>
            <a:xfrm>
              <a:off x="76200" y="114300"/>
              <a:ext cx="660400" cy="622300"/>
            </a:xfrm>
            <a:prstGeom prst="rect">
              <a:avLst/>
            </a:prstGeom>
          </p:spPr>
          <p:txBody>
            <a:bodyPr lIns="50800" tIns="50800" rIns="50800" bIns="50800" rtlCol="0" anchor="ctr"/>
            <a:lstStyle/>
            <a:p>
              <a:pPr marL="0" lvl="0" indent="0" algn="ctr">
                <a:lnSpc>
                  <a:spcPts val="1619"/>
                </a:lnSpc>
                <a:spcBef>
                  <a:spcPct val="0"/>
                </a:spcBef>
              </a:pPr>
              <a:endParaRPr/>
            </a:p>
          </p:txBody>
        </p:sp>
      </p:grpSp>
      <p:grpSp>
        <p:nvGrpSpPr>
          <p:cNvPr id="24" name="Group 24"/>
          <p:cNvGrpSpPr/>
          <p:nvPr/>
        </p:nvGrpSpPr>
        <p:grpSpPr>
          <a:xfrm>
            <a:off x="8684645" y="4706379"/>
            <a:ext cx="1378563" cy="1378563"/>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4119"/>
            </a:soli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26" name="TextBox 26"/>
            <p:cNvSpPr txBox="1"/>
            <p:nvPr/>
          </p:nvSpPr>
          <p:spPr>
            <a:xfrm>
              <a:off x="76200" y="114300"/>
              <a:ext cx="660400" cy="622300"/>
            </a:xfrm>
            <a:prstGeom prst="rect">
              <a:avLst/>
            </a:prstGeom>
          </p:spPr>
          <p:txBody>
            <a:bodyPr lIns="50800" tIns="50800" rIns="50800" bIns="50800" rtlCol="0" anchor="ctr"/>
            <a:lstStyle/>
            <a:p>
              <a:pPr marL="0" lvl="0" indent="0" algn="ctr">
                <a:lnSpc>
                  <a:spcPts val="1619"/>
                </a:lnSpc>
                <a:spcBef>
                  <a:spcPct val="0"/>
                </a:spcBef>
              </a:pPr>
              <a:endParaRPr/>
            </a:p>
          </p:txBody>
        </p:sp>
      </p:grpSp>
      <p:sp>
        <p:nvSpPr>
          <p:cNvPr id="27" name="TextBox 27"/>
          <p:cNvSpPr txBox="1"/>
          <p:nvPr/>
        </p:nvSpPr>
        <p:spPr>
          <a:xfrm>
            <a:off x="1157857"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Background of the study</a:t>
            </a:r>
          </a:p>
        </p:txBody>
      </p:sp>
      <p:sp>
        <p:nvSpPr>
          <p:cNvPr id="28" name="TextBox 28"/>
          <p:cNvSpPr txBox="1"/>
          <p:nvPr/>
        </p:nvSpPr>
        <p:spPr>
          <a:xfrm>
            <a:off x="3358755"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Problem Statement</a:t>
            </a:r>
          </a:p>
        </p:txBody>
      </p:sp>
      <p:sp>
        <p:nvSpPr>
          <p:cNvPr id="29" name="TextBox 29"/>
          <p:cNvSpPr txBox="1"/>
          <p:nvPr/>
        </p:nvSpPr>
        <p:spPr>
          <a:xfrm>
            <a:off x="5108285"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AI Applications</a:t>
            </a:r>
          </a:p>
        </p:txBody>
      </p:sp>
      <p:sp>
        <p:nvSpPr>
          <p:cNvPr id="30" name="TextBox 30"/>
          <p:cNvSpPr txBox="1"/>
          <p:nvPr/>
        </p:nvSpPr>
        <p:spPr>
          <a:xfrm>
            <a:off x="6552810"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ML Models</a:t>
            </a:r>
          </a:p>
        </p:txBody>
      </p:sp>
      <p:sp>
        <p:nvSpPr>
          <p:cNvPr id="31" name="TextBox 31"/>
          <p:cNvSpPr txBox="1"/>
          <p:nvPr/>
        </p:nvSpPr>
        <p:spPr>
          <a:xfrm>
            <a:off x="14585765" y="904812"/>
            <a:ext cx="2498812" cy="244874"/>
          </a:xfrm>
          <a:prstGeom prst="rect">
            <a:avLst/>
          </a:prstGeom>
        </p:spPr>
        <p:txBody>
          <a:bodyPr lIns="0" tIns="0" rIns="0" bIns="0" rtlCol="0" anchor="t">
            <a:spAutoFit/>
          </a:bodyPr>
          <a:lstStyle/>
          <a:p>
            <a:pPr marL="0" lvl="0" indent="0" algn="r">
              <a:lnSpc>
                <a:spcPts val="2098"/>
              </a:lnSpc>
            </a:pPr>
            <a:r>
              <a:rPr lang="en-US" sz="1542" b="1" spc="-38">
                <a:solidFill>
                  <a:srgbClr val="FFFFFF"/>
                </a:solidFill>
                <a:latin typeface="Canva Sans Bold"/>
                <a:ea typeface="Canva Sans Bold"/>
                <a:cs typeface="Canva Sans Bold"/>
                <a:sym typeface="Canva Sans Bold"/>
              </a:rPr>
              <a:t>HUST Research</a:t>
            </a:r>
          </a:p>
        </p:txBody>
      </p:sp>
      <p:sp>
        <p:nvSpPr>
          <p:cNvPr id="32" name="TextBox 32"/>
          <p:cNvSpPr txBox="1"/>
          <p:nvPr/>
        </p:nvSpPr>
        <p:spPr>
          <a:xfrm>
            <a:off x="1157857" y="2432916"/>
            <a:ext cx="9375805" cy="1269574"/>
          </a:xfrm>
          <a:prstGeom prst="rect">
            <a:avLst/>
          </a:prstGeom>
        </p:spPr>
        <p:txBody>
          <a:bodyPr lIns="0" tIns="0" rIns="0" bIns="0" rtlCol="0" anchor="t">
            <a:spAutoFit/>
          </a:bodyPr>
          <a:lstStyle/>
          <a:p>
            <a:pPr marL="0" lvl="0" indent="0" algn="l">
              <a:lnSpc>
                <a:spcPts val="4880"/>
              </a:lnSpc>
              <a:spcBef>
                <a:spcPct val="0"/>
              </a:spcBef>
            </a:pPr>
            <a:r>
              <a:rPr lang="en-US" sz="5422" b="1" spc="-216">
                <a:solidFill>
                  <a:srgbClr val="FFFFFF"/>
                </a:solidFill>
                <a:latin typeface="Pragmatica Bold"/>
                <a:ea typeface="Pragmatica Bold"/>
                <a:cs typeface="Pragmatica Bold"/>
                <a:sym typeface="Pragmatica Bold"/>
              </a:rPr>
              <a:t>Modeling Recipe-to-Retention Relationship</a:t>
            </a:r>
          </a:p>
        </p:txBody>
      </p:sp>
      <p:sp>
        <p:nvSpPr>
          <p:cNvPr id="33" name="TextBox 33"/>
          <p:cNvSpPr txBox="1"/>
          <p:nvPr/>
        </p:nvSpPr>
        <p:spPr>
          <a:xfrm>
            <a:off x="2520976" y="6684596"/>
            <a:ext cx="5351969" cy="1591383"/>
          </a:xfrm>
          <a:prstGeom prst="rect">
            <a:avLst/>
          </a:prstGeom>
        </p:spPr>
        <p:txBody>
          <a:bodyPr lIns="0" tIns="0" rIns="0" bIns="0" rtlCol="0" anchor="t">
            <a:spAutoFit/>
          </a:bodyPr>
          <a:lstStyle/>
          <a:p>
            <a:pPr marL="0" lvl="0" indent="0" algn="l">
              <a:lnSpc>
                <a:spcPts val="1865"/>
              </a:lnSpc>
            </a:pPr>
            <a:r>
              <a:rPr lang="en-US" sz="1371" spc="-34">
                <a:solidFill>
                  <a:srgbClr val="FFFFFF"/>
                </a:solidFill>
                <a:latin typeface="Canva Sans"/>
                <a:ea typeface="Canva Sans"/>
                <a:cs typeface="Canva Sans"/>
                <a:sym typeface="Canva Sans"/>
              </a:rPr>
              <a:t>Model input features:</a:t>
            </a:r>
          </a:p>
          <a:p>
            <a:pPr marL="0" lvl="0" indent="0" algn="l">
              <a:lnSpc>
                <a:spcPts val="1865"/>
              </a:lnSpc>
            </a:pPr>
            <a:r>
              <a:rPr lang="en-US" sz="1371" spc="-34">
                <a:solidFill>
                  <a:srgbClr val="FFFFFF"/>
                </a:solidFill>
                <a:latin typeface="Canva Sans"/>
                <a:ea typeface="Canva Sans"/>
                <a:cs typeface="Canva Sans"/>
                <a:sym typeface="Canva Sans"/>
              </a:rPr>
              <a:t>- Fabrication recipe: Si, MXene, alginate, carbon, mixing time, drying temperature, pressing pressure.</a:t>
            </a:r>
          </a:p>
          <a:p>
            <a:pPr marL="0" lvl="0" indent="0" algn="l">
              <a:lnSpc>
                <a:spcPts val="1865"/>
              </a:lnSpc>
            </a:pPr>
            <a:r>
              <a:rPr lang="en-US" sz="1371" spc="-34">
                <a:solidFill>
                  <a:srgbClr val="FFFFFF"/>
                </a:solidFill>
                <a:latin typeface="Canva Sans"/>
                <a:ea typeface="Canva Sans"/>
                <a:cs typeface="Canva Sans"/>
                <a:sym typeface="Canva Sans"/>
              </a:rPr>
              <a:t>- SEM features: particle size, porosity, agglomeration, crack density, surface uniformity.</a:t>
            </a:r>
          </a:p>
          <a:p>
            <a:pPr marL="0" lvl="0" indent="0" algn="l">
              <a:lnSpc>
                <a:spcPts val="1865"/>
              </a:lnSpc>
            </a:pPr>
            <a:r>
              <a:rPr lang="en-US" sz="1371" spc="-34">
                <a:solidFill>
                  <a:srgbClr val="FFFFFF"/>
                </a:solidFill>
                <a:latin typeface="Canva Sans"/>
                <a:ea typeface="Canva Sans"/>
                <a:cs typeface="Canva Sans"/>
                <a:sym typeface="Canva Sans"/>
              </a:rPr>
              <a:t>- EDX features: Si, Ti, C, O, impurity percentage and derived ratios.</a:t>
            </a:r>
          </a:p>
        </p:txBody>
      </p:sp>
      <p:sp>
        <p:nvSpPr>
          <p:cNvPr id="34" name="TextBox 34"/>
          <p:cNvSpPr txBox="1"/>
          <p:nvPr/>
        </p:nvSpPr>
        <p:spPr>
          <a:xfrm>
            <a:off x="10063208" y="6677852"/>
            <a:ext cx="5351969" cy="1591383"/>
          </a:xfrm>
          <a:prstGeom prst="rect">
            <a:avLst/>
          </a:prstGeom>
        </p:spPr>
        <p:txBody>
          <a:bodyPr lIns="0" tIns="0" rIns="0" bIns="0" rtlCol="0" anchor="t">
            <a:spAutoFit/>
          </a:bodyPr>
          <a:lstStyle/>
          <a:p>
            <a:pPr marL="0" lvl="0" indent="0" algn="l">
              <a:lnSpc>
                <a:spcPts val="1865"/>
              </a:lnSpc>
            </a:pPr>
            <a:r>
              <a:rPr lang="en-US" sz="1371" spc="-34">
                <a:solidFill>
                  <a:srgbClr val="FFFFFF"/>
                </a:solidFill>
                <a:latin typeface="Canva Sans"/>
                <a:ea typeface="Canva Sans"/>
                <a:cs typeface="Canva Sans"/>
                <a:sym typeface="Canva Sans"/>
              </a:rPr>
              <a:t>Model outputs and use:</a:t>
            </a:r>
          </a:p>
          <a:p>
            <a:pPr marL="0" lvl="0" indent="0" algn="l">
              <a:lnSpc>
                <a:spcPts val="1865"/>
              </a:lnSpc>
            </a:pPr>
            <a:r>
              <a:rPr lang="en-US" sz="1371" spc="-34">
                <a:solidFill>
                  <a:srgbClr val="FFFFFF"/>
                </a:solidFill>
                <a:latin typeface="Canva Sans"/>
                <a:ea typeface="Canva Sans"/>
                <a:cs typeface="Canva Sans"/>
                <a:sym typeface="Canva Sans"/>
              </a:rPr>
              <a:t>- Predict retention_100 as the main target.</a:t>
            </a:r>
          </a:p>
          <a:p>
            <a:pPr marL="0" lvl="0" indent="0" algn="l">
              <a:lnSpc>
                <a:spcPts val="1865"/>
              </a:lnSpc>
            </a:pPr>
            <a:r>
              <a:rPr lang="en-US" sz="1371" spc="-34">
                <a:solidFill>
                  <a:srgbClr val="FFFFFF"/>
                </a:solidFill>
                <a:latin typeface="Canva Sans"/>
                <a:ea typeface="Canva Sans"/>
                <a:cs typeface="Canva Sans"/>
                <a:sym typeface="Canva Sans"/>
              </a:rPr>
              <a:t>- Estimate which recipes may lose capacity quickly.</a:t>
            </a:r>
          </a:p>
          <a:p>
            <a:pPr marL="0" lvl="0" indent="0" algn="l">
              <a:lnSpc>
                <a:spcPts val="1865"/>
              </a:lnSpc>
            </a:pPr>
            <a:r>
              <a:rPr lang="en-US" sz="1371" spc="-34">
                <a:solidFill>
                  <a:srgbClr val="FFFFFF"/>
                </a:solidFill>
                <a:latin typeface="Canva Sans"/>
                <a:ea typeface="Canva Sans"/>
                <a:cs typeface="Canva Sans"/>
                <a:sym typeface="Canva Sans"/>
              </a:rPr>
              <a:t>- Produce feature importance for explanation.</a:t>
            </a:r>
          </a:p>
          <a:p>
            <a:pPr marL="0" lvl="0" indent="0" algn="l">
              <a:lnSpc>
                <a:spcPts val="1865"/>
              </a:lnSpc>
            </a:pPr>
            <a:r>
              <a:rPr lang="en-US" sz="1371" spc="-34">
                <a:solidFill>
                  <a:srgbClr val="FFFFFF"/>
                </a:solidFill>
                <a:latin typeface="Canva Sans"/>
                <a:ea typeface="Canva Sans"/>
                <a:cs typeface="Canva Sans"/>
                <a:sym typeface="Canva Sans"/>
              </a:rPr>
              <a:t>- Feed candidate predictions into the recommendation engine.</a:t>
            </a:r>
          </a:p>
        </p:txBody>
      </p:sp>
      <p:sp>
        <p:nvSpPr>
          <p:cNvPr id="35" name="TextBox 35"/>
          <p:cNvSpPr txBox="1"/>
          <p:nvPr/>
        </p:nvSpPr>
        <p:spPr>
          <a:xfrm>
            <a:off x="10641940" y="2279589"/>
            <a:ext cx="5528345" cy="905583"/>
          </a:xfrm>
          <a:prstGeom prst="rect">
            <a:avLst/>
          </a:prstGeom>
        </p:spPr>
        <p:txBody>
          <a:bodyPr lIns="0" tIns="0" rIns="0" bIns="0" rtlCol="0" anchor="t">
            <a:spAutoFit/>
          </a:bodyPr>
          <a:lstStyle/>
          <a:p>
            <a:pPr marL="0" lvl="0" indent="0" algn="l">
              <a:lnSpc>
                <a:spcPts val="1865"/>
              </a:lnSpc>
            </a:pPr>
            <a:r>
              <a:rPr lang="en-US" sz="1371" spc="-34" dirty="0">
                <a:solidFill>
                  <a:srgbClr val="FFFFFF"/>
                </a:solidFill>
                <a:latin typeface="Canva Sans"/>
                <a:ea typeface="Canva Sans"/>
                <a:cs typeface="Canva Sans"/>
                <a:sym typeface="Canva Sans"/>
              </a:rPr>
              <a:t>The MVP uses a RandomForest regressor as the explainable baseline and a Gaussian Process surrogate for uncertainty-aware ranking. Electrochemical results provide the training target; recommendation-time features must avoid target leakage.</a:t>
            </a:r>
          </a:p>
        </p:txBody>
      </p:sp>
      <p:sp>
        <p:nvSpPr>
          <p:cNvPr id="36" name="TextBox 36"/>
          <p:cNvSpPr txBox="1"/>
          <p:nvPr/>
        </p:nvSpPr>
        <p:spPr>
          <a:xfrm>
            <a:off x="2520976" y="6154784"/>
            <a:ext cx="4454209" cy="323134"/>
          </a:xfrm>
          <a:prstGeom prst="rect">
            <a:avLst/>
          </a:prstGeom>
        </p:spPr>
        <p:txBody>
          <a:bodyPr lIns="0" tIns="0" rIns="0" bIns="0" rtlCol="0" anchor="t">
            <a:spAutoFit/>
          </a:bodyPr>
          <a:lstStyle/>
          <a:p>
            <a:pPr marL="0" lvl="0" indent="0" algn="l">
              <a:lnSpc>
                <a:spcPts val="2459"/>
              </a:lnSpc>
            </a:pPr>
            <a:r>
              <a:rPr lang="en-US" sz="2794" b="1" spc="-139">
                <a:solidFill>
                  <a:srgbClr val="FFFFFF"/>
                </a:solidFill>
                <a:latin typeface="Pragmatica Bold"/>
                <a:ea typeface="Pragmatica Bold"/>
                <a:cs typeface="Pragmatica Bold"/>
                <a:sym typeface="Pragmatica Bold"/>
              </a:rPr>
              <a:t>Input Features</a:t>
            </a:r>
          </a:p>
        </p:txBody>
      </p:sp>
      <p:sp>
        <p:nvSpPr>
          <p:cNvPr id="37" name="TextBox 37"/>
          <p:cNvSpPr txBox="1"/>
          <p:nvPr/>
        </p:nvSpPr>
        <p:spPr>
          <a:xfrm>
            <a:off x="10063208" y="6180192"/>
            <a:ext cx="4454209" cy="323134"/>
          </a:xfrm>
          <a:prstGeom prst="rect">
            <a:avLst/>
          </a:prstGeom>
        </p:spPr>
        <p:txBody>
          <a:bodyPr lIns="0" tIns="0" rIns="0" bIns="0" rtlCol="0" anchor="t">
            <a:spAutoFit/>
          </a:bodyPr>
          <a:lstStyle/>
          <a:p>
            <a:pPr marL="0" lvl="0" indent="0" algn="l">
              <a:lnSpc>
                <a:spcPts val="2459"/>
              </a:lnSpc>
            </a:pPr>
            <a:r>
              <a:rPr lang="en-US" sz="2794" b="1" spc="-139">
                <a:solidFill>
                  <a:srgbClr val="FFFFFF"/>
                </a:solidFill>
                <a:latin typeface="Pragmatica Bold"/>
                <a:ea typeface="Pragmatica Bold"/>
                <a:cs typeface="Pragmatica Bold"/>
                <a:sym typeface="Pragmatica Bold"/>
              </a:rPr>
              <a:t>Prediction Target</a:t>
            </a:r>
          </a:p>
        </p:txBody>
      </p:sp>
      <p:sp>
        <p:nvSpPr>
          <p:cNvPr id="38" name="TextBox 38"/>
          <p:cNvSpPr txBox="1"/>
          <p:nvPr/>
        </p:nvSpPr>
        <p:spPr>
          <a:xfrm>
            <a:off x="1294549" y="5217049"/>
            <a:ext cx="1378563" cy="503943"/>
          </a:xfrm>
          <a:prstGeom prst="rect">
            <a:avLst/>
          </a:prstGeom>
        </p:spPr>
        <p:txBody>
          <a:bodyPr lIns="0" tIns="0" rIns="0" bIns="0" rtlCol="0" anchor="t">
            <a:spAutoFit/>
          </a:bodyPr>
          <a:lstStyle/>
          <a:p>
            <a:pPr marL="0" lvl="0" indent="0" algn="ctr">
              <a:lnSpc>
                <a:spcPts val="3693"/>
              </a:lnSpc>
            </a:pPr>
            <a:r>
              <a:rPr lang="en-US" sz="4197" b="1" spc="-209">
                <a:solidFill>
                  <a:srgbClr val="FFFFFF"/>
                </a:solidFill>
                <a:latin typeface="Pragmatica Bold"/>
                <a:ea typeface="Pragmatica Bold"/>
                <a:cs typeface="Pragmatica Bold"/>
                <a:sym typeface="Pragmatica Bold"/>
              </a:rPr>
              <a:t>01</a:t>
            </a:r>
          </a:p>
        </p:txBody>
      </p:sp>
      <p:sp>
        <p:nvSpPr>
          <p:cNvPr id="39" name="TextBox 39"/>
          <p:cNvSpPr txBox="1"/>
          <p:nvPr/>
        </p:nvSpPr>
        <p:spPr>
          <a:xfrm>
            <a:off x="8684645" y="5210304"/>
            <a:ext cx="1378563" cy="503943"/>
          </a:xfrm>
          <a:prstGeom prst="rect">
            <a:avLst/>
          </a:prstGeom>
        </p:spPr>
        <p:txBody>
          <a:bodyPr lIns="0" tIns="0" rIns="0" bIns="0" rtlCol="0" anchor="t">
            <a:spAutoFit/>
          </a:bodyPr>
          <a:lstStyle/>
          <a:p>
            <a:pPr marL="0" lvl="0" indent="0" algn="ctr">
              <a:lnSpc>
                <a:spcPts val="3693"/>
              </a:lnSpc>
            </a:pPr>
            <a:r>
              <a:rPr lang="en-US" sz="4197" b="1" spc="-209">
                <a:solidFill>
                  <a:srgbClr val="FFFFFF"/>
                </a:solidFill>
                <a:latin typeface="Pragmatica Bold"/>
                <a:ea typeface="Pragmatica Bold"/>
                <a:cs typeface="Pragmatica Bold"/>
                <a:sym typeface="Pragmatica Bold"/>
              </a:rPr>
              <a:t>02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AutoShape 3"/>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4" name="AutoShape 4"/>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p:cNvSpPr/>
          <p:nvPr/>
        </p:nvSpPr>
        <p:spPr>
          <a:xfrm>
            <a:off x="6075187"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AutoShape 7"/>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8" name="Freeform 8"/>
          <p:cNvSpPr/>
          <p:nvPr/>
        </p:nvSpPr>
        <p:spPr>
          <a:xfrm>
            <a:off x="14950017" y="-1114244"/>
            <a:ext cx="8534070" cy="11618164"/>
          </a:xfrm>
          <a:custGeom>
            <a:avLst/>
            <a:gdLst/>
            <a:ahLst/>
            <a:cxnLst/>
            <a:rect l="l" t="t" r="r" b="b"/>
            <a:pathLst>
              <a:path w="8534070" h="11618164">
                <a:moveTo>
                  <a:pt x="0" y="0"/>
                </a:moveTo>
                <a:lnTo>
                  <a:pt x="8534069" y="0"/>
                </a:lnTo>
                <a:lnTo>
                  <a:pt x="8534069" y="11618163"/>
                </a:lnTo>
                <a:lnTo>
                  <a:pt x="0" y="11618163"/>
                </a:lnTo>
                <a:lnTo>
                  <a:pt x="0" y="0"/>
                </a:lnTo>
                <a:close/>
              </a:path>
            </a:pathLst>
          </a:custGeom>
          <a:blipFill>
            <a:blip r:embed="rId2">
              <a:alphaModFix amt="50000"/>
            </a:blip>
            <a:stretch>
              <a:fillRect/>
            </a:stretch>
          </a:blipFill>
        </p:spPr>
        <p:txBody>
          <a:bodyPr/>
          <a:lstStyle/>
          <a:p>
            <a:endParaRPr lang="en-US"/>
          </a:p>
        </p:txBody>
      </p:sp>
      <p:grpSp>
        <p:nvGrpSpPr>
          <p:cNvPr id="9" name="Group 9"/>
          <p:cNvGrpSpPr/>
          <p:nvPr/>
        </p:nvGrpSpPr>
        <p:grpSpPr>
          <a:xfrm>
            <a:off x="1028700" y="654448"/>
            <a:ext cx="16230600" cy="748504"/>
            <a:chOff x="0" y="0"/>
            <a:chExt cx="4274726" cy="197137"/>
          </a:xfrm>
        </p:grpSpPr>
        <p:sp>
          <p:nvSpPr>
            <p:cNvPr id="10" name="Freeform 10"/>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1" name="TextBox 11"/>
            <p:cNvSpPr txBox="1"/>
            <p:nvPr/>
          </p:nvSpPr>
          <p:spPr>
            <a:xfrm>
              <a:off x="0" y="38100"/>
              <a:ext cx="4274726" cy="159037"/>
            </a:xfrm>
            <a:prstGeom prst="rect">
              <a:avLst/>
            </a:prstGeom>
          </p:spPr>
          <p:txBody>
            <a:bodyPr lIns="50800" tIns="50800" rIns="50800" bIns="50800" rtlCol="0" anchor="ctr"/>
            <a:lstStyle/>
            <a:p>
              <a:pPr marL="0" lvl="0" indent="0" algn="ctr">
                <a:lnSpc>
                  <a:spcPts val="1619"/>
                </a:lnSpc>
              </a:pPr>
              <a:endParaRPr/>
            </a:p>
          </p:txBody>
        </p:sp>
      </p:grpSp>
      <p:grpSp>
        <p:nvGrpSpPr>
          <p:cNvPr id="12" name="Group 12"/>
          <p:cNvGrpSpPr/>
          <p:nvPr/>
        </p:nvGrpSpPr>
        <p:grpSpPr>
          <a:xfrm>
            <a:off x="9570999" y="6100424"/>
            <a:ext cx="7688301" cy="2985427"/>
            <a:chOff x="0" y="0"/>
            <a:chExt cx="2024902" cy="786285"/>
          </a:xfrm>
        </p:grpSpPr>
        <p:sp>
          <p:nvSpPr>
            <p:cNvPr id="13" name="Freeform 13"/>
            <p:cNvSpPr/>
            <p:nvPr/>
          </p:nvSpPr>
          <p:spPr>
            <a:xfrm>
              <a:off x="0" y="0"/>
              <a:ext cx="2024902" cy="786285"/>
            </a:xfrm>
            <a:custGeom>
              <a:avLst/>
              <a:gdLst/>
              <a:ahLst/>
              <a:cxnLst/>
              <a:rect l="l" t="t" r="r" b="b"/>
              <a:pathLst>
                <a:path w="2024902" h="786285">
                  <a:moveTo>
                    <a:pt x="50349" y="0"/>
                  </a:moveTo>
                  <a:lnTo>
                    <a:pt x="1974554" y="0"/>
                  </a:lnTo>
                  <a:cubicBezTo>
                    <a:pt x="2002361" y="0"/>
                    <a:pt x="2024902" y="22542"/>
                    <a:pt x="2024902" y="50349"/>
                  </a:cubicBezTo>
                  <a:lnTo>
                    <a:pt x="2024902" y="735936"/>
                  </a:lnTo>
                  <a:cubicBezTo>
                    <a:pt x="2024902" y="749290"/>
                    <a:pt x="2019598" y="762096"/>
                    <a:pt x="2010156" y="771538"/>
                  </a:cubicBezTo>
                  <a:cubicBezTo>
                    <a:pt x="2000713" y="780981"/>
                    <a:pt x="1987907" y="786285"/>
                    <a:pt x="1974554" y="786285"/>
                  </a:cubicBezTo>
                  <a:lnTo>
                    <a:pt x="50349" y="786285"/>
                  </a:lnTo>
                  <a:cubicBezTo>
                    <a:pt x="36995" y="786285"/>
                    <a:pt x="24189" y="780981"/>
                    <a:pt x="14747" y="771538"/>
                  </a:cubicBezTo>
                  <a:cubicBezTo>
                    <a:pt x="5305" y="762096"/>
                    <a:pt x="0" y="749290"/>
                    <a:pt x="0" y="735936"/>
                  </a:cubicBezTo>
                  <a:lnTo>
                    <a:pt x="0" y="50349"/>
                  </a:lnTo>
                  <a:cubicBezTo>
                    <a:pt x="0" y="22542"/>
                    <a:pt x="22542" y="0"/>
                    <a:pt x="50349"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4" name="TextBox 14"/>
            <p:cNvSpPr txBox="1"/>
            <p:nvPr/>
          </p:nvSpPr>
          <p:spPr>
            <a:xfrm>
              <a:off x="0" y="38100"/>
              <a:ext cx="2024902" cy="748185"/>
            </a:xfrm>
            <a:prstGeom prst="rect">
              <a:avLst/>
            </a:prstGeom>
          </p:spPr>
          <p:txBody>
            <a:bodyPr lIns="50800" tIns="50800" rIns="50800" bIns="50800" rtlCol="0" anchor="ctr"/>
            <a:lstStyle/>
            <a:p>
              <a:pPr marL="0" lvl="0" indent="0" algn="ctr">
                <a:lnSpc>
                  <a:spcPts val="1619"/>
                </a:lnSpc>
              </a:pPr>
              <a:endParaRPr/>
            </a:p>
          </p:txBody>
        </p:sp>
      </p:grpSp>
      <p:grpSp>
        <p:nvGrpSpPr>
          <p:cNvPr id="15" name="Group 15"/>
          <p:cNvGrpSpPr/>
          <p:nvPr/>
        </p:nvGrpSpPr>
        <p:grpSpPr>
          <a:xfrm>
            <a:off x="4671168" y="2580285"/>
            <a:ext cx="3423456" cy="6383502"/>
            <a:chOff x="0" y="0"/>
            <a:chExt cx="901651" cy="1681252"/>
          </a:xfrm>
        </p:grpSpPr>
        <p:sp>
          <p:nvSpPr>
            <p:cNvPr id="16" name="Freeform 16"/>
            <p:cNvSpPr/>
            <p:nvPr/>
          </p:nvSpPr>
          <p:spPr>
            <a:xfrm>
              <a:off x="0" y="0"/>
              <a:ext cx="901651" cy="1681252"/>
            </a:xfrm>
            <a:custGeom>
              <a:avLst/>
              <a:gdLst/>
              <a:ahLst/>
              <a:cxnLst/>
              <a:rect l="l" t="t" r="r" b="b"/>
              <a:pathLst>
                <a:path w="901651" h="1681252">
                  <a:moveTo>
                    <a:pt x="113072" y="0"/>
                  </a:moveTo>
                  <a:lnTo>
                    <a:pt x="788579" y="0"/>
                  </a:lnTo>
                  <a:cubicBezTo>
                    <a:pt x="818568" y="0"/>
                    <a:pt x="847328" y="11913"/>
                    <a:pt x="868533" y="33118"/>
                  </a:cubicBezTo>
                  <a:cubicBezTo>
                    <a:pt x="889738" y="54323"/>
                    <a:pt x="901651" y="83083"/>
                    <a:pt x="901651" y="113072"/>
                  </a:cubicBezTo>
                  <a:lnTo>
                    <a:pt x="901651" y="1568180"/>
                  </a:lnTo>
                  <a:cubicBezTo>
                    <a:pt x="901651" y="1598168"/>
                    <a:pt x="889738" y="1626929"/>
                    <a:pt x="868533" y="1648134"/>
                  </a:cubicBezTo>
                  <a:cubicBezTo>
                    <a:pt x="847328" y="1669339"/>
                    <a:pt x="818568" y="1681252"/>
                    <a:pt x="788579" y="1681252"/>
                  </a:cubicBezTo>
                  <a:lnTo>
                    <a:pt x="113072" y="1681252"/>
                  </a:lnTo>
                  <a:cubicBezTo>
                    <a:pt x="83083" y="1681252"/>
                    <a:pt x="54323" y="1669339"/>
                    <a:pt x="33118" y="1648134"/>
                  </a:cubicBezTo>
                  <a:cubicBezTo>
                    <a:pt x="11913" y="1626929"/>
                    <a:pt x="0" y="1598168"/>
                    <a:pt x="0" y="1568180"/>
                  </a:cubicBezTo>
                  <a:lnTo>
                    <a:pt x="0" y="113072"/>
                  </a:lnTo>
                  <a:cubicBezTo>
                    <a:pt x="0" y="83083"/>
                    <a:pt x="11913" y="54323"/>
                    <a:pt x="33118" y="33118"/>
                  </a:cubicBezTo>
                  <a:cubicBezTo>
                    <a:pt x="54323" y="11913"/>
                    <a:pt x="83083" y="0"/>
                    <a:pt x="113072"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7" name="TextBox 17"/>
            <p:cNvSpPr txBox="1"/>
            <p:nvPr/>
          </p:nvSpPr>
          <p:spPr>
            <a:xfrm>
              <a:off x="0" y="38100"/>
              <a:ext cx="901651" cy="1643152"/>
            </a:xfrm>
            <a:prstGeom prst="rect">
              <a:avLst/>
            </a:prstGeom>
          </p:spPr>
          <p:txBody>
            <a:bodyPr lIns="50800" tIns="50800" rIns="50800" bIns="50800" rtlCol="0" anchor="ctr"/>
            <a:lstStyle/>
            <a:p>
              <a:pPr marL="0" lvl="0" indent="0" algn="ctr">
                <a:lnSpc>
                  <a:spcPts val="1619"/>
                </a:lnSpc>
              </a:pPr>
              <a:endParaRPr/>
            </a:p>
          </p:txBody>
        </p:sp>
      </p:grpSp>
      <p:pic>
        <p:nvPicPr>
          <p:cNvPr id="18" name="Picture 18" descr="High-contrast pie chart showing screening reduction distribution"/>
          <p:cNvPicPr>
            <a:picLocks noChangeAspect="1"/>
          </p:cNvPicPr>
          <p:nvPr/>
        </p:nvPicPr>
        <p:blipFill>
          <a:blip r:embed="rId3"/>
          <a:stretch>
            <a:fillRect/>
          </a:stretch>
        </p:blipFill>
        <p:spPr>
          <a:xfrm>
            <a:off x="9607522" y="6088724"/>
            <a:ext cx="3645988" cy="3008827"/>
          </a:xfrm>
          <a:prstGeom prst="rect">
            <a:avLst/>
          </a:prstGeom>
        </p:spPr>
      </p:pic>
      <p:grpSp>
        <p:nvGrpSpPr>
          <p:cNvPr id="19" name="Group 19"/>
          <p:cNvGrpSpPr/>
          <p:nvPr/>
        </p:nvGrpSpPr>
        <p:grpSpPr>
          <a:xfrm>
            <a:off x="1028700" y="2580285"/>
            <a:ext cx="3471547" cy="6383502"/>
            <a:chOff x="0" y="0"/>
            <a:chExt cx="537833" cy="988972"/>
          </a:xfrm>
        </p:grpSpPr>
        <p:sp>
          <p:nvSpPr>
            <p:cNvPr id="20" name="Freeform 20"/>
            <p:cNvSpPr/>
            <p:nvPr/>
          </p:nvSpPr>
          <p:spPr>
            <a:xfrm>
              <a:off x="0" y="0"/>
              <a:ext cx="537833" cy="988972"/>
            </a:xfrm>
            <a:custGeom>
              <a:avLst/>
              <a:gdLst/>
              <a:ahLst/>
              <a:cxnLst/>
              <a:rect l="l" t="t" r="r" b="b"/>
              <a:pathLst>
                <a:path w="537833" h="988972">
                  <a:moveTo>
                    <a:pt x="71363" y="0"/>
                  </a:moveTo>
                  <a:lnTo>
                    <a:pt x="466470" y="0"/>
                  </a:lnTo>
                  <a:cubicBezTo>
                    <a:pt x="505883" y="0"/>
                    <a:pt x="537833" y="31950"/>
                    <a:pt x="537833" y="71363"/>
                  </a:cubicBezTo>
                  <a:lnTo>
                    <a:pt x="537833" y="917608"/>
                  </a:lnTo>
                  <a:cubicBezTo>
                    <a:pt x="537833" y="957021"/>
                    <a:pt x="505883" y="988972"/>
                    <a:pt x="466470" y="988972"/>
                  </a:cubicBezTo>
                  <a:lnTo>
                    <a:pt x="71363" y="988972"/>
                  </a:lnTo>
                  <a:cubicBezTo>
                    <a:pt x="31950" y="988972"/>
                    <a:pt x="0" y="957021"/>
                    <a:pt x="0" y="917608"/>
                  </a:cubicBezTo>
                  <a:lnTo>
                    <a:pt x="0" y="71363"/>
                  </a:lnTo>
                  <a:cubicBezTo>
                    <a:pt x="0" y="31950"/>
                    <a:pt x="31950" y="0"/>
                    <a:pt x="71363" y="0"/>
                  </a:cubicBezTo>
                  <a:close/>
                </a:path>
              </a:pathLst>
            </a:custGeom>
            <a:blipFill>
              <a:blip r:embed="rId4"/>
              <a:stretch>
                <a:fillRect l="-452" r="-452"/>
              </a:stretch>
            </a:blipFill>
          </p:spPr>
          <p:txBody>
            <a:bodyPr/>
            <a:lstStyle/>
            <a:p>
              <a:endParaRPr lang="en-US"/>
            </a:p>
          </p:txBody>
        </p:sp>
      </p:grpSp>
      <p:pic>
        <p:nvPicPr>
          <p:cNvPr id="21" name="Picture 21" descr="High-contrast pie chart showing screening reduction distribution"/>
          <p:cNvPicPr>
            <a:picLocks noChangeAspect="1"/>
          </p:cNvPicPr>
          <p:nvPr/>
        </p:nvPicPr>
        <p:blipFill>
          <a:blip r:embed="rId3"/>
          <a:stretch>
            <a:fillRect/>
          </a:stretch>
        </p:blipFill>
        <p:spPr>
          <a:xfrm>
            <a:off x="4565887" y="4297194"/>
            <a:ext cx="3583607" cy="2949684"/>
          </a:xfrm>
          <a:prstGeom prst="rect">
            <a:avLst/>
          </a:prstGeom>
        </p:spPr>
      </p:pic>
      <p:sp>
        <p:nvSpPr>
          <p:cNvPr id="22" name="TextBox 22"/>
          <p:cNvSpPr txBox="1"/>
          <p:nvPr/>
        </p:nvSpPr>
        <p:spPr>
          <a:xfrm>
            <a:off x="1157857" y="895287"/>
            <a:ext cx="2498812" cy="238272"/>
          </a:xfrm>
          <a:prstGeom prst="rect">
            <a:avLst/>
          </a:prstGeom>
        </p:spPr>
        <p:txBody>
          <a:bodyPr lIns="0" tIns="0" rIns="0" bIns="0" rtlCol="0" anchor="t">
            <a:spAutoFit/>
          </a:bodyPr>
          <a:lstStyle/>
          <a:p>
            <a:pPr marL="0" lvl="0" indent="0" algn="ctr">
              <a:lnSpc>
                <a:spcPts val="1902"/>
              </a:lnSpc>
            </a:pPr>
            <a:r>
              <a:rPr lang="en-US" sz="1399" spc="-34">
                <a:solidFill>
                  <a:srgbClr val="FFFFFF"/>
                </a:solidFill>
                <a:latin typeface="Canva Sans"/>
                <a:ea typeface="Canva Sans"/>
                <a:cs typeface="Canva Sans"/>
                <a:sym typeface="Canva Sans"/>
              </a:rPr>
              <a:t>Top-3 Recipe Recommendation</a:t>
            </a:r>
          </a:p>
        </p:txBody>
      </p:sp>
      <p:sp>
        <p:nvSpPr>
          <p:cNvPr id="23" name="TextBox 23"/>
          <p:cNvSpPr txBox="1"/>
          <p:nvPr/>
        </p:nvSpPr>
        <p:spPr>
          <a:xfrm>
            <a:off x="3358755" y="895287"/>
            <a:ext cx="2498812" cy="238272"/>
          </a:xfrm>
          <a:prstGeom prst="rect">
            <a:avLst/>
          </a:prstGeom>
        </p:spPr>
        <p:txBody>
          <a:bodyPr lIns="0" tIns="0" rIns="0" bIns="0" rtlCol="0" anchor="t">
            <a:spAutoFit/>
          </a:bodyPr>
          <a:lstStyle/>
          <a:p>
            <a:pPr marL="0" lvl="0" indent="0" algn="ctr">
              <a:lnSpc>
                <a:spcPts val="1902"/>
              </a:lnSpc>
            </a:pPr>
            <a:r>
              <a:rPr lang="en-US" sz="1399" spc="-34">
                <a:solidFill>
                  <a:srgbClr val="FFFFFF"/>
                </a:solidFill>
                <a:latin typeface="Canva Sans"/>
                <a:ea typeface="Canva Sans"/>
                <a:cs typeface="Canva Sans"/>
                <a:sym typeface="Canva Sans"/>
              </a:rPr>
              <a:t>AI Co-Scientist</a:t>
            </a:r>
          </a:p>
        </p:txBody>
      </p:sp>
      <p:sp>
        <p:nvSpPr>
          <p:cNvPr id="24" name="TextBox 24"/>
          <p:cNvSpPr txBox="1"/>
          <p:nvPr/>
        </p:nvSpPr>
        <p:spPr>
          <a:xfrm>
            <a:off x="5108285" y="895287"/>
            <a:ext cx="2498812" cy="238272"/>
          </a:xfrm>
          <a:prstGeom prst="rect">
            <a:avLst/>
          </a:prstGeom>
        </p:spPr>
        <p:txBody>
          <a:bodyPr lIns="0" tIns="0" rIns="0" bIns="0" rtlCol="0" anchor="t">
            <a:spAutoFit/>
          </a:bodyPr>
          <a:lstStyle/>
          <a:p>
            <a:pPr marL="0" lvl="0" indent="0" algn="ctr">
              <a:lnSpc>
                <a:spcPts val="1902"/>
              </a:lnSpc>
            </a:pPr>
            <a:r>
              <a:rPr lang="en-US" sz="1399" spc="-34">
                <a:solidFill>
                  <a:srgbClr val="FFFFFF"/>
                </a:solidFill>
                <a:latin typeface="Canva Sans"/>
                <a:ea typeface="Canva Sans"/>
                <a:cs typeface="Canva Sans"/>
                <a:sym typeface="Canva Sans"/>
              </a:rPr>
              <a:t>Framework</a:t>
            </a:r>
          </a:p>
        </p:txBody>
      </p:sp>
      <p:sp>
        <p:nvSpPr>
          <p:cNvPr id="25" name="TextBox 25"/>
          <p:cNvSpPr txBox="1"/>
          <p:nvPr/>
        </p:nvSpPr>
        <p:spPr>
          <a:xfrm>
            <a:off x="6552810" y="895287"/>
            <a:ext cx="2498812" cy="238272"/>
          </a:xfrm>
          <a:prstGeom prst="rect">
            <a:avLst/>
          </a:prstGeom>
        </p:spPr>
        <p:txBody>
          <a:bodyPr lIns="0" tIns="0" rIns="0" bIns="0" rtlCol="0" anchor="t">
            <a:spAutoFit/>
          </a:bodyPr>
          <a:lstStyle/>
          <a:p>
            <a:pPr marL="0" lvl="0" indent="0" algn="ctr">
              <a:lnSpc>
                <a:spcPts val="1902"/>
              </a:lnSpc>
            </a:pPr>
            <a:r>
              <a:rPr lang="en-US" sz="1399" spc="-34">
                <a:solidFill>
                  <a:srgbClr val="FFFFFF"/>
                </a:solidFill>
                <a:latin typeface="Canva Sans"/>
                <a:ea typeface="Canva Sans"/>
                <a:cs typeface="Canva Sans"/>
                <a:sym typeface="Canva Sans"/>
              </a:rPr>
              <a:t>Methodology</a:t>
            </a:r>
          </a:p>
        </p:txBody>
      </p:sp>
      <p:sp>
        <p:nvSpPr>
          <p:cNvPr id="26" name="TextBox 26"/>
          <p:cNvSpPr txBox="1"/>
          <p:nvPr/>
        </p:nvSpPr>
        <p:spPr>
          <a:xfrm>
            <a:off x="14585765" y="904812"/>
            <a:ext cx="2498812" cy="287300"/>
          </a:xfrm>
          <a:prstGeom prst="rect">
            <a:avLst/>
          </a:prstGeom>
        </p:spPr>
        <p:txBody>
          <a:bodyPr lIns="0" tIns="0" rIns="0" bIns="0" rtlCol="0" anchor="t">
            <a:spAutoFit/>
          </a:bodyPr>
          <a:lstStyle/>
          <a:p>
            <a:pPr marL="0" lvl="0" indent="0" algn="r">
              <a:lnSpc>
                <a:spcPts val="2446"/>
              </a:lnSpc>
            </a:pPr>
            <a:r>
              <a:rPr lang="en-US" sz="1798" b="1" spc="-44">
                <a:solidFill>
                  <a:srgbClr val="FFFFFF"/>
                </a:solidFill>
                <a:latin typeface="Canva Sans Bold"/>
                <a:ea typeface="Canva Sans Bold"/>
                <a:cs typeface="Canva Sans Bold"/>
                <a:sym typeface="Canva Sans Bold"/>
              </a:rPr>
              <a:t>Larana Company</a:t>
            </a:r>
          </a:p>
        </p:txBody>
      </p:sp>
      <p:sp>
        <p:nvSpPr>
          <p:cNvPr id="27" name="TextBox 27"/>
          <p:cNvSpPr txBox="1"/>
          <p:nvPr/>
        </p:nvSpPr>
        <p:spPr>
          <a:xfrm>
            <a:off x="9570999" y="2098277"/>
            <a:ext cx="8466330" cy="2197708"/>
          </a:xfrm>
          <a:prstGeom prst="rect">
            <a:avLst/>
          </a:prstGeom>
        </p:spPr>
        <p:txBody>
          <a:bodyPr lIns="0" tIns="0" rIns="0" bIns="0" rtlCol="0" anchor="t">
            <a:spAutoFit/>
          </a:bodyPr>
          <a:lstStyle/>
          <a:p>
            <a:pPr marL="0" lvl="0" indent="0" algn="l">
              <a:lnSpc>
                <a:spcPts val="8325"/>
              </a:lnSpc>
              <a:spcBef>
                <a:spcPct val="0"/>
              </a:spcBef>
            </a:pPr>
            <a:r>
              <a:rPr lang="en-US" sz="9250" b="1" spc="-370">
                <a:solidFill>
                  <a:srgbClr val="FFFFFF"/>
                </a:solidFill>
                <a:latin typeface="Pragmatica Bold"/>
                <a:ea typeface="Pragmatica Bold"/>
                <a:cs typeface="Pragmatica Bold"/>
                <a:sym typeface="Pragmatica Bold"/>
              </a:rPr>
              <a:t>Top-3</a:t>
            </a:r>
          </a:p>
          <a:p>
            <a:pPr marL="0" lvl="0" indent="0" algn="l">
              <a:lnSpc>
                <a:spcPts val="8325"/>
              </a:lnSpc>
              <a:spcBef>
                <a:spcPct val="0"/>
              </a:spcBef>
            </a:pPr>
            <a:r>
              <a:rPr lang="en-US" sz="9250" b="1" spc="-370">
                <a:solidFill>
                  <a:srgbClr val="FFFFFF"/>
                </a:solidFill>
                <a:latin typeface="Pragmatica Bold"/>
                <a:ea typeface="Pragmatica Bold"/>
                <a:cs typeface="Pragmatica Bold"/>
                <a:sym typeface="Pragmatica Bold"/>
              </a:rPr>
              <a:t>Recipes</a:t>
            </a:r>
          </a:p>
        </p:txBody>
      </p:sp>
      <p:sp>
        <p:nvSpPr>
          <p:cNvPr id="28" name="TextBox 28"/>
          <p:cNvSpPr txBox="1"/>
          <p:nvPr/>
        </p:nvSpPr>
        <p:spPr>
          <a:xfrm>
            <a:off x="9570999" y="4448633"/>
            <a:ext cx="6761545" cy="1053361"/>
          </a:xfrm>
          <a:prstGeom prst="rect">
            <a:avLst/>
          </a:prstGeom>
        </p:spPr>
        <p:txBody>
          <a:bodyPr lIns="0" tIns="0" rIns="0" bIns="0" rtlCol="0" anchor="t">
            <a:spAutoFit/>
          </a:bodyPr>
          <a:lstStyle/>
          <a:p>
            <a:pPr marL="0" lvl="0" indent="0" algn="l">
              <a:lnSpc>
                <a:spcPts val="2174"/>
              </a:lnSpc>
            </a:pPr>
            <a:r>
              <a:rPr lang="en-US" sz="1598" spc="-39">
                <a:solidFill>
                  <a:srgbClr val="FFFFFF"/>
                </a:solidFill>
                <a:latin typeface="Canva Sans"/>
                <a:ea typeface="Canva Sans"/>
                <a:cs typeface="Canva Sans"/>
                <a:sym typeface="Canva Sans"/>
              </a:rPr>
              <a:t>The recommender builds a constrained recipe grid, removes recipes already tested, predicts retention_100 for each candidate, and ranks new candidates with a GP/UCB score that balances expected performance and uncertainty.</a:t>
            </a:r>
          </a:p>
        </p:txBody>
      </p:sp>
      <p:sp>
        <p:nvSpPr>
          <p:cNvPr id="29" name="TextBox 29"/>
          <p:cNvSpPr txBox="1"/>
          <p:nvPr/>
        </p:nvSpPr>
        <p:spPr>
          <a:xfrm>
            <a:off x="13415149" y="7364841"/>
            <a:ext cx="3185367" cy="714522"/>
          </a:xfrm>
          <a:prstGeom prst="rect">
            <a:avLst/>
          </a:prstGeom>
        </p:spPr>
        <p:txBody>
          <a:bodyPr lIns="0" tIns="0" rIns="0" bIns="0" rtlCol="0" anchor="t">
            <a:spAutoFit/>
          </a:bodyPr>
          <a:lstStyle/>
          <a:p>
            <a:pPr marL="0" lvl="0" indent="0" algn="l">
              <a:lnSpc>
                <a:spcPts val="1902"/>
              </a:lnSpc>
            </a:pPr>
            <a:r>
              <a:rPr lang="en-US" sz="1399" spc="-34">
                <a:solidFill>
                  <a:srgbClr val="FFFFFF"/>
                </a:solidFill>
                <a:latin typeface="Canva Sans"/>
                <a:ea typeface="Canva Sans"/>
                <a:cs typeface="Canva Sans"/>
                <a:sym typeface="Canva Sans"/>
              </a:rPr>
              <a:t>Output is not an autonomous decision. The dashboard shows rank, recipe parameters, predicted retention, confidence, and reason; the researcher chooses Accept, Modify, or Reject.</a:t>
            </a:r>
          </a:p>
        </p:txBody>
      </p:sp>
      <p:sp>
        <p:nvSpPr>
          <p:cNvPr id="30" name="TextBox 30"/>
          <p:cNvSpPr txBox="1"/>
          <p:nvPr/>
        </p:nvSpPr>
        <p:spPr>
          <a:xfrm>
            <a:off x="13415149" y="6544956"/>
            <a:ext cx="3844151" cy="585083"/>
          </a:xfrm>
          <a:prstGeom prst="rect">
            <a:avLst/>
          </a:prstGeom>
        </p:spPr>
        <p:txBody>
          <a:bodyPr lIns="0" tIns="0" rIns="0" bIns="0" rtlCol="0" anchor="t">
            <a:spAutoFit/>
          </a:bodyPr>
          <a:lstStyle/>
          <a:p>
            <a:pPr marL="0" lvl="0" indent="0" algn="l">
              <a:lnSpc>
                <a:spcPts val="4304"/>
              </a:lnSpc>
            </a:pPr>
            <a:r>
              <a:rPr lang="en-US" sz="4891" b="1" spc="-244">
                <a:solidFill>
                  <a:srgbClr val="FFFFFF"/>
                </a:solidFill>
                <a:latin typeface="Pragmatica Bold"/>
                <a:ea typeface="Pragmatica Bold"/>
                <a:cs typeface="Pragmatica Bold"/>
                <a:sym typeface="Pragmatica Bold"/>
              </a:rPr>
              <a:t>Top 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AutoShape 3"/>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4" name="AutoShape 4"/>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p:cNvSpPr/>
          <p:nvPr/>
        </p:nvSpPr>
        <p:spPr>
          <a:xfrm>
            <a:off x="6075187"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AutoShape 7"/>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8" name="Freeform 8"/>
          <p:cNvSpPr/>
          <p:nvPr/>
        </p:nvSpPr>
        <p:spPr>
          <a:xfrm>
            <a:off x="14950017" y="-1114244"/>
            <a:ext cx="8534070" cy="11618164"/>
          </a:xfrm>
          <a:custGeom>
            <a:avLst/>
            <a:gdLst/>
            <a:ahLst/>
            <a:cxnLst/>
            <a:rect l="l" t="t" r="r" b="b"/>
            <a:pathLst>
              <a:path w="8534070" h="11618164">
                <a:moveTo>
                  <a:pt x="0" y="0"/>
                </a:moveTo>
                <a:lnTo>
                  <a:pt x="8534069" y="0"/>
                </a:lnTo>
                <a:lnTo>
                  <a:pt x="8534069" y="11618163"/>
                </a:lnTo>
                <a:lnTo>
                  <a:pt x="0" y="11618163"/>
                </a:lnTo>
                <a:lnTo>
                  <a:pt x="0" y="0"/>
                </a:lnTo>
                <a:close/>
              </a:path>
            </a:pathLst>
          </a:custGeom>
          <a:blipFill>
            <a:blip r:embed="rId2">
              <a:alphaModFix amt="50000"/>
            </a:blip>
            <a:stretch>
              <a:fillRect/>
            </a:stretch>
          </a:blipFill>
        </p:spPr>
        <p:txBody>
          <a:bodyPr/>
          <a:lstStyle/>
          <a:p>
            <a:endParaRPr lang="en-US"/>
          </a:p>
        </p:txBody>
      </p:sp>
      <p:grpSp>
        <p:nvGrpSpPr>
          <p:cNvPr id="9" name="Group 9"/>
          <p:cNvGrpSpPr/>
          <p:nvPr/>
        </p:nvGrpSpPr>
        <p:grpSpPr>
          <a:xfrm>
            <a:off x="1028700" y="654448"/>
            <a:ext cx="16230600" cy="748504"/>
            <a:chOff x="0" y="0"/>
            <a:chExt cx="4274726" cy="197137"/>
          </a:xfrm>
        </p:grpSpPr>
        <p:sp>
          <p:nvSpPr>
            <p:cNvPr id="10" name="Freeform 10"/>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1" name="TextBox 11"/>
            <p:cNvSpPr txBox="1"/>
            <p:nvPr/>
          </p:nvSpPr>
          <p:spPr>
            <a:xfrm>
              <a:off x="0" y="38100"/>
              <a:ext cx="4274726" cy="159037"/>
            </a:xfrm>
            <a:prstGeom prst="rect">
              <a:avLst/>
            </a:prstGeom>
          </p:spPr>
          <p:txBody>
            <a:bodyPr lIns="50800" tIns="50800" rIns="50800" bIns="50800" rtlCol="0" anchor="ctr"/>
            <a:lstStyle/>
            <a:p>
              <a:pPr marL="0" lvl="0" indent="0" algn="ctr">
                <a:lnSpc>
                  <a:spcPts val="1619"/>
                </a:lnSpc>
              </a:pPr>
              <a:endParaRPr/>
            </a:p>
          </p:txBody>
        </p:sp>
      </p:grpSp>
      <p:sp>
        <p:nvSpPr>
          <p:cNvPr id="12" name="TextBox 12"/>
          <p:cNvSpPr txBox="1"/>
          <p:nvPr/>
        </p:nvSpPr>
        <p:spPr>
          <a:xfrm>
            <a:off x="1157857"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Background of the study</a:t>
            </a:r>
          </a:p>
        </p:txBody>
      </p:sp>
      <p:sp>
        <p:nvSpPr>
          <p:cNvPr id="13" name="TextBox 13"/>
          <p:cNvSpPr txBox="1"/>
          <p:nvPr/>
        </p:nvSpPr>
        <p:spPr>
          <a:xfrm>
            <a:off x="3358755"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Problem Statement</a:t>
            </a:r>
          </a:p>
        </p:txBody>
      </p:sp>
      <p:sp>
        <p:nvSpPr>
          <p:cNvPr id="14" name="TextBox 14"/>
          <p:cNvSpPr txBox="1"/>
          <p:nvPr/>
        </p:nvSpPr>
        <p:spPr>
          <a:xfrm>
            <a:off x="5108285"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Framework</a:t>
            </a:r>
          </a:p>
        </p:txBody>
      </p:sp>
      <p:sp>
        <p:nvSpPr>
          <p:cNvPr id="15" name="TextBox 15"/>
          <p:cNvSpPr txBox="1"/>
          <p:nvPr/>
        </p:nvSpPr>
        <p:spPr>
          <a:xfrm>
            <a:off x="6552810"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Methodology</a:t>
            </a:r>
          </a:p>
        </p:txBody>
      </p:sp>
      <p:sp>
        <p:nvSpPr>
          <p:cNvPr id="16" name="TextBox 16"/>
          <p:cNvSpPr txBox="1"/>
          <p:nvPr/>
        </p:nvSpPr>
        <p:spPr>
          <a:xfrm>
            <a:off x="14585765" y="904812"/>
            <a:ext cx="2498812" cy="394716"/>
          </a:xfrm>
          <a:prstGeom prst="rect">
            <a:avLst/>
          </a:prstGeom>
        </p:spPr>
        <p:txBody>
          <a:bodyPr lIns="0" tIns="0" rIns="0" bIns="0" rtlCol="0" anchor="t">
            <a:spAutoFit/>
          </a:bodyPr>
          <a:lstStyle/>
          <a:p>
            <a:pPr marL="0" lvl="0" indent="0" algn="r">
              <a:lnSpc>
                <a:spcPts val="1632"/>
              </a:lnSpc>
            </a:pPr>
            <a:r>
              <a:rPr lang="en-US" sz="1200" b="1" spc="-30">
                <a:solidFill>
                  <a:srgbClr val="FFFFFF"/>
                </a:solidFill>
                <a:latin typeface="Canva Sans Bold"/>
                <a:ea typeface="Canva Sans Bold"/>
                <a:cs typeface="Canva Sans Bold"/>
                <a:sym typeface="Canva Sans Bold"/>
              </a:rPr>
              <a:t>Hanoi University of Science and Technology</a:t>
            </a:r>
          </a:p>
        </p:txBody>
      </p:sp>
      <p:grpSp>
        <p:nvGrpSpPr>
          <p:cNvPr id="17" name="Group 17"/>
          <p:cNvGrpSpPr/>
          <p:nvPr/>
        </p:nvGrpSpPr>
        <p:grpSpPr>
          <a:xfrm>
            <a:off x="1157857" y="2743404"/>
            <a:ext cx="4906026" cy="1417263"/>
            <a:chOff x="0" y="0"/>
            <a:chExt cx="1495831" cy="432119"/>
          </a:xfrm>
        </p:grpSpPr>
        <p:sp>
          <p:nvSpPr>
            <p:cNvPr id="18" name="Freeform 18"/>
            <p:cNvSpPr/>
            <p:nvPr/>
          </p:nvSpPr>
          <p:spPr>
            <a:xfrm>
              <a:off x="0" y="0"/>
              <a:ext cx="1495831" cy="432119"/>
            </a:xfrm>
            <a:custGeom>
              <a:avLst/>
              <a:gdLst/>
              <a:ahLst/>
              <a:cxnLst/>
              <a:rect l="l" t="t" r="r" b="b"/>
              <a:pathLst>
                <a:path w="1495831" h="432119">
                  <a:moveTo>
                    <a:pt x="157804" y="0"/>
                  </a:moveTo>
                  <a:lnTo>
                    <a:pt x="1338026" y="0"/>
                  </a:lnTo>
                  <a:cubicBezTo>
                    <a:pt x="1425179" y="0"/>
                    <a:pt x="1495831" y="70651"/>
                    <a:pt x="1495831" y="157804"/>
                  </a:cubicBezTo>
                  <a:lnTo>
                    <a:pt x="1495831" y="274314"/>
                  </a:lnTo>
                  <a:cubicBezTo>
                    <a:pt x="1495831" y="361467"/>
                    <a:pt x="1425179" y="432119"/>
                    <a:pt x="1338026" y="432119"/>
                  </a:cubicBezTo>
                  <a:lnTo>
                    <a:pt x="157804" y="432119"/>
                  </a:lnTo>
                  <a:cubicBezTo>
                    <a:pt x="70651" y="432119"/>
                    <a:pt x="0" y="361467"/>
                    <a:pt x="0" y="274314"/>
                  </a:cubicBezTo>
                  <a:lnTo>
                    <a:pt x="0" y="157804"/>
                  </a:lnTo>
                  <a:cubicBezTo>
                    <a:pt x="0" y="70651"/>
                    <a:pt x="70651" y="0"/>
                    <a:pt x="157804" y="0"/>
                  </a:cubicBezTo>
                  <a:close/>
                </a:path>
              </a:pathLst>
            </a:custGeom>
            <a:gradFill rotWithShape="1">
              <a:gsLst>
                <a:gs pos="0">
                  <a:srgbClr val="FFFFFF">
                    <a:alpha val="10000"/>
                  </a:srgbClr>
                </a:gs>
                <a:gs pos="100000">
                  <a:srgbClr val="FFFFFF">
                    <a:alpha val="10500"/>
                  </a:srgbClr>
                </a:gs>
              </a:gsLst>
              <a:lin ang="0"/>
            </a:gradFill>
            <a:ln w="19050" cap="rnd">
              <a:solidFill>
                <a:srgbClr val="F9F9F9"/>
              </a:solidFill>
              <a:prstDash val="solid"/>
              <a:round/>
            </a:ln>
          </p:spPr>
          <p:txBody>
            <a:bodyPr/>
            <a:lstStyle/>
            <a:p>
              <a:endParaRPr lang="en-US"/>
            </a:p>
          </p:txBody>
        </p:sp>
        <p:sp>
          <p:nvSpPr>
            <p:cNvPr id="19" name="TextBox 19"/>
            <p:cNvSpPr txBox="1"/>
            <p:nvPr/>
          </p:nvSpPr>
          <p:spPr>
            <a:xfrm>
              <a:off x="0" y="-38100"/>
              <a:ext cx="1495831" cy="470219"/>
            </a:xfrm>
            <a:prstGeom prst="rect">
              <a:avLst/>
            </a:prstGeom>
          </p:spPr>
          <p:txBody>
            <a:bodyPr lIns="50800" tIns="50800" rIns="50800" bIns="50800" rtlCol="0" anchor="ctr"/>
            <a:lstStyle/>
            <a:p>
              <a:pPr marL="0" lvl="0" indent="0" algn="ctr">
                <a:lnSpc>
                  <a:spcPts val="2659"/>
                </a:lnSpc>
              </a:pPr>
              <a:endParaRPr/>
            </a:p>
          </p:txBody>
        </p:sp>
      </p:grpSp>
      <p:grpSp>
        <p:nvGrpSpPr>
          <p:cNvPr id="20" name="Group 20"/>
          <p:cNvGrpSpPr/>
          <p:nvPr/>
        </p:nvGrpSpPr>
        <p:grpSpPr>
          <a:xfrm>
            <a:off x="7257875" y="6204780"/>
            <a:ext cx="4906026" cy="1417263"/>
            <a:chOff x="0" y="0"/>
            <a:chExt cx="1495831" cy="432119"/>
          </a:xfrm>
        </p:grpSpPr>
        <p:sp>
          <p:nvSpPr>
            <p:cNvPr id="21" name="Freeform 21"/>
            <p:cNvSpPr/>
            <p:nvPr/>
          </p:nvSpPr>
          <p:spPr>
            <a:xfrm>
              <a:off x="0" y="0"/>
              <a:ext cx="1495831" cy="432119"/>
            </a:xfrm>
            <a:custGeom>
              <a:avLst/>
              <a:gdLst/>
              <a:ahLst/>
              <a:cxnLst/>
              <a:rect l="l" t="t" r="r" b="b"/>
              <a:pathLst>
                <a:path w="1495831" h="432119">
                  <a:moveTo>
                    <a:pt x="157804" y="0"/>
                  </a:moveTo>
                  <a:lnTo>
                    <a:pt x="1338026" y="0"/>
                  </a:lnTo>
                  <a:cubicBezTo>
                    <a:pt x="1425179" y="0"/>
                    <a:pt x="1495831" y="70651"/>
                    <a:pt x="1495831" y="157804"/>
                  </a:cubicBezTo>
                  <a:lnTo>
                    <a:pt x="1495831" y="274314"/>
                  </a:lnTo>
                  <a:cubicBezTo>
                    <a:pt x="1495831" y="361467"/>
                    <a:pt x="1425179" y="432119"/>
                    <a:pt x="1338026" y="432119"/>
                  </a:cubicBezTo>
                  <a:lnTo>
                    <a:pt x="157804" y="432119"/>
                  </a:lnTo>
                  <a:cubicBezTo>
                    <a:pt x="70651" y="432119"/>
                    <a:pt x="0" y="361467"/>
                    <a:pt x="0" y="274314"/>
                  </a:cubicBezTo>
                  <a:lnTo>
                    <a:pt x="0" y="157804"/>
                  </a:lnTo>
                  <a:cubicBezTo>
                    <a:pt x="0" y="70651"/>
                    <a:pt x="70651" y="0"/>
                    <a:pt x="157804" y="0"/>
                  </a:cubicBezTo>
                  <a:close/>
                </a:path>
              </a:pathLst>
            </a:custGeom>
            <a:gradFill rotWithShape="1">
              <a:gsLst>
                <a:gs pos="0">
                  <a:srgbClr val="FFFFFF">
                    <a:alpha val="10000"/>
                  </a:srgbClr>
                </a:gs>
                <a:gs pos="100000">
                  <a:srgbClr val="FFFFFF">
                    <a:alpha val="10500"/>
                  </a:srgbClr>
                </a:gs>
              </a:gsLst>
              <a:lin ang="0"/>
            </a:gradFill>
            <a:ln w="19050" cap="rnd">
              <a:solidFill>
                <a:srgbClr val="F9F9F9"/>
              </a:solidFill>
              <a:prstDash val="solid"/>
              <a:round/>
            </a:ln>
          </p:spPr>
          <p:txBody>
            <a:bodyPr/>
            <a:lstStyle/>
            <a:p>
              <a:endParaRPr lang="en-US"/>
            </a:p>
          </p:txBody>
        </p:sp>
        <p:sp>
          <p:nvSpPr>
            <p:cNvPr id="22" name="TextBox 22"/>
            <p:cNvSpPr txBox="1"/>
            <p:nvPr/>
          </p:nvSpPr>
          <p:spPr>
            <a:xfrm>
              <a:off x="0" y="-38100"/>
              <a:ext cx="1495831" cy="47021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3" name="Group 23"/>
          <p:cNvGrpSpPr/>
          <p:nvPr/>
        </p:nvGrpSpPr>
        <p:grpSpPr>
          <a:xfrm>
            <a:off x="1157857" y="4396992"/>
            <a:ext cx="4906026" cy="1417263"/>
            <a:chOff x="0" y="0"/>
            <a:chExt cx="1495831" cy="432119"/>
          </a:xfrm>
        </p:grpSpPr>
        <p:sp>
          <p:nvSpPr>
            <p:cNvPr id="24" name="Freeform 24"/>
            <p:cNvSpPr/>
            <p:nvPr/>
          </p:nvSpPr>
          <p:spPr>
            <a:xfrm>
              <a:off x="0" y="0"/>
              <a:ext cx="1495831" cy="432119"/>
            </a:xfrm>
            <a:custGeom>
              <a:avLst/>
              <a:gdLst/>
              <a:ahLst/>
              <a:cxnLst/>
              <a:rect l="l" t="t" r="r" b="b"/>
              <a:pathLst>
                <a:path w="1495831" h="432119">
                  <a:moveTo>
                    <a:pt x="157804" y="0"/>
                  </a:moveTo>
                  <a:lnTo>
                    <a:pt x="1338026" y="0"/>
                  </a:lnTo>
                  <a:cubicBezTo>
                    <a:pt x="1425179" y="0"/>
                    <a:pt x="1495831" y="70651"/>
                    <a:pt x="1495831" y="157804"/>
                  </a:cubicBezTo>
                  <a:lnTo>
                    <a:pt x="1495831" y="274314"/>
                  </a:lnTo>
                  <a:cubicBezTo>
                    <a:pt x="1495831" y="361467"/>
                    <a:pt x="1425179" y="432119"/>
                    <a:pt x="1338026" y="432119"/>
                  </a:cubicBezTo>
                  <a:lnTo>
                    <a:pt x="157804" y="432119"/>
                  </a:lnTo>
                  <a:cubicBezTo>
                    <a:pt x="70651" y="432119"/>
                    <a:pt x="0" y="361467"/>
                    <a:pt x="0" y="274314"/>
                  </a:cubicBezTo>
                  <a:lnTo>
                    <a:pt x="0" y="157804"/>
                  </a:lnTo>
                  <a:cubicBezTo>
                    <a:pt x="0" y="70651"/>
                    <a:pt x="70651" y="0"/>
                    <a:pt x="157804" y="0"/>
                  </a:cubicBezTo>
                  <a:close/>
                </a:path>
              </a:pathLst>
            </a:custGeom>
            <a:gradFill rotWithShape="1">
              <a:gsLst>
                <a:gs pos="0">
                  <a:srgbClr val="FFFFFF">
                    <a:alpha val="10000"/>
                  </a:srgbClr>
                </a:gs>
                <a:gs pos="100000">
                  <a:srgbClr val="FFFFFF">
                    <a:alpha val="10500"/>
                  </a:srgbClr>
                </a:gs>
              </a:gsLst>
              <a:lin ang="0"/>
            </a:gradFill>
            <a:ln w="19050" cap="rnd">
              <a:solidFill>
                <a:srgbClr val="F9F9F9"/>
              </a:solidFill>
              <a:prstDash val="solid"/>
              <a:round/>
            </a:ln>
          </p:spPr>
          <p:txBody>
            <a:bodyPr/>
            <a:lstStyle/>
            <a:p>
              <a:endParaRPr lang="en-US"/>
            </a:p>
          </p:txBody>
        </p:sp>
        <p:sp>
          <p:nvSpPr>
            <p:cNvPr id="25" name="TextBox 25"/>
            <p:cNvSpPr txBox="1"/>
            <p:nvPr/>
          </p:nvSpPr>
          <p:spPr>
            <a:xfrm>
              <a:off x="0" y="-38100"/>
              <a:ext cx="1495831" cy="47021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6" name="Group 26"/>
          <p:cNvGrpSpPr/>
          <p:nvPr/>
        </p:nvGrpSpPr>
        <p:grpSpPr>
          <a:xfrm>
            <a:off x="7257875" y="7858368"/>
            <a:ext cx="4906026" cy="1417263"/>
            <a:chOff x="0" y="0"/>
            <a:chExt cx="1495831" cy="432119"/>
          </a:xfrm>
        </p:grpSpPr>
        <p:sp>
          <p:nvSpPr>
            <p:cNvPr id="27" name="Freeform 27"/>
            <p:cNvSpPr/>
            <p:nvPr/>
          </p:nvSpPr>
          <p:spPr>
            <a:xfrm>
              <a:off x="0" y="0"/>
              <a:ext cx="1495831" cy="432119"/>
            </a:xfrm>
            <a:custGeom>
              <a:avLst/>
              <a:gdLst/>
              <a:ahLst/>
              <a:cxnLst/>
              <a:rect l="l" t="t" r="r" b="b"/>
              <a:pathLst>
                <a:path w="1495831" h="432119">
                  <a:moveTo>
                    <a:pt x="157804" y="0"/>
                  </a:moveTo>
                  <a:lnTo>
                    <a:pt x="1338026" y="0"/>
                  </a:lnTo>
                  <a:cubicBezTo>
                    <a:pt x="1425179" y="0"/>
                    <a:pt x="1495831" y="70651"/>
                    <a:pt x="1495831" y="157804"/>
                  </a:cubicBezTo>
                  <a:lnTo>
                    <a:pt x="1495831" y="274314"/>
                  </a:lnTo>
                  <a:cubicBezTo>
                    <a:pt x="1495831" y="361467"/>
                    <a:pt x="1425179" y="432119"/>
                    <a:pt x="1338026" y="432119"/>
                  </a:cubicBezTo>
                  <a:lnTo>
                    <a:pt x="157804" y="432119"/>
                  </a:lnTo>
                  <a:cubicBezTo>
                    <a:pt x="70651" y="432119"/>
                    <a:pt x="0" y="361467"/>
                    <a:pt x="0" y="274314"/>
                  </a:cubicBezTo>
                  <a:lnTo>
                    <a:pt x="0" y="157804"/>
                  </a:lnTo>
                  <a:cubicBezTo>
                    <a:pt x="0" y="70651"/>
                    <a:pt x="70651" y="0"/>
                    <a:pt x="157804" y="0"/>
                  </a:cubicBezTo>
                  <a:close/>
                </a:path>
              </a:pathLst>
            </a:custGeom>
            <a:gradFill rotWithShape="1">
              <a:gsLst>
                <a:gs pos="0">
                  <a:srgbClr val="FFFFFF">
                    <a:alpha val="10000"/>
                  </a:srgbClr>
                </a:gs>
                <a:gs pos="100000">
                  <a:srgbClr val="FFFFFF">
                    <a:alpha val="10500"/>
                  </a:srgbClr>
                </a:gs>
              </a:gsLst>
              <a:lin ang="0"/>
            </a:gradFill>
            <a:ln w="19050" cap="rnd">
              <a:solidFill>
                <a:srgbClr val="F9F9F9"/>
              </a:solidFill>
              <a:prstDash val="solid"/>
              <a:round/>
            </a:ln>
          </p:spPr>
          <p:txBody>
            <a:bodyPr/>
            <a:lstStyle/>
            <a:p>
              <a:endParaRPr lang="en-US"/>
            </a:p>
          </p:txBody>
        </p:sp>
        <p:sp>
          <p:nvSpPr>
            <p:cNvPr id="28" name="TextBox 28"/>
            <p:cNvSpPr txBox="1"/>
            <p:nvPr/>
          </p:nvSpPr>
          <p:spPr>
            <a:xfrm>
              <a:off x="0" y="-38100"/>
              <a:ext cx="1495831" cy="47021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9" name="Group 29"/>
          <p:cNvGrpSpPr/>
          <p:nvPr/>
        </p:nvGrpSpPr>
        <p:grpSpPr>
          <a:xfrm>
            <a:off x="1289438" y="2869907"/>
            <a:ext cx="1148073" cy="1137933"/>
            <a:chOff x="0" y="0"/>
            <a:chExt cx="997623" cy="988812"/>
          </a:xfrm>
        </p:grpSpPr>
        <p:sp>
          <p:nvSpPr>
            <p:cNvPr id="30" name="Freeform 30"/>
            <p:cNvSpPr/>
            <p:nvPr/>
          </p:nvSpPr>
          <p:spPr>
            <a:xfrm>
              <a:off x="0" y="0"/>
              <a:ext cx="997623" cy="988812"/>
            </a:xfrm>
            <a:custGeom>
              <a:avLst/>
              <a:gdLst/>
              <a:ahLst/>
              <a:cxnLst/>
              <a:rect l="l" t="t" r="r" b="b"/>
              <a:pathLst>
                <a:path w="997623" h="988812">
                  <a:moveTo>
                    <a:pt x="494406" y="0"/>
                  </a:moveTo>
                  <a:lnTo>
                    <a:pt x="503217" y="0"/>
                  </a:lnTo>
                  <a:cubicBezTo>
                    <a:pt x="776270" y="0"/>
                    <a:pt x="997623" y="221353"/>
                    <a:pt x="997623" y="494406"/>
                  </a:cubicBezTo>
                  <a:lnTo>
                    <a:pt x="997623" y="494406"/>
                  </a:lnTo>
                  <a:cubicBezTo>
                    <a:pt x="997623" y="625531"/>
                    <a:pt x="945534" y="751285"/>
                    <a:pt x="852815" y="844004"/>
                  </a:cubicBezTo>
                  <a:cubicBezTo>
                    <a:pt x="760096" y="936723"/>
                    <a:pt x="634342" y="988812"/>
                    <a:pt x="503217" y="988812"/>
                  </a:cubicBezTo>
                  <a:lnTo>
                    <a:pt x="494406" y="988812"/>
                  </a:lnTo>
                  <a:cubicBezTo>
                    <a:pt x="363281" y="988812"/>
                    <a:pt x="237527" y="936723"/>
                    <a:pt x="144808" y="844004"/>
                  </a:cubicBezTo>
                  <a:cubicBezTo>
                    <a:pt x="52089" y="751285"/>
                    <a:pt x="0" y="625531"/>
                    <a:pt x="0" y="494406"/>
                  </a:cubicBezTo>
                  <a:lnTo>
                    <a:pt x="0" y="494406"/>
                  </a:lnTo>
                  <a:cubicBezTo>
                    <a:pt x="0" y="363281"/>
                    <a:pt x="52089" y="237527"/>
                    <a:pt x="144808" y="144808"/>
                  </a:cubicBezTo>
                  <a:cubicBezTo>
                    <a:pt x="237527" y="52089"/>
                    <a:pt x="363281" y="0"/>
                    <a:pt x="494406" y="0"/>
                  </a:cubicBezTo>
                  <a:close/>
                </a:path>
              </a:pathLst>
            </a:custGeom>
            <a:solidFill>
              <a:srgbClr val="2ABF00"/>
            </a:solidFill>
            <a:ln w="19050" cap="rnd">
              <a:solidFill>
                <a:srgbClr val="F9F9F9"/>
              </a:solidFill>
              <a:prstDash val="solid"/>
              <a:round/>
            </a:ln>
          </p:spPr>
          <p:txBody>
            <a:bodyPr/>
            <a:lstStyle/>
            <a:p>
              <a:endParaRPr lang="en-US"/>
            </a:p>
          </p:txBody>
        </p:sp>
        <p:sp>
          <p:nvSpPr>
            <p:cNvPr id="31" name="TextBox 31"/>
            <p:cNvSpPr txBox="1"/>
            <p:nvPr/>
          </p:nvSpPr>
          <p:spPr>
            <a:xfrm>
              <a:off x="0" y="-38100"/>
              <a:ext cx="997623" cy="102691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32" name="Group 32"/>
          <p:cNvGrpSpPr/>
          <p:nvPr/>
        </p:nvGrpSpPr>
        <p:grpSpPr>
          <a:xfrm>
            <a:off x="7389456" y="6331283"/>
            <a:ext cx="1148073" cy="1137933"/>
            <a:chOff x="0" y="0"/>
            <a:chExt cx="997623" cy="988812"/>
          </a:xfrm>
        </p:grpSpPr>
        <p:sp>
          <p:nvSpPr>
            <p:cNvPr id="33" name="Freeform 33"/>
            <p:cNvSpPr/>
            <p:nvPr/>
          </p:nvSpPr>
          <p:spPr>
            <a:xfrm>
              <a:off x="0" y="0"/>
              <a:ext cx="997623" cy="988812"/>
            </a:xfrm>
            <a:custGeom>
              <a:avLst/>
              <a:gdLst/>
              <a:ahLst/>
              <a:cxnLst/>
              <a:rect l="l" t="t" r="r" b="b"/>
              <a:pathLst>
                <a:path w="997623" h="988812">
                  <a:moveTo>
                    <a:pt x="494406" y="0"/>
                  </a:moveTo>
                  <a:lnTo>
                    <a:pt x="503217" y="0"/>
                  </a:lnTo>
                  <a:cubicBezTo>
                    <a:pt x="776270" y="0"/>
                    <a:pt x="997623" y="221353"/>
                    <a:pt x="997623" y="494406"/>
                  </a:cubicBezTo>
                  <a:lnTo>
                    <a:pt x="997623" y="494406"/>
                  </a:lnTo>
                  <a:cubicBezTo>
                    <a:pt x="997623" y="625531"/>
                    <a:pt x="945534" y="751285"/>
                    <a:pt x="852815" y="844004"/>
                  </a:cubicBezTo>
                  <a:cubicBezTo>
                    <a:pt x="760096" y="936723"/>
                    <a:pt x="634342" y="988812"/>
                    <a:pt x="503217" y="988812"/>
                  </a:cubicBezTo>
                  <a:lnTo>
                    <a:pt x="494406" y="988812"/>
                  </a:lnTo>
                  <a:cubicBezTo>
                    <a:pt x="363281" y="988812"/>
                    <a:pt x="237527" y="936723"/>
                    <a:pt x="144808" y="844004"/>
                  </a:cubicBezTo>
                  <a:cubicBezTo>
                    <a:pt x="52089" y="751285"/>
                    <a:pt x="0" y="625531"/>
                    <a:pt x="0" y="494406"/>
                  </a:cubicBezTo>
                  <a:lnTo>
                    <a:pt x="0" y="494406"/>
                  </a:lnTo>
                  <a:cubicBezTo>
                    <a:pt x="0" y="363281"/>
                    <a:pt x="52089" y="237527"/>
                    <a:pt x="144808" y="144808"/>
                  </a:cubicBezTo>
                  <a:cubicBezTo>
                    <a:pt x="237527" y="52089"/>
                    <a:pt x="363281" y="0"/>
                    <a:pt x="494406" y="0"/>
                  </a:cubicBezTo>
                  <a:close/>
                </a:path>
              </a:pathLst>
            </a:custGeom>
            <a:solidFill>
              <a:srgbClr val="2ABF00"/>
            </a:solidFill>
            <a:ln w="19050" cap="rnd">
              <a:solidFill>
                <a:srgbClr val="F9F9F9"/>
              </a:solidFill>
              <a:prstDash val="solid"/>
              <a:round/>
            </a:ln>
          </p:spPr>
          <p:txBody>
            <a:bodyPr/>
            <a:lstStyle/>
            <a:p>
              <a:endParaRPr lang="en-US"/>
            </a:p>
          </p:txBody>
        </p:sp>
        <p:sp>
          <p:nvSpPr>
            <p:cNvPr id="34" name="TextBox 34"/>
            <p:cNvSpPr txBox="1"/>
            <p:nvPr/>
          </p:nvSpPr>
          <p:spPr>
            <a:xfrm>
              <a:off x="0" y="-38100"/>
              <a:ext cx="997623" cy="102691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35" name="Group 35"/>
          <p:cNvGrpSpPr/>
          <p:nvPr/>
        </p:nvGrpSpPr>
        <p:grpSpPr>
          <a:xfrm>
            <a:off x="1289438" y="4523495"/>
            <a:ext cx="1148073" cy="1137933"/>
            <a:chOff x="0" y="0"/>
            <a:chExt cx="997623" cy="988812"/>
          </a:xfrm>
        </p:grpSpPr>
        <p:sp>
          <p:nvSpPr>
            <p:cNvPr id="36" name="Freeform 36"/>
            <p:cNvSpPr/>
            <p:nvPr/>
          </p:nvSpPr>
          <p:spPr>
            <a:xfrm>
              <a:off x="0" y="0"/>
              <a:ext cx="997623" cy="988812"/>
            </a:xfrm>
            <a:custGeom>
              <a:avLst/>
              <a:gdLst/>
              <a:ahLst/>
              <a:cxnLst/>
              <a:rect l="l" t="t" r="r" b="b"/>
              <a:pathLst>
                <a:path w="997623" h="988812">
                  <a:moveTo>
                    <a:pt x="494406" y="0"/>
                  </a:moveTo>
                  <a:lnTo>
                    <a:pt x="503217" y="0"/>
                  </a:lnTo>
                  <a:cubicBezTo>
                    <a:pt x="776270" y="0"/>
                    <a:pt x="997623" y="221353"/>
                    <a:pt x="997623" y="494406"/>
                  </a:cubicBezTo>
                  <a:lnTo>
                    <a:pt x="997623" y="494406"/>
                  </a:lnTo>
                  <a:cubicBezTo>
                    <a:pt x="997623" y="625531"/>
                    <a:pt x="945534" y="751285"/>
                    <a:pt x="852815" y="844004"/>
                  </a:cubicBezTo>
                  <a:cubicBezTo>
                    <a:pt x="760096" y="936723"/>
                    <a:pt x="634342" y="988812"/>
                    <a:pt x="503217" y="988812"/>
                  </a:cubicBezTo>
                  <a:lnTo>
                    <a:pt x="494406" y="988812"/>
                  </a:lnTo>
                  <a:cubicBezTo>
                    <a:pt x="363281" y="988812"/>
                    <a:pt x="237527" y="936723"/>
                    <a:pt x="144808" y="844004"/>
                  </a:cubicBezTo>
                  <a:cubicBezTo>
                    <a:pt x="52089" y="751285"/>
                    <a:pt x="0" y="625531"/>
                    <a:pt x="0" y="494406"/>
                  </a:cubicBezTo>
                  <a:lnTo>
                    <a:pt x="0" y="494406"/>
                  </a:lnTo>
                  <a:cubicBezTo>
                    <a:pt x="0" y="363281"/>
                    <a:pt x="52089" y="237527"/>
                    <a:pt x="144808" y="144808"/>
                  </a:cubicBezTo>
                  <a:cubicBezTo>
                    <a:pt x="237527" y="52089"/>
                    <a:pt x="363281" y="0"/>
                    <a:pt x="494406" y="0"/>
                  </a:cubicBezTo>
                  <a:close/>
                </a:path>
              </a:pathLst>
            </a:custGeom>
            <a:solidFill>
              <a:srgbClr val="FFFFFF"/>
            </a:solidFill>
            <a:ln w="19050" cap="rnd">
              <a:solidFill>
                <a:srgbClr val="F9F9F9"/>
              </a:solidFill>
              <a:prstDash val="solid"/>
              <a:round/>
            </a:ln>
          </p:spPr>
          <p:txBody>
            <a:bodyPr/>
            <a:lstStyle/>
            <a:p>
              <a:endParaRPr lang="en-US"/>
            </a:p>
          </p:txBody>
        </p:sp>
        <p:sp>
          <p:nvSpPr>
            <p:cNvPr id="37" name="TextBox 37"/>
            <p:cNvSpPr txBox="1"/>
            <p:nvPr/>
          </p:nvSpPr>
          <p:spPr>
            <a:xfrm>
              <a:off x="0" y="-38100"/>
              <a:ext cx="997623" cy="102691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38" name="Group 38"/>
          <p:cNvGrpSpPr/>
          <p:nvPr/>
        </p:nvGrpSpPr>
        <p:grpSpPr>
          <a:xfrm>
            <a:off x="7389456" y="7984871"/>
            <a:ext cx="1148073" cy="1137933"/>
            <a:chOff x="0" y="0"/>
            <a:chExt cx="997623" cy="988812"/>
          </a:xfrm>
        </p:grpSpPr>
        <p:sp>
          <p:nvSpPr>
            <p:cNvPr id="39" name="Freeform 39"/>
            <p:cNvSpPr/>
            <p:nvPr/>
          </p:nvSpPr>
          <p:spPr>
            <a:xfrm>
              <a:off x="0" y="0"/>
              <a:ext cx="997623" cy="988812"/>
            </a:xfrm>
            <a:custGeom>
              <a:avLst/>
              <a:gdLst/>
              <a:ahLst/>
              <a:cxnLst/>
              <a:rect l="l" t="t" r="r" b="b"/>
              <a:pathLst>
                <a:path w="997623" h="988812">
                  <a:moveTo>
                    <a:pt x="494406" y="0"/>
                  </a:moveTo>
                  <a:lnTo>
                    <a:pt x="503217" y="0"/>
                  </a:lnTo>
                  <a:cubicBezTo>
                    <a:pt x="776270" y="0"/>
                    <a:pt x="997623" y="221353"/>
                    <a:pt x="997623" y="494406"/>
                  </a:cubicBezTo>
                  <a:lnTo>
                    <a:pt x="997623" y="494406"/>
                  </a:lnTo>
                  <a:cubicBezTo>
                    <a:pt x="997623" y="625531"/>
                    <a:pt x="945534" y="751285"/>
                    <a:pt x="852815" y="844004"/>
                  </a:cubicBezTo>
                  <a:cubicBezTo>
                    <a:pt x="760096" y="936723"/>
                    <a:pt x="634342" y="988812"/>
                    <a:pt x="503217" y="988812"/>
                  </a:cubicBezTo>
                  <a:lnTo>
                    <a:pt x="494406" y="988812"/>
                  </a:lnTo>
                  <a:cubicBezTo>
                    <a:pt x="363281" y="988812"/>
                    <a:pt x="237527" y="936723"/>
                    <a:pt x="144808" y="844004"/>
                  </a:cubicBezTo>
                  <a:cubicBezTo>
                    <a:pt x="52089" y="751285"/>
                    <a:pt x="0" y="625531"/>
                    <a:pt x="0" y="494406"/>
                  </a:cubicBezTo>
                  <a:lnTo>
                    <a:pt x="0" y="494406"/>
                  </a:lnTo>
                  <a:cubicBezTo>
                    <a:pt x="0" y="363281"/>
                    <a:pt x="52089" y="237527"/>
                    <a:pt x="144808" y="144808"/>
                  </a:cubicBezTo>
                  <a:cubicBezTo>
                    <a:pt x="237527" y="52089"/>
                    <a:pt x="363281" y="0"/>
                    <a:pt x="494406" y="0"/>
                  </a:cubicBezTo>
                  <a:close/>
                </a:path>
              </a:pathLst>
            </a:custGeom>
            <a:solidFill>
              <a:srgbClr val="FFFFFF"/>
            </a:solidFill>
            <a:ln w="19050" cap="rnd">
              <a:solidFill>
                <a:srgbClr val="F9F9F9"/>
              </a:solidFill>
              <a:prstDash val="solid"/>
              <a:round/>
            </a:ln>
          </p:spPr>
          <p:txBody>
            <a:bodyPr/>
            <a:lstStyle/>
            <a:p>
              <a:endParaRPr lang="en-US"/>
            </a:p>
          </p:txBody>
        </p:sp>
        <p:sp>
          <p:nvSpPr>
            <p:cNvPr id="40" name="TextBox 40"/>
            <p:cNvSpPr txBox="1"/>
            <p:nvPr/>
          </p:nvSpPr>
          <p:spPr>
            <a:xfrm>
              <a:off x="0" y="-38100"/>
              <a:ext cx="997623" cy="102691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41" name="TextBox 41"/>
          <p:cNvSpPr txBox="1"/>
          <p:nvPr/>
        </p:nvSpPr>
        <p:spPr>
          <a:xfrm>
            <a:off x="2914691" y="3175639"/>
            <a:ext cx="2438347" cy="368545"/>
          </a:xfrm>
          <a:prstGeom prst="rect">
            <a:avLst/>
          </a:prstGeom>
        </p:spPr>
        <p:txBody>
          <a:bodyPr lIns="0" tIns="0" rIns="0" bIns="0" rtlCol="0" anchor="t">
            <a:spAutoFit/>
          </a:bodyPr>
          <a:lstStyle/>
          <a:p>
            <a:pPr marL="0" lvl="0" indent="0" algn="l">
              <a:lnSpc>
                <a:spcPts val="1406"/>
              </a:lnSpc>
            </a:pPr>
            <a:r>
              <a:rPr lang="en-US" sz="1597" spc="-79">
                <a:solidFill>
                  <a:srgbClr val="FFFFFF"/>
                </a:solidFill>
                <a:latin typeface="Pragmatica"/>
                <a:ea typeface="Pragmatica"/>
                <a:cs typeface="Pragmatica"/>
                <a:sym typeface="Pragmatica"/>
              </a:rPr>
              <a:t>Specific Capacity</a:t>
            </a:r>
          </a:p>
          <a:p>
            <a:pPr marL="0" lvl="0" indent="0" algn="l">
              <a:lnSpc>
                <a:spcPts val="1406"/>
              </a:lnSpc>
            </a:pPr>
            <a:r>
              <a:rPr lang="en-US" sz="1597" spc="-79">
                <a:solidFill>
                  <a:srgbClr val="FFFFFF"/>
                </a:solidFill>
                <a:latin typeface="Pragmatica"/>
                <a:ea typeface="Pragmatica"/>
                <a:cs typeface="Pragmatica"/>
                <a:sym typeface="Pragmatica"/>
              </a:rPr>
              <a:t>≥1450 mAh/g @ 0.1C</a:t>
            </a:r>
          </a:p>
        </p:txBody>
      </p:sp>
      <p:sp>
        <p:nvSpPr>
          <p:cNvPr id="42" name="TextBox 42"/>
          <p:cNvSpPr txBox="1"/>
          <p:nvPr/>
        </p:nvSpPr>
        <p:spPr>
          <a:xfrm>
            <a:off x="9014709" y="6764391"/>
            <a:ext cx="2438347" cy="368545"/>
          </a:xfrm>
          <a:prstGeom prst="rect">
            <a:avLst/>
          </a:prstGeom>
        </p:spPr>
        <p:txBody>
          <a:bodyPr lIns="0" tIns="0" rIns="0" bIns="0" rtlCol="0" anchor="t">
            <a:spAutoFit/>
          </a:bodyPr>
          <a:lstStyle/>
          <a:p>
            <a:pPr marL="0" lvl="0" indent="0" algn="l">
              <a:lnSpc>
                <a:spcPts val="1406"/>
              </a:lnSpc>
            </a:pPr>
            <a:r>
              <a:rPr lang="en-US" sz="1597" spc="-79">
                <a:solidFill>
                  <a:srgbClr val="FFFFFF"/>
                </a:solidFill>
                <a:latin typeface="Pragmatica"/>
                <a:ea typeface="Pragmatica"/>
                <a:cs typeface="Pragmatica"/>
                <a:sym typeface="Pragmatica"/>
              </a:rPr>
              <a:t>Model Target</a:t>
            </a:r>
          </a:p>
          <a:p>
            <a:pPr marL="0" lvl="0" indent="0" algn="l">
              <a:lnSpc>
                <a:spcPts val="1406"/>
              </a:lnSpc>
            </a:pPr>
            <a:r>
              <a:rPr lang="en-US" sz="1597" spc="-79">
                <a:solidFill>
                  <a:srgbClr val="FFFFFF"/>
                </a:solidFill>
                <a:latin typeface="Pragmatica"/>
                <a:ea typeface="Pragmatica"/>
                <a:cs typeface="Pragmatica"/>
                <a:sym typeface="Pragmatica"/>
              </a:rPr>
              <a:t>retention_100</a:t>
            </a:r>
          </a:p>
        </p:txBody>
      </p:sp>
      <p:sp>
        <p:nvSpPr>
          <p:cNvPr id="43" name="TextBox 43"/>
          <p:cNvSpPr txBox="1"/>
          <p:nvPr/>
        </p:nvSpPr>
        <p:spPr>
          <a:xfrm>
            <a:off x="2914691" y="4956603"/>
            <a:ext cx="2942876" cy="368545"/>
          </a:xfrm>
          <a:prstGeom prst="rect">
            <a:avLst/>
          </a:prstGeom>
        </p:spPr>
        <p:txBody>
          <a:bodyPr lIns="0" tIns="0" rIns="0" bIns="0" rtlCol="0" anchor="t">
            <a:spAutoFit/>
          </a:bodyPr>
          <a:lstStyle/>
          <a:p>
            <a:pPr marL="0" lvl="0" indent="0" algn="l">
              <a:lnSpc>
                <a:spcPts val="1406"/>
              </a:lnSpc>
            </a:pPr>
            <a:r>
              <a:rPr lang="en-US" sz="1597" spc="-79">
                <a:solidFill>
                  <a:srgbClr val="FFFFFF"/>
                </a:solidFill>
                <a:latin typeface="Pragmatica"/>
                <a:ea typeface="Pragmatica"/>
                <a:cs typeface="Pragmatica"/>
                <a:sym typeface="Pragmatica"/>
              </a:rPr>
              <a:t>Initial Coulombic</a:t>
            </a:r>
          </a:p>
          <a:p>
            <a:pPr marL="0" lvl="0" indent="0" algn="l">
              <a:lnSpc>
                <a:spcPts val="1406"/>
              </a:lnSpc>
            </a:pPr>
            <a:r>
              <a:rPr lang="en-US" sz="1597" spc="-79">
                <a:solidFill>
                  <a:srgbClr val="FFFFFF"/>
                </a:solidFill>
                <a:latin typeface="Pragmatica"/>
                <a:ea typeface="Pragmatica"/>
                <a:cs typeface="Pragmatica"/>
                <a:sym typeface="Pragmatica"/>
              </a:rPr>
              <a:t>Efficiency ≥82.5%</a:t>
            </a:r>
          </a:p>
        </p:txBody>
      </p:sp>
      <p:sp>
        <p:nvSpPr>
          <p:cNvPr id="44" name="TextBox 44"/>
          <p:cNvSpPr txBox="1"/>
          <p:nvPr/>
        </p:nvSpPr>
        <p:spPr>
          <a:xfrm>
            <a:off x="9014709" y="8417979"/>
            <a:ext cx="2438347" cy="368545"/>
          </a:xfrm>
          <a:prstGeom prst="rect">
            <a:avLst/>
          </a:prstGeom>
        </p:spPr>
        <p:txBody>
          <a:bodyPr lIns="0" tIns="0" rIns="0" bIns="0" rtlCol="0" anchor="t">
            <a:spAutoFit/>
          </a:bodyPr>
          <a:lstStyle/>
          <a:p>
            <a:pPr marL="0" lvl="0" indent="0" algn="l">
              <a:lnSpc>
                <a:spcPts val="1406"/>
              </a:lnSpc>
            </a:pPr>
            <a:r>
              <a:rPr lang="en-US" sz="1597" spc="-79">
                <a:solidFill>
                  <a:srgbClr val="FFFFFF"/>
                </a:solidFill>
                <a:latin typeface="Pragmatica"/>
                <a:ea typeface="Pragmatica"/>
                <a:cs typeface="Pragmatica"/>
                <a:sym typeface="Pragmatica"/>
              </a:rPr>
              <a:t>Deliver 2 kg</a:t>
            </a:r>
          </a:p>
          <a:p>
            <a:pPr marL="0" lvl="0" indent="0" algn="l">
              <a:lnSpc>
                <a:spcPts val="1406"/>
              </a:lnSpc>
            </a:pPr>
            <a:r>
              <a:rPr lang="en-US" sz="1597" spc="-79">
                <a:solidFill>
                  <a:srgbClr val="FFFFFF"/>
                </a:solidFill>
                <a:latin typeface="Pragmatica"/>
                <a:ea typeface="Pragmatica"/>
                <a:cs typeface="Pragmatica"/>
                <a:sym typeface="Pragmatica"/>
              </a:rPr>
              <a:t>Finished Powder</a:t>
            </a:r>
          </a:p>
        </p:txBody>
      </p:sp>
      <p:grpSp>
        <p:nvGrpSpPr>
          <p:cNvPr id="45" name="Group 45"/>
          <p:cNvGrpSpPr/>
          <p:nvPr/>
        </p:nvGrpSpPr>
        <p:grpSpPr>
          <a:xfrm>
            <a:off x="6167469" y="2726074"/>
            <a:ext cx="4906026" cy="1417263"/>
            <a:chOff x="0" y="0"/>
            <a:chExt cx="1495831" cy="432119"/>
          </a:xfrm>
        </p:grpSpPr>
        <p:sp>
          <p:nvSpPr>
            <p:cNvPr id="46" name="Freeform 46"/>
            <p:cNvSpPr/>
            <p:nvPr/>
          </p:nvSpPr>
          <p:spPr>
            <a:xfrm>
              <a:off x="0" y="0"/>
              <a:ext cx="1495831" cy="432119"/>
            </a:xfrm>
            <a:custGeom>
              <a:avLst/>
              <a:gdLst/>
              <a:ahLst/>
              <a:cxnLst/>
              <a:rect l="l" t="t" r="r" b="b"/>
              <a:pathLst>
                <a:path w="1495831" h="432119">
                  <a:moveTo>
                    <a:pt x="157804" y="0"/>
                  </a:moveTo>
                  <a:lnTo>
                    <a:pt x="1338026" y="0"/>
                  </a:lnTo>
                  <a:cubicBezTo>
                    <a:pt x="1425179" y="0"/>
                    <a:pt x="1495831" y="70651"/>
                    <a:pt x="1495831" y="157804"/>
                  </a:cubicBezTo>
                  <a:lnTo>
                    <a:pt x="1495831" y="274314"/>
                  </a:lnTo>
                  <a:cubicBezTo>
                    <a:pt x="1495831" y="361467"/>
                    <a:pt x="1425179" y="432119"/>
                    <a:pt x="1338026" y="432119"/>
                  </a:cubicBezTo>
                  <a:lnTo>
                    <a:pt x="157804" y="432119"/>
                  </a:lnTo>
                  <a:cubicBezTo>
                    <a:pt x="70651" y="432119"/>
                    <a:pt x="0" y="361467"/>
                    <a:pt x="0" y="274314"/>
                  </a:cubicBezTo>
                  <a:lnTo>
                    <a:pt x="0" y="157804"/>
                  </a:lnTo>
                  <a:cubicBezTo>
                    <a:pt x="0" y="70651"/>
                    <a:pt x="70651" y="0"/>
                    <a:pt x="157804" y="0"/>
                  </a:cubicBezTo>
                  <a:close/>
                </a:path>
              </a:pathLst>
            </a:custGeom>
            <a:gradFill rotWithShape="1">
              <a:gsLst>
                <a:gs pos="0">
                  <a:srgbClr val="FFFFFF">
                    <a:alpha val="10000"/>
                  </a:srgbClr>
                </a:gs>
                <a:gs pos="100000">
                  <a:srgbClr val="FFFFFF">
                    <a:alpha val="10500"/>
                  </a:srgbClr>
                </a:gs>
              </a:gsLst>
              <a:lin ang="0"/>
            </a:gradFill>
            <a:ln w="19050" cap="rnd">
              <a:solidFill>
                <a:srgbClr val="F9F9F9"/>
              </a:solidFill>
              <a:prstDash val="solid"/>
              <a:round/>
            </a:ln>
          </p:spPr>
          <p:txBody>
            <a:bodyPr/>
            <a:lstStyle/>
            <a:p>
              <a:endParaRPr lang="en-US"/>
            </a:p>
          </p:txBody>
        </p:sp>
        <p:sp>
          <p:nvSpPr>
            <p:cNvPr id="47" name="TextBox 47"/>
            <p:cNvSpPr txBox="1"/>
            <p:nvPr/>
          </p:nvSpPr>
          <p:spPr>
            <a:xfrm>
              <a:off x="0" y="-38100"/>
              <a:ext cx="1495831" cy="47021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48" name="Group 48"/>
          <p:cNvGrpSpPr/>
          <p:nvPr/>
        </p:nvGrpSpPr>
        <p:grpSpPr>
          <a:xfrm>
            <a:off x="12353274" y="6187449"/>
            <a:ext cx="4906026" cy="1417263"/>
            <a:chOff x="0" y="0"/>
            <a:chExt cx="1495831" cy="432119"/>
          </a:xfrm>
        </p:grpSpPr>
        <p:sp>
          <p:nvSpPr>
            <p:cNvPr id="49" name="Freeform 49"/>
            <p:cNvSpPr/>
            <p:nvPr/>
          </p:nvSpPr>
          <p:spPr>
            <a:xfrm>
              <a:off x="0" y="0"/>
              <a:ext cx="1495831" cy="432119"/>
            </a:xfrm>
            <a:custGeom>
              <a:avLst/>
              <a:gdLst/>
              <a:ahLst/>
              <a:cxnLst/>
              <a:rect l="l" t="t" r="r" b="b"/>
              <a:pathLst>
                <a:path w="1495831" h="432119">
                  <a:moveTo>
                    <a:pt x="157804" y="0"/>
                  </a:moveTo>
                  <a:lnTo>
                    <a:pt x="1338026" y="0"/>
                  </a:lnTo>
                  <a:cubicBezTo>
                    <a:pt x="1425179" y="0"/>
                    <a:pt x="1495831" y="70651"/>
                    <a:pt x="1495831" y="157804"/>
                  </a:cubicBezTo>
                  <a:lnTo>
                    <a:pt x="1495831" y="274314"/>
                  </a:lnTo>
                  <a:cubicBezTo>
                    <a:pt x="1495831" y="361467"/>
                    <a:pt x="1425179" y="432119"/>
                    <a:pt x="1338026" y="432119"/>
                  </a:cubicBezTo>
                  <a:lnTo>
                    <a:pt x="157804" y="432119"/>
                  </a:lnTo>
                  <a:cubicBezTo>
                    <a:pt x="70651" y="432119"/>
                    <a:pt x="0" y="361467"/>
                    <a:pt x="0" y="274314"/>
                  </a:cubicBezTo>
                  <a:lnTo>
                    <a:pt x="0" y="157804"/>
                  </a:lnTo>
                  <a:cubicBezTo>
                    <a:pt x="0" y="70651"/>
                    <a:pt x="70651" y="0"/>
                    <a:pt x="157804" y="0"/>
                  </a:cubicBezTo>
                  <a:close/>
                </a:path>
              </a:pathLst>
            </a:custGeom>
            <a:gradFill rotWithShape="1">
              <a:gsLst>
                <a:gs pos="0">
                  <a:srgbClr val="FFFFFF">
                    <a:alpha val="10000"/>
                  </a:srgbClr>
                </a:gs>
                <a:gs pos="100000">
                  <a:srgbClr val="FFFFFF">
                    <a:alpha val="10500"/>
                  </a:srgbClr>
                </a:gs>
              </a:gsLst>
              <a:lin ang="0"/>
            </a:gradFill>
            <a:ln w="19050" cap="rnd">
              <a:solidFill>
                <a:srgbClr val="F9F9F9"/>
              </a:solidFill>
              <a:prstDash val="solid"/>
              <a:round/>
            </a:ln>
          </p:spPr>
          <p:txBody>
            <a:bodyPr/>
            <a:lstStyle/>
            <a:p>
              <a:endParaRPr lang="en-US"/>
            </a:p>
          </p:txBody>
        </p:sp>
        <p:sp>
          <p:nvSpPr>
            <p:cNvPr id="50" name="TextBox 50"/>
            <p:cNvSpPr txBox="1"/>
            <p:nvPr/>
          </p:nvSpPr>
          <p:spPr>
            <a:xfrm>
              <a:off x="0" y="-38100"/>
              <a:ext cx="1495831" cy="47021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1" name="Group 51"/>
          <p:cNvGrpSpPr/>
          <p:nvPr/>
        </p:nvGrpSpPr>
        <p:grpSpPr>
          <a:xfrm>
            <a:off x="6299049" y="2852577"/>
            <a:ext cx="1148073" cy="1137933"/>
            <a:chOff x="0" y="0"/>
            <a:chExt cx="997623" cy="988812"/>
          </a:xfrm>
        </p:grpSpPr>
        <p:sp>
          <p:nvSpPr>
            <p:cNvPr id="52" name="Freeform 52"/>
            <p:cNvSpPr/>
            <p:nvPr/>
          </p:nvSpPr>
          <p:spPr>
            <a:xfrm>
              <a:off x="0" y="0"/>
              <a:ext cx="997623" cy="988812"/>
            </a:xfrm>
            <a:custGeom>
              <a:avLst/>
              <a:gdLst/>
              <a:ahLst/>
              <a:cxnLst/>
              <a:rect l="l" t="t" r="r" b="b"/>
              <a:pathLst>
                <a:path w="997623" h="988812">
                  <a:moveTo>
                    <a:pt x="494406" y="0"/>
                  </a:moveTo>
                  <a:lnTo>
                    <a:pt x="503217" y="0"/>
                  </a:lnTo>
                  <a:cubicBezTo>
                    <a:pt x="776270" y="0"/>
                    <a:pt x="997623" y="221353"/>
                    <a:pt x="997623" y="494406"/>
                  </a:cubicBezTo>
                  <a:lnTo>
                    <a:pt x="997623" y="494406"/>
                  </a:lnTo>
                  <a:cubicBezTo>
                    <a:pt x="997623" y="625531"/>
                    <a:pt x="945534" y="751285"/>
                    <a:pt x="852815" y="844004"/>
                  </a:cubicBezTo>
                  <a:cubicBezTo>
                    <a:pt x="760096" y="936723"/>
                    <a:pt x="634342" y="988812"/>
                    <a:pt x="503217" y="988812"/>
                  </a:cubicBezTo>
                  <a:lnTo>
                    <a:pt x="494406" y="988812"/>
                  </a:lnTo>
                  <a:cubicBezTo>
                    <a:pt x="363281" y="988812"/>
                    <a:pt x="237527" y="936723"/>
                    <a:pt x="144808" y="844004"/>
                  </a:cubicBezTo>
                  <a:cubicBezTo>
                    <a:pt x="52089" y="751285"/>
                    <a:pt x="0" y="625531"/>
                    <a:pt x="0" y="494406"/>
                  </a:cubicBezTo>
                  <a:lnTo>
                    <a:pt x="0" y="494406"/>
                  </a:lnTo>
                  <a:cubicBezTo>
                    <a:pt x="0" y="363281"/>
                    <a:pt x="52089" y="237527"/>
                    <a:pt x="144808" y="144808"/>
                  </a:cubicBezTo>
                  <a:cubicBezTo>
                    <a:pt x="237527" y="52089"/>
                    <a:pt x="363281" y="0"/>
                    <a:pt x="494406" y="0"/>
                  </a:cubicBezTo>
                  <a:close/>
                </a:path>
              </a:pathLst>
            </a:custGeom>
            <a:solidFill>
              <a:srgbClr val="2ABF00"/>
            </a:solidFill>
            <a:ln w="19050" cap="rnd">
              <a:solidFill>
                <a:srgbClr val="F9F9F9"/>
              </a:solidFill>
              <a:prstDash val="solid"/>
              <a:round/>
            </a:ln>
          </p:spPr>
          <p:txBody>
            <a:bodyPr/>
            <a:lstStyle/>
            <a:p>
              <a:endParaRPr lang="en-US"/>
            </a:p>
          </p:txBody>
        </p:sp>
        <p:sp>
          <p:nvSpPr>
            <p:cNvPr id="53" name="TextBox 53"/>
            <p:cNvSpPr txBox="1"/>
            <p:nvPr/>
          </p:nvSpPr>
          <p:spPr>
            <a:xfrm>
              <a:off x="0" y="-38100"/>
              <a:ext cx="997623" cy="102691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4" name="Group 54"/>
          <p:cNvGrpSpPr/>
          <p:nvPr/>
        </p:nvGrpSpPr>
        <p:grpSpPr>
          <a:xfrm>
            <a:off x="12484855" y="6313952"/>
            <a:ext cx="1148073" cy="1137933"/>
            <a:chOff x="0" y="0"/>
            <a:chExt cx="997623" cy="988812"/>
          </a:xfrm>
        </p:grpSpPr>
        <p:sp>
          <p:nvSpPr>
            <p:cNvPr id="55" name="Freeform 55"/>
            <p:cNvSpPr/>
            <p:nvPr/>
          </p:nvSpPr>
          <p:spPr>
            <a:xfrm>
              <a:off x="0" y="0"/>
              <a:ext cx="997623" cy="988812"/>
            </a:xfrm>
            <a:custGeom>
              <a:avLst/>
              <a:gdLst/>
              <a:ahLst/>
              <a:cxnLst/>
              <a:rect l="l" t="t" r="r" b="b"/>
              <a:pathLst>
                <a:path w="997623" h="988812">
                  <a:moveTo>
                    <a:pt x="494406" y="0"/>
                  </a:moveTo>
                  <a:lnTo>
                    <a:pt x="503217" y="0"/>
                  </a:lnTo>
                  <a:cubicBezTo>
                    <a:pt x="776270" y="0"/>
                    <a:pt x="997623" y="221353"/>
                    <a:pt x="997623" y="494406"/>
                  </a:cubicBezTo>
                  <a:lnTo>
                    <a:pt x="997623" y="494406"/>
                  </a:lnTo>
                  <a:cubicBezTo>
                    <a:pt x="997623" y="625531"/>
                    <a:pt x="945534" y="751285"/>
                    <a:pt x="852815" y="844004"/>
                  </a:cubicBezTo>
                  <a:cubicBezTo>
                    <a:pt x="760096" y="936723"/>
                    <a:pt x="634342" y="988812"/>
                    <a:pt x="503217" y="988812"/>
                  </a:cubicBezTo>
                  <a:lnTo>
                    <a:pt x="494406" y="988812"/>
                  </a:lnTo>
                  <a:cubicBezTo>
                    <a:pt x="363281" y="988812"/>
                    <a:pt x="237527" y="936723"/>
                    <a:pt x="144808" y="844004"/>
                  </a:cubicBezTo>
                  <a:cubicBezTo>
                    <a:pt x="52089" y="751285"/>
                    <a:pt x="0" y="625531"/>
                    <a:pt x="0" y="494406"/>
                  </a:cubicBezTo>
                  <a:lnTo>
                    <a:pt x="0" y="494406"/>
                  </a:lnTo>
                  <a:cubicBezTo>
                    <a:pt x="0" y="363281"/>
                    <a:pt x="52089" y="237527"/>
                    <a:pt x="144808" y="144808"/>
                  </a:cubicBezTo>
                  <a:cubicBezTo>
                    <a:pt x="237527" y="52089"/>
                    <a:pt x="363281" y="0"/>
                    <a:pt x="494406" y="0"/>
                  </a:cubicBezTo>
                  <a:close/>
                </a:path>
              </a:pathLst>
            </a:custGeom>
            <a:solidFill>
              <a:srgbClr val="2ABF00"/>
            </a:solidFill>
            <a:ln w="19050" cap="rnd">
              <a:solidFill>
                <a:srgbClr val="F9F9F9"/>
              </a:solidFill>
              <a:prstDash val="solid"/>
              <a:round/>
            </a:ln>
          </p:spPr>
          <p:txBody>
            <a:bodyPr/>
            <a:lstStyle/>
            <a:p>
              <a:endParaRPr lang="en-US"/>
            </a:p>
          </p:txBody>
        </p:sp>
        <p:sp>
          <p:nvSpPr>
            <p:cNvPr id="56" name="TextBox 56"/>
            <p:cNvSpPr txBox="1"/>
            <p:nvPr/>
          </p:nvSpPr>
          <p:spPr>
            <a:xfrm>
              <a:off x="0" y="-38100"/>
              <a:ext cx="997623" cy="102691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7" name="TextBox 57"/>
          <p:cNvSpPr txBox="1"/>
          <p:nvPr/>
        </p:nvSpPr>
        <p:spPr>
          <a:xfrm>
            <a:off x="7924302" y="3272030"/>
            <a:ext cx="2857844" cy="474163"/>
          </a:xfrm>
          <a:prstGeom prst="rect">
            <a:avLst/>
          </a:prstGeom>
        </p:spPr>
        <p:txBody>
          <a:bodyPr lIns="0" tIns="0" rIns="0" bIns="0" rtlCol="0" anchor="t">
            <a:spAutoFit/>
          </a:bodyPr>
          <a:lstStyle/>
          <a:p>
            <a:pPr marL="0" lvl="0" indent="0" algn="l">
              <a:lnSpc>
                <a:spcPts val="1917"/>
              </a:lnSpc>
            </a:pPr>
            <a:r>
              <a:rPr lang="en-US" sz="1597" spc="-79">
                <a:solidFill>
                  <a:srgbClr val="FFFFFF"/>
                </a:solidFill>
                <a:latin typeface="Pragmatica"/>
                <a:ea typeface="Pragmatica"/>
                <a:cs typeface="Pragmatica"/>
                <a:sym typeface="Pragmatica"/>
              </a:rPr>
              <a:t>Cycle Retention</a:t>
            </a:r>
          </a:p>
          <a:p>
            <a:pPr marL="0" lvl="0" indent="0" algn="l">
              <a:lnSpc>
                <a:spcPts val="1917"/>
              </a:lnSpc>
            </a:pPr>
            <a:r>
              <a:rPr lang="en-US" sz="1597" spc="-79">
                <a:solidFill>
                  <a:srgbClr val="FFFFFF"/>
                </a:solidFill>
                <a:latin typeface="Pragmatica"/>
                <a:ea typeface="Pragmatica"/>
                <a:cs typeface="Pragmatica"/>
                <a:sym typeface="Pragmatica"/>
              </a:rPr>
              <a:t>≥80% after 500 cycles</a:t>
            </a:r>
          </a:p>
        </p:txBody>
      </p:sp>
      <p:sp>
        <p:nvSpPr>
          <p:cNvPr id="58" name="TextBox 58"/>
          <p:cNvSpPr txBox="1"/>
          <p:nvPr/>
        </p:nvSpPr>
        <p:spPr>
          <a:xfrm>
            <a:off x="14110108" y="6747060"/>
            <a:ext cx="2672968" cy="368545"/>
          </a:xfrm>
          <a:prstGeom prst="rect">
            <a:avLst/>
          </a:prstGeom>
        </p:spPr>
        <p:txBody>
          <a:bodyPr lIns="0" tIns="0" rIns="0" bIns="0" rtlCol="0" anchor="t">
            <a:spAutoFit/>
          </a:bodyPr>
          <a:lstStyle/>
          <a:p>
            <a:pPr marL="0" lvl="0" indent="0" algn="l">
              <a:lnSpc>
                <a:spcPts val="1406"/>
              </a:lnSpc>
            </a:pPr>
            <a:r>
              <a:rPr lang="en-US" sz="1597" spc="-79">
                <a:solidFill>
                  <a:srgbClr val="FFFFFF"/>
                </a:solidFill>
                <a:latin typeface="Pragmatica"/>
                <a:ea typeface="Pragmatica"/>
                <a:cs typeface="Pragmatica"/>
                <a:sym typeface="Pragmatica"/>
              </a:rPr>
              <a:t>Rate Performance</a:t>
            </a:r>
          </a:p>
          <a:p>
            <a:pPr marL="0" lvl="0" indent="0" algn="l">
              <a:lnSpc>
                <a:spcPts val="1406"/>
              </a:lnSpc>
            </a:pPr>
            <a:r>
              <a:rPr lang="en-US" sz="1597" spc="-79">
                <a:solidFill>
                  <a:srgbClr val="FFFFFF"/>
                </a:solidFill>
                <a:latin typeface="Pragmatica"/>
                <a:ea typeface="Pragmatica"/>
                <a:cs typeface="Pragmatica"/>
                <a:sym typeface="Pragmatica"/>
              </a:rPr>
              <a:t>≥1000 mAh/g @ 2.0C</a:t>
            </a:r>
          </a:p>
        </p:txBody>
      </p:sp>
      <p:grpSp>
        <p:nvGrpSpPr>
          <p:cNvPr id="59" name="Group 59"/>
          <p:cNvGrpSpPr/>
          <p:nvPr/>
        </p:nvGrpSpPr>
        <p:grpSpPr>
          <a:xfrm>
            <a:off x="6167469" y="4379662"/>
            <a:ext cx="4906026" cy="1417263"/>
            <a:chOff x="0" y="0"/>
            <a:chExt cx="1495831" cy="432119"/>
          </a:xfrm>
        </p:grpSpPr>
        <p:sp>
          <p:nvSpPr>
            <p:cNvPr id="60" name="Freeform 60"/>
            <p:cNvSpPr/>
            <p:nvPr/>
          </p:nvSpPr>
          <p:spPr>
            <a:xfrm>
              <a:off x="0" y="0"/>
              <a:ext cx="1495831" cy="432119"/>
            </a:xfrm>
            <a:custGeom>
              <a:avLst/>
              <a:gdLst/>
              <a:ahLst/>
              <a:cxnLst/>
              <a:rect l="l" t="t" r="r" b="b"/>
              <a:pathLst>
                <a:path w="1495831" h="432119">
                  <a:moveTo>
                    <a:pt x="157804" y="0"/>
                  </a:moveTo>
                  <a:lnTo>
                    <a:pt x="1338026" y="0"/>
                  </a:lnTo>
                  <a:cubicBezTo>
                    <a:pt x="1425179" y="0"/>
                    <a:pt x="1495831" y="70651"/>
                    <a:pt x="1495831" y="157804"/>
                  </a:cubicBezTo>
                  <a:lnTo>
                    <a:pt x="1495831" y="274314"/>
                  </a:lnTo>
                  <a:cubicBezTo>
                    <a:pt x="1495831" y="361467"/>
                    <a:pt x="1425179" y="432119"/>
                    <a:pt x="1338026" y="432119"/>
                  </a:cubicBezTo>
                  <a:lnTo>
                    <a:pt x="157804" y="432119"/>
                  </a:lnTo>
                  <a:cubicBezTo>
                    <a:pt x="70651" y="432119"/>
                    <a:pt x="0" y="361467"/>
                    <a:pt x="0" y="274314"/>
                  </a:cubicBezTo>
                  <a:lnTo>
                    <a:pt x="0" y="157804"/>
                  </a:lnTo>
                  <a:cubicBezTo>
                    <a:pt x="0" y="70651"/>
                    <a:pt x="70651" y="0"/>
                    <a:pt x="157804" y="0"/>
                  </a:cubicBezTo>
                  <a:close/>
                </a:path>
              </a:pathLst>
            </a:custGeom>
            <a:gradFill rotWithShape="1">
              <a:gsLst>
                <a:gs pos="0">
                  <a:srgbClr val="FFFFFF">
                    <a:alpha val="10000"/>
                  </a:srgbClr>
                </a:gs>
                <a:gs pos="100000">
                  <a:srgbClr val="FFFFFF">
                    <a:alpha val="10500"/>
                  </a:srgbClr>
                </a:gs>
              </a:gsLst>
              <a:lin ang="0"/>
            </a:gradFill>
            <a:ln w="19050" cap="rnd">
              <a:solidFill>
                <a:srgbClr val="F9F9F9"/>
              </a:solidFill>
              <a:prstDash val="solid"/>
              <a:round/>
            </a:ln>
          </p:spPr>
          <p:txBody>
            <a:bodyPr/>
            <a:lstStyle/>
            <a:p>
              <a:endParaRPr lang="en-US"/>
            </a:p>
          </p:txBody>
        </p:sp>
        <p:sp>
          <p:nvSpPr>
            <p:cNvPr id="61" name="TextBox 61"/>
            <p:cNvSpPr txBox="1"/>
            <p:nvPr/>
          </p:nvSpPr>
          <p:spPr>
            <a:xfrm>
              <a:off x="0" y="-38100"/>
              <a:ext cx="1495831" cy="47021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2" name="Group 62"/>
          <p:cNvGrpSpPr/>
          <p:nvPr/>
        </p:nvGrpSpPr>
        <p:grpSpPr>
          <a:xfrm>
            <a:off x="12353274" y="7841037"/>
            <a:ext cx="4906026" cy="1417263"/>
            <a:chOff x="0" y="0"/>
            <a:chExt cx="1495831" cy="432119"/>
          </a:xfrm>
        </p:grpSpPr>
        <p:sp>
          <p:nvSpPr>
            <p:cNvPr id="63" name="Freeform 63"/>
            <p:cNvSpPr/>
            <p:nvPr/>
          </p:nvSpPr>
          <p:spPr>
            <a:xfrm>
              <a:off x="0" y="0"/>
              <a:ext cx="1495831" cy="432119"/>
            </a:xfrm>
            <a:custGeom>
              <a:avLst/>
              <a:gdLst/>
              <a:ahLst/>
              <a:cxnLst/>
              <a:rect l="l" t="t" r="r" b="b"/>
              <a:pathLst>
                <a:path w="1495831" h="432119">
                  <a:moveTo>
                    <a:pt x="157804" y="0"/>
                  </a:moveTo>
                  <a:lnTo>
                    <a:pt x="1338026" y="0"/>
                  </a:lnTo>
                  <a:cubicBezTo>
                    <a:pt x="1425179" y="0"/>
                    <a:pt x="1495831" y="70651"/>
                    <a:pt x="1495831" y="157804"/>
                  </a:cubicBezTo>
                  <a:lnTo>
                    <a:pt x="1495831" y="274314"/>
                  </a:lnTo>
                  <a:cubicBezTo>
                    <a:pt x="1495831" y="361467"/>
                    <a:pt x="1425179" y="432119"/>
                    <a:pt x="1338026" y="432119"/>
                  </a:cubicBezTo>
                  <a:lnTo>
                    <a:pt x="157804" y="432119"/>
                  </a:lnTo>
                  <a:cubicBezTo>
                    <a:pt x="70651" y="432119"/>
                    <a:pt x="0" y="361467"/>
                    <a:pt x="0" y="274314"/>
                  </a:cubicBezTo>
                  <a:lnTo>
                    <a:pt x="0" y="157804"/>
                  </a:lnTo>
                  <a:cubicBezTo>
                    <a:pt x="0" y="70651"/>
                    <a:pt x="70651" y="0"/>
                    <a:pt x="157804" y="0"/>
                  </a:cubicBezTo>
                  <a:close/>
                </a:path>
              </a:pathLst>
            </a:custGeom>
            <a:gradFill rotWithShape="1">
              <a:gsLst>
                <a:gs pos="0">
                  <a:srgbClr val="FFFFFF">
                    <a:alpha val="10000"/>
                  </a:srgbClr>
                </a:gs>
                <a:gs pos="100000">
                  <a:srgbClr val="FFFFFF">
                    <a:alpha val="10500"/>
                  </a:srgbClr>
                </a:gs>
              </a:gsLst>
              <a:lin ang="0"/>
            </a:gradFill>
            <a:ln w="19050" cap="rnd">
              <a:solidFill>
                <a:srgbClr val="F9F9F9"/>
              </a:solidFill>
              <a:prstDash val="solid"/>
              <a:round/>
            </a:ln>
          </p:spPr>
          <p:txBody>
            <a:bodyPr/>
            <a:lstStyle/>
            <a:p>
              <a:endParaRPr lang="en-US"/>
            </a:p>
          </p:txBody>
        </p:sp>
        <p:sp>
          <p:nvSpPr>
            <p:cNvPr id="64" name="TextBox 64"/>
            <p:cNvSpPr txBox="1"/>
            <p:nvPr/>
          </p:nvSpPr>
          <p:spPr>
            <a:xfrm>
              <a:off x="0" y="-38100"/>
              <a:ext cx="1495831" cy="47021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5" name="Group 65"/>
          <p:cNvGrpSpPr/>
          <p:nvPr/>
        </p:nvGrpSpPr>
        <p:grpSpPr>
          <a:xfrm>
            <a:off x="6299049" y="4506165"/>
            <a:ext cx="1148073" cy="1137933"/>
            <a:chOff x="0" y="0"/>
            <a:chExt cx="997623" cy="988812"/>
          </a:xfrm>
        </p:grpSpPr>
        <p:sp>
          <p:nvSpPr>
            <p:cNvPr id="66" name="Freeform 66"/>
            <p:cNvSpPr/>
            <p:nvPr/>
          </p:nvSpPr>
          <p:spPr>
            <a:xfrm>
              <a:off x="0" y="0"/>
              <a:ext cx="997623" cy="988812"/>
            </a:xfrm>
            <a:custGeom>
              <a:avLst/>
              <a:gdLst/>
              <a:ahLst/>
              <a:cxnLst/>
              <a:rect l="l" t="t" r="r" b="b"/>
              <a:pathLst>
                <a:path w="997623" h="988812">
                  <a:moveTo>
                    <a:pt x="494406" y="0"/>
                  </a:moveTo>
                  <a:lnTo>
                    <a:pt x="503217" y="0"/>
                  </a:lnTo>
                  <a:cubicBezTo>
                    <a:pt x="776270" y="0"/>
                    <a:pt x="997623" y="221353"/>
                    <a:pt x="997623" y="494406"/>
                  </a:cubicBezTo>
                  <a:lnTo>
                    <a:pt x="997623" y="494406"/>
                  </a:lnTo>
                  <a:cubicBezTo>
                    <a:pt x="997623" y="625531"/>
                    <a:pt x="945534" y="751285"/>
                    <a:pt x="852815" y="844004"/>
                  </a:cubicBezTo>
                  <a:cubicBezTo>
                    <a:pt x="760096" y="936723"/>
                    <a:pt x="634342" y="988812"/>
                    <a:pt x="503217" y="988812"/>
                  </a:cubicBezTo>
                  <a:lnTo>
                    <a:pt x="494406" y="988812"/>
                  </a:lnTo>
                  <a:cubicBezTo>
                    <a:pt x="363281" y="988812"/>
                    <a:pt x="237527" y="936723"/>
                    <a:pt x="144808" y="844004"/>
                  </a:cubicBezTo>
                  <a:cubicBezTo>
                    <a:pt x="52089" y="751285"/>
                    <a:pt x="0" y="625531"/>
                    <a:pt x="0" y="494406"/>
                  </a:cubicBezTo>
                  <a:lnTo>
                    <a:pt x="0" y="494406"/>
                  </a:lnTo>
                  <a:cubicBezTo>
                    <a:pt x="0" y="363281"/>
                    <a:pt x="52089" y="237527"/>
                    <a:pt x="144808" y="144808"/>
                  </a:cubicBezTo>
                  <a:cubicBezTo>
                    <a:pt x="237527" y="52089"/>
                    <a:pt x="363281" y="0"/>
                    <a:pt x="494406" y="0"/>
                  </a:cubicBezTo>
                  <a:close/>
                </a:path>
              </a:pathLst>
            </a:custGeom>
            <a:solidFill>
              <a:srgbClr val="FFFFFF"/>
            </a:solidFill>
            <a:ln w="19050" cap="rnd">
              <a:solidFill>
                <a:srgbClr val="F9F9F9"/>
              </a:solidFill>
              <a:prstDash val="solid"/>
              <a:round/>
            </a:ln>
          </p:spPr>
          <p:txBody>
            <a:bodyPr/>
            <a:lstStyle/>
            <a:p>
              <a:endParaRPr lang="en-US"/>
            </a:p>
          </p:txBody>
        </p:sp>
        <p:sp>
          <p:nvSpPr>
            <p:cNvPr id="67" name="TextBox 67"/>
            <p:cNvSpPr txBox="1"/>
            <p:nvPr/>
          </p:nvSpPr>
          <p:spPr>
            <a:xfrm>
              <a:off x="0" y="-38100"/>
              <a:ext cx="997623" cy="102691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8" name="Group 68"/>
          <p:cNvGrpSpPr/>
          <p:nvPr/>
        </p:nvGrpSpPr>
        <p:grpSpPr>
          <a:xfrm>
            <a:off x="12484855" y="7980702"/>
            <a:ext cx="1148073" cy="1137933"/>
            <a:chOff x="0" y="0"/>
            <a:chExt cx="997623" cy="988812"/>
          </a:xfrm>
        </p:grpSpPr>
        <p:sp>
          <p:nvSpPr>
            <p:cNvPr id="69" name="Freeform 69"/>
            <p:cNvSpPr/>
            <p:nvPr/>
          </p:nvSpPr>
          <p:spPr>
            <a:xfrm>
              <a:off x="0" y="0"/>
              <a:ext cx="997623" cy="988812"/>
            </a:xfrm>
            <a:custGeom>
              <a:avLst/>
              <a:gdLst/>
              <a:ahLst/>
              <a:cxnLst/>
              <a:rect l="l" t="t" r="r" b="b"/>
              <a:pathLst>
                <a:path w="997623" h="988812">
                  <a:moveTo>
                    <a:pt x="494406" y="0"/>
                  </a:moveTo>
                  <a:lnTo>
                    <a:pt x="503217" y="0"/>
                  </a:lnTo>
                  <a:cubicBezTo>
                    <a:pt x="776270" y="0"/>
                    <a:pt x="997623" y="221353"/>
                    <a:pt x="997623" y="494406"/>
                  </a:cubicBezTo>
                  <a:lnTo>
                    <a:pt x="997623" y="494406"/>
                  </a:lnTo>
                  <a:cubicBezTo>
                    <a:pt x="997623" y="625531"/>
                    <a:pt x="945534" y="751285"/>
                    <a:pt x="852815" y="844004"/>
                  </a:cubicBezTo>
                  <a:cubicBezTo>
                    <a:pt x="760096" y="936723"/>
                    <a:pt x="634342" y="988812"/>
                    <a:pt x="503217" y="988812"/>
                  </a:cubicBezTo>
                  <a:lnTo>
                    <a:pt x="494406" y="988812"/>
                  </a:lnTo>
                  <a:cubicBezTo>
                    <a:pt x="363281" y="988812"/>
                    <a:pt x="237527" y="936723"/>
                    <a:pt x="144808" y="844004"/>
                  </a:cubicBezTo>
                  <a:cubicBezTo>
                    <a:pt x="52089" y="751285"/>
                    <a:pt x="0" y="625531"/>
                    <a:pt x="0" y="494406"/>
                  </a:cubicBezTo>
                  <a:lnTo>
                    <a:pt x="0" y="494406"/>
                  </a:lnTo>
                  <a:cubicBezTo>
                    <a:pt x="0" y="363281"/>
                    <a:pt x="52089" y="237527"/>
                    <a:pt x="144808" y="144808"/>
                  </a:cubicBezTo>
                  <a:cubicBezTo>
                    <a:pt x="237527" y="52089"/>
                    <a:pt x="363281" y="0"/>
                    <a:pt x="494406" y="0"/>
                  </a:cubicBezTo>
                  <a:close/>
                </a:path>
              </a:pathLst>
            </a:custGeom>
            <a:solidFill>
              <a:srgbClr val="FFFFFF"/>
            </a:solidFill>
            <a:ln w="19050" cap="rnd">
              <a:solidFill>
                <a:srgbClr val="F9F9F9"/>
              </a:solidFill>
              <a:prstDash val="solid"/>
              <a:round/>
            </a:ln>
          </p:spPr>
          <p:txBody>
            <a:bodyPr/>
            <a:lstStyle/>
            <a:p>
              <a:endParaRPr lang="en-US"/>
            </a:p>
          </p:txBody>
        </p:sp>
        <p:sp>
          <p:nvSpPr>
            <p:cNvPr id="70" name="TextBox 70"/>
            <p:cNvSpPr txBox="1"/>
            <p:nvPr/>
          </p:nvSpPr>
          <p:spPr>
            <a:xfrm>
              <a:off x="0" y="-38100"/>
              <a:ext cx="997623" cy="102691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71" name="TextBox 71"/>
          <p:cNvSpPr txBox="1"/>
          <p:nvPr/>
        </p:nvSpPr>
        <p:spPr>
          <a:xfrm>
            <a:off x="7924302" y="4939273"/>
            <a:ext cx="2696346" cy="368545"/>
          </a:xfrm>
          <a:prstGeom prst="rect">
            <a:avLst/>
          </a:prstGeom>
        </p:spPr>
        <p:txBody>
          <a:bodyPr lIns="0" tIns="0" rIns="0" bIns="0" rtlCol="0" anchor="t">
            <a:spAutoFit/>
          </a:bodyPr>
          <a:lstStyle/>
          <a:p>
            <a:pPr marL="0" lvl="0" indent="0" algn="l">
              <a:lnSpc>
                <a:spcPts val="1406"/>
              </a:lnSpc>
            </a:pPr>
            <a:r>
              <a:rPr lang="en-US" sz="1597" spc="-79">
                <a:solidFill>
                  <a:srgbClr val="FFFFFF"/>
                </a:solidFill>
                <a:latin typeface="Pragmatica"/>
                <a:ea typeface="Pragmatica"/>
                <a:cs typeface="Pragmatica"/>
                <a:sym typeface="Pragmatica"/>
              </a:rPr>
              <a:t>Fast Charging</a:t>
            </a:r>
          </a:p>
          <a:p>
            <a:pPr marL="0" lvl="0" indent="0" algn="l">
              <a:lnSpc>
                <a:spcPts val="1406"/>
              </a:lnSpc>
            </a:pPr>
            <a:r>
              <a:rPr lang="en-US" sz="1597" spc="-79">
                <a:solidFill>
                  <a:srgbClr val="FFFFFF"/>
                </a:solidFill>
                <a:latin typeface="Pragmatica"/>
                <a:ea typeface="Pragmatica"/>
                <a:cs typeface="Pragmatica"/>
                <a:sym typeface="Pragmatica"/>
              </a:rPr>
              <a:t>≥600 mAh/g @ 5.0C</a:t>
            </a:r>
          </a:p>
        </p:txBody>
      </p:sp>
      <p:sp>
        <p:nvSpPr>
          <p:cNvPr id="72" name="TextBox 72"/>
          <p:cNvSpPr txBox="1"/>
          <p:nvPr/>
        </p:nvSpPr>
        <p:spPr>
          <a:xfrm>
            <a:off x="14110108" y="8369662"/>
            <a:ext cx="2974469" cy="474163"/>
          </a:xfrm>
          <a:prstGeom prst="rect">
            <a:avLst/>
          </a:prstGeom>
        </p:spPr>
        <p:txBody>
          <a:bodyPr lIns="0" tIns="0" rIns="0" bIns="0" rtlCol="0" anchor="t">
            <a:spAutoFit/>
          </a:bodyPr>
          <a:lstStyle/>
          <a:p>
            <a:pPr marL="0" lvl="0" indent="0" algn="l">
              <a:lnSpc>
                <a:spcPts val="1917"/>
              </a:lnSpc>
            </a:pPr>
            <a:r>
              <a:rPr lang="en-US" sz="1597" spc="-79">
                <a:solidFill>
                  <a:srgbClr val="FFFFFF"/>
                </a:solidFill>
                <a:latin typeface="Pragmatica"/>
                <a:ea typeface="Pragmatica"/>
                <a:cs typeface="Pragmatica"/>
                <a:sym typeface="Pragmatica"/>
              </a:rPr>
              <a:t>Coulombic Efficiency</a:t>
            </a:r>
          </a:p>
          <a:p>
            <a:pPr marL="0" lvl="0" indent="0" algn="l">
              <a:lnSpc>
                <a:spcPts val="1917"/>
              </a:lnSpc>
            </a:pPr>
            <a:r>
              <a:rPr lang="en-US" sz="1597" spc="-79">
                <a:solidFill>
                  <a:srgbClr val="FFFFFF"/>
                </a:solidFill>
                <a:latin typeface="Pragmatica"/>
                <a:ea typeface="Pragmatica"/>
                <a:cs typeface="Pragmatica"/>
                <a:sym typeface="Pragmatica"/>
              </a:rPr>
              <a:t>≥99% after 10 cycles</a:t>
            </a:r>
          </a:p>
        </p:txBody>
      </p:sp>
      <p:sp>
        <p:nvSpPr>
          <p:cNvPr id="73" name="TextBox 73"/>
          <p:cNvSpPr txBox="1"/>
          <p:nvPr/>
        </p:nvSpPr>
        <p:spPr>
          <a:xfrm>
            <a:off x="1289438" y="3022431"/>
            <a:ext cx="1148073" cy="531549"/>
          </a:xfrm>
          <a:prstGeom prst="rect">
            <a:avLst/>
          </a:prstGeom>
        </p:spPr>
        <p:txBody>
          <a:bodyPr lIns="0" tIns="0" rIns="0" bIns="0" rtlCol="0" anchor="t">
            <a:spAutoFit/>
          </a:bodyPr>
          <a:lstStyle/>
          <a:p>
            <a:pPr marL="0" lvl="0" indent="0" algn="ctr">
              <a:lnSpc>
                <a:spcPts val="4302"/>
              </a:lnSpc>
            </a:pPr>
            <a:r>
              <a:rPr lang="en-US" sz="3072" b="1" spc="-122">
                <a:solidFill>
                  <a:srgbClr val="FFFFFF"/>
                </a:solidFill>
                <a:latin typeface="Pragmatica Bold"/>
                <a:ea typeface="Pragmatica Bold"/>
                <a:cs typeface="Pragmatica Bold"/>
                <a:sym typeface="Pragmatica Bold"/>
              </a:rPr>
              <a:t>01</a:t>
            </a:r>
          </a:p>
        </p:txBody>
      </p:sp>
      <p:sp>
        <p:nvSpPr>
          <p:cNvPr id="74" name="TextBox 74"/>
          <p:cNvSpPr txBox="1"/>
          <p:nvPr/>
        </p:nvSpPr>
        <p:spPr>
          <a:xfrm>
            <a:off x="7389456" y="6483806"/>
            <a:ext cx="1148073" cy="533032"/>
          </a:xfrm>
          <a:prstGeom prst="rect">
            <a:avLst/>
          </a:prstGeom>
        </p:spPr>
        <p:txBody>
          <a:bodyPr lIns="0" tIns="0" rIns="0" bIns="0" rtlCol="0" anchor="t">
            <a:spAutoFit/>
          </a:bodyPr>
          <a:lstStyle/>
          <a:p>
            <a:pPr marL="0" lvl="0" indent="0" algn="ctr">
              <a:lnSpc>
                <a:spcPts val="4302"/>
              </a:lnSpc>
            </a:pPr>
            <a:r>
              <a:rPr lang="en-US" sz="3072" b="1" spc="-122">
                <a:solidFill>
                  <a:srgbClr val="FFFFFF"/>
                </a:solidFill>
                <a:latin typeface="Pragmatica Bold"/>
                <a:ea typeface="Pragmatica Bold"/>
                <a:cs typeface="Pragmatica Bold"/>
                <a:sym typeface="Pragmatica Bold"/>
              </a:rPr>
              <a:t>05</a:t>
            </a:r>
          </a:p>
        </p:txBody>
      </p:sp>
      <p:sp>
        <p:nvSpPr>
          <p:cNvPr id="75" name="TextBox 75"/>
          <p:cNvSpPr txBox="1"/>
          <p:nvPr/>
        </p:nvSpPr>
        <p:spPr>
          <a:xfrm>
            <a:off x="1289438" y="4676018"/>
            <a:ext cx="1148073" cy="533032"/>
          </a:xfrm>
          <a:prstGeom prst="rect">
            <a:avLst/>
          </a:prstGeom>
        </p:spPr>
        <p:txBody>
          <a:bodyPr lIns="0" tIns="0" rIns="0" bIns="0" rtlCol="0" anchor="t">
            <a:spAutoFit/>
          </a:bodyPr>
          <a:lstStyle/>
          <a:p>
            <a:pPr marL="0" lvl="0" indent="0" algn="ctr">
              <a:lnSpc>
                <a:spcPts val="4302"/>
              </a:lnSpc>
            </a:pPr>
            <a:r>
              <a:rPr lang="en-US" sz="3072" b="1" spc="-122">
                <a:solidFill>
                  <a:srgbClr val="262626"/>
                </a:solidFill>
                <a:latin typeface="Pragmatica Bold"/>
                <a:ea typeface="Pragmatica Bold"/>
                <a:cs typeface="Pragmatica Bold"/>
                <a:sym typeface="Pragmatica Bold"/>
              </a:rPr>
              <a:t>02</a:t>
            </a:r>
          </a:p>
        </p:txBody>
      </p:sp>
      <p:sp>
        <p:nvSpPr>
          <p:cNvPr id="76" name="TextBox 76"/>
          <p:cNvSpPr txBox="1"/>
          <p:nvPr/>
        </p:nvSpPr>
        <p:spPr>
          <a:xfrm>
            <a:off x="7389456" y="8150556"/>
            <a:ext cx="1148073" cy="533032"/>
          </a:xfrm>
          <a:prstGeom prst="rect">
            <a:avLst/>
          </a:prstGeom>
        </p:spPr>
        <p:txBody>
          <a:bodyPr lIns="0" tIns="0" rIns="0" bIns="0" rtlCol="0" anchor="t">
            <a:spAutoFit/>
          </a:bodyPr>
          <a:lstStyle/>
          <a:p>
            <a:pPr marL="0" lvl="0" indent="0" algn="ctr">
              <a:lnSpc>
                <a:spcPts val="4302"/>
              </a:lnSpc>
            </a:pPr>
            <a:r>
              <a:rPr lang="en-US" sz="3072" b="1" spc="-122">
                <a:solidFill>
                  <a:srgbClr val="262626"/>
                </a:solidFill>
                <a:latin typeface="Pragmatica Bold"/>
                <a:ea typeface="Pragmatica Bold"/>
                <a:cs typeface="Pragmatica Bold"/>
                <a:sym typeface="Pragmatica Bold"/>
              </a:rPr>
              <a:t>06</a:t>
            </a:r>
          </a:p>
        </p:txBody>
      </p:sp>
      <p:sp>
        <p:nvSpPr>
          <p:cNvPr id="77" name="TextBox 77"/>
          <p:cNvSpPr txBox="1"/>
          <p:nvPr/>
        </p:nvSpPr>
        <p:spPr>
          <a:xfrm>
            <a:off x="6299049" y="3005100"/>
            <a:ext cx="1148073" cy="533032"/>
          </a:xfrm>
          <a:prstGeom prst="rect">
            <a:avLst/>
          </a:prstGeom>
        </p:spPr>
        <p:txBody>
          <a:bodyPr lIns="0" tIns="0" rIns="0" bIns="0" rtlCol="0" anchor="t">
            <a:spAutoFit/>
          </a:bodyPr>
          <a:lstStyle/>
          <a:p>
            <a:pPr marL="0" lvl="0" indent="0" algn="ctr">
              <a:lnSpc>
                <a:spcPts val="4302"/>
              </a:lnSpc>
            </a:pPr>
            <a:r>
              <a:rPr lang="en-US" sz="3072" b="1" spc="-122">
                <a:solidFill>
                  <a:srgbClr val="FFFFFF"/>
                </a:solidFill>
                <a:latin typeface="Pragmatica Bold"/>
                <a:ea typeface="Pragmatica Bold"/>
                <a:cs typeface="Pragmatica Bold"/>
                <a:sym typeface="Pragmatica Bold"/>
              </a:rPr>
              <a:t>03</a:t>
            </a:r>
          </a:p>
        </p:txBody>
      </p:sp>
      <p:sp>
        <p:nvSpPr>
          <p:cNvPr id="78" name="TextBox 78"/>
          <p:cNvSpPr txBox="1"/>
          <p:nvPr/>
        </p:nvSpPr>
        <p:spPr>
          <a:xfrm>
            <a:off x="12484855" y="6466476"/>
            <a:ext cx="1148073" cy="533032"/>
          </a:xfrm>
          <a:prstGeom prst="rect">
            <a:avLst/>
          </a:prstGeom>
        </p:spPr>
        <p:txBody>
          <a:bodyPr lIns="0" tIns="0" rIns="0" bIns="0" rtlCol="0" anchor="t">
            <a:spAutoFit/>
          </a:bodyPr>
          <a:lstStyle/>
          <a:p>
            <a:pPr marL="0" lvl="0" indent="0" algn="ctr">
              <a:lnSpc>
                <a:spcPts val="4302"/>
              </a:lnSpc>
            </a:pPr>
            <a:r>
              <a:rPr lang="en-US" sz="3072" b="1" spc="-122">
                <a:solidFill>
                  <a:srgbClr val="FFFFFF"/>
                </a:solidFill>
                <a:latin typeface="Pragmatica Bold"/>
                <a:ea typeface="Pragmatica Bold"/>
                <a:cs typeface="Pragmatica Bold"/>
                <a:sym typeface="Pragmatica Bold"/>
              </a:rPr>
              <a:t>07</a:t>
            </a:r>
          </a:p>
        </p:txBody>
      </p:sp>
      <p:sp>
        <p:nvSpPr>
          <p:cNvPr id="79" name="TextBox 79"/>
          <p:cNvSpPr txBox="1"/>
          <p:nvPr/>
        </p:nvSpPr>
        <p:spPr>
          <a:xfrm>
            <a:off x="6299049" y="4658688"/>
            <a:ext cx="1151090" cy="533032"/>
          </a:xfrm>
          <a:prstGeom prst="rect">
            <a:avLst/>
          </a:prstGeom>
        </p:spPr>
        <p:txBody>
          <a:bodyPr lIns="0" tIns="0" rIns="0" bIns="0" rtlCol="0" anchor="t">
            <a:spAutoFit/>
          </a:bodyPr>
          <a:lstStyle/>
          <a:p>
            <a:pPr marL="0" lvl="0" indent="0" algn="ctr">
              <a:lnSpc>
                <a:spcPts val="4302"/>
              </a:lnSpc>
            </a:pPr>
            <a:r>
              <a:rPr lang="en-US" sz="3072" b="1" spc="-122">
                <a:solidFill>
                  <a:srgbClr val="262626"/>
                </a:solidFill>
                <a:latin typeface="Pragmatica Bold"/>
                <a:ea typeface="Pragmatica Bold"/>
                <a:cs typeface="Pragmatica Bold"/>
                <a:sym typeface="Pragmatica Bold"/>
              </a:rPr>
              <a:t>04</a:t>
            </a:r>
          </a:p>
        </p:txBody>
      </p:sp>
      <p:sp>
        <p:nvSpPr>
          <p:cNvPr id="80" name="TextBox 80"/>
          <p:cNvSpPr txBox="1"/>
          <p:nvPr/>
        </p:nvSpPr>
        <p:spPr>
          <a:xfrm>
            <a:off x="12484855" y="8119200"/>
            <a:ext cx="1148073" cy="533032"/>
          </a:xfrm>
          <a:prstGeom prst="rect">
            <a:avLst/>
          </a:prstGeom>
        </p:spPr>
        <p:txBody>
          <a:bodyPr lIns="0" tIns="0" rIns="0" bIns="0" rtlCol="0" anchor="t">
            <a:spAutoFit/>
          </a:bodyPr>
          <a:lstStyle/>
          <a:p>
            <a:pPr marL="0" lvl="0" indent="0" algn="ctr">
              <a:lnSpc>
                <a:spcPts val="4302"/>
              </a:lnSpc>
            </a:pPr>
            <a:r>
              <a:rPr lang="en-US" sz="3072" b="1" spc="-122">
                <a:solidFill>
                  <a:srgbClr val="262626"/>
                </a:solidFill>
                <a:latin typeface="Pragmatica Bold"/>
                <a:ea typeface="Pragmatica Bold"/>
                <a:cs typeface="Pragmatica Bold"/>
                <a:sym typeface="Pragmatica Bold"/>
              </a:rPr>
              <a:t>08</a:t>
            </a:r>
          </a:p>
        </p:txBody>
      </p:sp>
      <p:sp>
        <p:nvSpPr>
          <p:cNvPr id="81" name="TextBox 81"/>
          <p:cNvSpPr txBox="1"/>
          <p:nvPr/>
        </p:nvSpPr>
        <p:spPr>
          <a:xfrm>
            <a:off x="11787869" y="3098734"/>
            <a:ext cx="6340597" cy="2143803"/>
          </a:xfrm>
          <a:prstGeom prst="rect">
            <a:avLst/>
          </a:prstGeom>
        </p:spPr>
        <p:txBody>
          <a:bodyPr lIns="0" tIns="0" rIns="0" bIns="0" rtlCol="0" anchor="t">
            <a:spAutoFit/>
          </a:bodyPr>
          <a:lstStyle/>
          <a:p>
            <a:pPr marL="0" lvl="0" indent="0" algn="l">
              <a:lnSpc>
                <a:spcPts val="5554"/>
              </a:lnSpc>
            </a:pPr>
            <a:r>
              <a:rPr lang="en-US" sz="6171" b="1" spc="-246">
                <a:solidFill>
                  <a:srgbClr val="FFFFFF"/>
                </a:solidFill>
                <a:latin typeface="Pragmatica Bold"/>
                <a:ea typeface="Pragmatica Bold"/>
                <a:cs typeface="Pragmatica Bold"/>
                <a:sym typeface="Pragmatica Bold"/>
              </a:rPr>
              <a:t>Technical</a:t>
            </a:r>
          </a:p>
          <a:p>
            <a:pPr marL="0" lvl="0" indent="0" algn="l">
              <a:lnSpc>
                <a:spcPts val="5554"/>
              </a:lnSpc>
            </a:pPr>
            <a:r>
              <a:rPr lang="en-US" sz="6171" b="1" spc="-246">
                <a:solidFill>
                  <a:srgbClr val="FFFFFF"/>
                </a:solidFill>
                <a:latin typeface="Pragmatica Bold"/>
                <a:ea typeface="Pragmatica Bold"/>
                <a:cs typeface="Pragmatica Bold"/>
                <a:sym typeface="Pragmatica Bold"/>
              </a:rPr>
              <a:t>Performance</a:t>
            </a:r>
          </a:p>
          <a:p>
            <a:pPr marL="0" lvl="0" indent="0" algn="l">
              <a:lnSpc>
                <a:spcPts val="5554"/>
              </a:lnSpc>
            </a:pPr>
            <a:r>
              <a:rPr lang="en-US" sz="6171" b="1" spc="-246">
                <a:solidFill>
                  <a:srgbClr val="FFFFFF"/>
                </a:solidFill>
                <a:latin typeface="Pragmatica Bold"/>
                <a:ea typeface="Pragmatica Bold"/>
                <a:cs typeface="Pragmatica Bold"/>
                <a:sym typeface="Pragmatica Bold"/>
              </a:rPr>
              <a:t>Targets</a:t>
            </a:r>
          </a:p>
        </p:txBody>
      </p:sp>
      <p:sp>
        <p:nvSpPr>
          <p:cNvPr id="82" name="TextBox 82"/>
          <p:cNvSpPr txBox="1"/>
          <p:nvPr/>
        </p:nvSpPr>
        <p:spPr>
          <a:xfrm>
            <a:off x="1157857" y="7026899"/>
            <a:ext cx="4750642" cy="1134183"/>
          </a:xfrm>
          <a:prstGeom prst="rect">
            <a:avLst/>
          </a:prstGeom>
        </p:spPr>
        <p:txBody>
          <a:bodyPr lIns="0" tIns="0" rIns="0" bIns="0" rtlCol="0" anchor="t">
            <a:spAutoFit/>
          </a:bodyPr>
          <a:lstStyle/>
          <a:p>
            <a:pPr marL="0" lvl="0" indent="0" algn="l">
              <a:lnSpc>
                <a:spcPts val="1865"/>
              </a:lnSpc>
            </a:pPr>
            <a:r>
              <a:rPr lang="en-US" sz="1371" spc="-34">
                <a:solidFill>
                  <a:srgbClr val="FFFFFF"/>
                </a:solidFill>
                <a:latin typeface="Canva Sans"/>
                <a:ea typeface="Canva Sans"/>
                <a:cs typeface="Canva Sans"/>
                <a:sym typeface="Canva Sans"/>
              </a:rPr>
              <a:t>AI success is measured by the runnable workflow: master_dataset.csv, trained_model.pkl, model_metrics.json, feature_importance.csv, recommendations.csv, and a Streamlit dashboard. Synthetic/sample data demonstrate the logic only; scientific claims require real lab data.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AutoShape 3"/>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4" name="AutoShape 4"/>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p:cNvSpPr/>
          <p:nvPr/>
        </p:nvSpPr>
        <p:spPr>
          <a:xfrm>
            <a:off x="6075187"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AutoShape 7"/>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8" name="Freeform 8"/>
          <p:cNvSpPr/>
          <p:nvPr/>
        </p:nvSpPr>
        <p:spPr>
          <a:xfrm>
            <a:off x="14950017" y="-1114244"/>
            <a:ext cx="8534070" cy="11618164"/>
          </a:xfrm>
          <a:custGeom>
            <a:avLst/>
            <a:gdLst/>
            <a:ahLst/>
            <a:cxnLst/>
            <a:rect l="l" t="t" r="r" b="b"/>
            <a:pathLst>
              <a:path w="8534070" h="11618164">
                <a:moveTo>
                  <a:pt x="0" y="0"/>
                </a:moveTo>
                <a:lnTo>
                  <a:pt x="8534069" y="0"/>
                </a:lnTo>
                <a:lnTo>
                  <a:pt x="8534069" y="11618163"/>
                </a:lnTo>
                <a:lnTo>
                  <a:pt x="0" y="11618163"/>
                </a:lnTo>
                <a:lnTo>
                  <a:pt x="0" y="0"/>
                </a:lnTo>
                <a:close/>
              </a:path>
            </a:pathLst>
          </a:custGeom>
          <a:blipFill>
            <a:blip r:embed="rId2">
              <a:alphaModFix amt="50000"/>
            </a:blip>
            <a:stretch>
              <a:fillRect/>
            </a:stretch>
          </a:blipFill>
        </p:spPr>
        <p:txBody>
          <a:bodyPr/>
          <a:lstStyle/>
          <a:p>
            <a:endParaRPr lang="en-US"/>
          </a:p>
        </p:txBody>
      </p:sp>
      <p:grpSp>
        <p:nvGrpSpPr>
          <p:cNvPr id="9" name="Group 9"/>
          <p:cNvGrpSpPr/>
          <p:nvPr/>
        </p:nvGrpSpPr>
        <p:grpSpPr>
          <a:xfrm>
            <a:off x="1028700" y="654448"/>
            <a:ext cx="16230600" cy="748504"/>
            <a:chOff x="0" y="0"/>
            <a:chExt cx="4274726" cy="197137"/>
          </a:xfrm>
        </p:grpSpPr>
        <p:sp>
          <p:nvSpPr>
            <p:cNvPr id="10" name="Freeform 10"/>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1" name="TextBox 11"/>
            <p:cNvSpPr txBox="1"/>
            <p:nvPr/>
          </p:nvSpPr>
          <p:spPr>
            <a:xfrm>
              <a:off x="0" y="38100"/>
              <a:ext cx="4274726" cy="159037"/>
            </a:xfrm>
            <a:prstGeom prst="rect">
              <a:avLst/>
            </a:prstGeom>
          </p:spPr>
          <p:txBody>
            <a:bodyPr lIns="50800" tIns="50800" rIns="50800" bIns="50800" rtlCol="0" anchor="ctr"/>
            <a:lstStyle/>
            <a:p>
              <a:pPr marL="0" lvl="0" indent="0" algn="ctr">
                <a:lnSpc>
                  <a:spcPts val="1619"/>
                </a:lnSpc>
              </a:pPr>
              <a:endParaRPr/>
            </a:p>
          </p:txBody>
        </p:sp>
      </p:grpSp>
      <p:grpSp>
        <p:nvGrpSpPr>
          <p:cNvPr id="12" name="Group 12"/>
          <p:cNvGrpSpPr/>
          <p:nvPr/>
        </p:nvGrpSpPr>
        <p:grpSpPr>
          <a:xfrm>
            <a:off x="10506379" y="2181625"/>
            <a:ext cx="6578198" cy="6782162"/>
            <a:chOff x="0" y="0"/>
            <a:chExt cx="1732529" cy="1786248"/>
          </a:xfrm>
        </p:grpSpPr>
        <p:sp>
          <p:nvSpPr>
            <p:cNvPr id="13" name="Freeform 13"/>
            <p:cNvSpPr/>
            <p:nvPr/>
          </p:nvSpPr>
          <p:spPr>
            <a:xfrm>
              <a:off x="0" y="0"/>
              <a:ext cx="1732529" cy="1786248"/>
            </a:xfrm>
            <a:custGeom>
              <a:avLst/>
              <a:gdLst/>
              <a:ahLst/>
              <a:cxnLst/>
              <a:rect l="l" t="t" r="r" b="b"/>
              <a:pathLst>
                <a:path w="1732529" h="1786248">
                  <a:moveTo>
                    <a:pt x="58845" y="0"/>
                  </a:moveTo>
                  <a:lnTo>
                    <a:pt x="1673684" y="0"/>
                  </a:lnTo>
                  <a:cubicBezTo>
                    <a:pt x="1689291" y="0"/>
                    <a:pt x="1704258" y="6200"/>
                    <a:pt x="1715294" y="17235"/>
                  </a:cubicBezTo>
                  <a:cubicBezTo>
                    <a:pt x="1726330" y="28271"/>
                    <a:pt x="1732529" y="43239"/>
                    <a:pt x="1732529" y="58845"/>
                  </a:cubicBezTo>
                  <a:lnTo>
                    <a:pt x="1732529" y="1727403"/>
                  </a:lnTo>
                  <a:cubicBezTo>
                    <a:pt x="1732529" y="1743010"/>
                    <a:pt x="1726330" y="1757977"/>
                    <a:pt x="1715294" y="1769013"/>
                  </a:cubicBezTo>
                  <a:cubicBezTo>
                    <a:pt x="1704258" y="1780049"/>
                    <a:pt x="1689291" y="1786248"/>
                    <a:pt x="1673684" y="1786248"/>
                  </a:cubicBezTo>
                  <a:lnTo>
                    <a:pt x="58845" y="1786248"/>
                  </a:lnTo>
                  <a:cubicBezTo>
                    <a:pt x="43239" y="1786248"/>
                    <a:pt x="28271" y="1780049"/>
                    <a:pt x="17235" y="1769013"/>
                  </a:cubicBezTo>
                  <a:cubicBezTo>
                    <a:pt x="6200" y="1757977"/>
                    <a:pt x="0" y="1743010"/>
                    <a:pt x="0" y="1727403"/>
                  </a:cubicBezTo>
                  <a:lnTo>
                    <a:pt x="0" y="58845"/>
                  </a:lnTo>
                  <a:cubicBezTo>
                    <a:pt x="0" y="43239"/>
                    <a:pt x="6200" y="28271"/>
                    <a:pt x="17235" y="17235"/>
                  </a:cubicBezTo>
                  <a:cubicBezTo>
                    <a:pt x="28271" y="6200"/>
                    <a:pt x="43239" y="0"/>
                    <a:pt x="58845"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4" name="TextBox 14"/>
            <p:cNvSpPr txBox="1"/>
            <p:nvPr/>
          </p:nvSpPr>
          <p:spPr>
            <a:xfrm>
              <a:off x="0" y="38100"/>
              <a:ext cx="1732529" cy="1748148"/>
            </a:xfrm>
            <a:prstGeom prst="rect">
              <a:avLst/>
            </a:prstGeom>
          </p:spPr>
          <p:txBody>
            <a:bodyPr lIns="50800" tIns="50800" rIns="50800" bIns="50800" rtlCol="0" anchor="ctr"/>
            <a:lstStyle/>
            <a:p>
              <a:pPr marL="0" lvl="0" indent="0" algn="ctr">
                <a:lnSpc>
                  <a:spcPts val="1619"/>
                </a:lnSpc>
              </a:pPr>
              <a:endParaRPr/>
            </a:p>
          </p:txBody>
        </p:sp>
      </p:grpSp>
      <p:grpSp>
        <p:nvGrpSpPr>
          <p:cNvPr id="15" name="Group 15"/>
          <p:cNvGrpSpPr/>
          <p:nvPr/>
        </p:nvGrpSpPr>
        <p:grpSpPr>
          <a:xfrm>
            <a:off x="10051244" y="2970030"/>
            <a:ext cx="1042967" cy="1042967"/>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4119"/>
            </a:soli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7" name="TextBox 17"/>
            <p:cNvSpPr txBox="1"/>
            <p:nvPr/>
          </p:nvSpPr>
          <p:spPr>
            <a:xfrm>
              <a:off x="76200" y="114300"/>
              <a:ext cx="660400" cy="622300"/>
            </a:xfrm>
            <a:prstGeom prst="rect">
              <a:avLst/>
            </a:prstGeom>
          </p:spPr>
          <p:txBody>
            <a:bodyPr lIns="50800" tIns="50800" rIns="50800" bIns="50800" rtlCol="0" anchor="ctr"/>
            <a:lstStyle/>
            <a:p>
              <a:pPr marL="0" lvl="0" indent="0" algn="ctr">
                <a:lnSpc>
                  <a:spcPts val="1619"/>
                </a:lnSpc>
                <a:spcBef>
                  <a:spcPct val="0"/>
                </a:spcBef>
              </a:pPr>
              <a:endParaRPr/>
            </a:p>
          </p:txBody>
        </p:sp>
      </p:grpSp>
      <p:grpSp>
        <p:nvGrpSpPr>
          <p:cNvPr id="18" name="Group 18"/>
          <p:cNvGrpSpPr/>
          <p:nvPr/>
        </p:nvGrpSpPr>
        <p:grpSpPr>
          <a:xfrm>
            <a:off x="10041633" y="5051222"/>
            <a:ext cx="1042967" cy="1042967"/>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4119"/>
            </a:soli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20" name="TextBox 20"/>
            <p:cNvSpPr txBox="1"/>
            <p:nvPr/>
          </p:nvSpPr>
          <p:spPr>
            <a:xfrm>
              <a:off x="76200" y="114300"/>
              <a:ext cx="660400" cy="622300"/>
            </a:xfrm>
            <a:prstGeom prst="rect">
              <a:avLst/>
            </a:prstGeom>
          </p:spPr>
          <p:txBody>
            <a:bodyPr lIns="50800" tIns="50800" rIns="50800" bIns="50800" rtlCol="0" anchor="ctr"/>
            <a:lstStyle/>
            <a:p>
              <a:pPr marL="0" lvl="0" indent="0" algn="ctr">
                <a:lnSpc>
                  <a:spcPts val="1619"/>
                </a:lnSpc>
                <a:spcBef>
                  <a:spcPct val="0"/>
                </a:spcBef>
              </a:pPr>
              <a:endParaRPr/>
            </a:p>
          </p:txBody>
        </p:sp>
      </p:grpSp>
      <p:grpSp>
        <p:nvGrpSpPr>
          <p:cNvPr id="21" name="Group 21"/>
          <p:cNvGrpSpPr/>
          <p:nvPr/>
        </p:nvGrpSpPr>
        <p:grpSpPr>
          <a:xfrm>
            <a:off x="11472051" y="2779252"/>
            <a:ext cx="1428887" cy="1424523"/>
            <a:chOff x="0" y="0"/>
            <a:chExt cx="399722" cy="398501"/>
          </a:xfrm>
        </p:grpSpPr>
        <p:sp>
          <p:nvSpPr>
            <p:cNvPr id="22" name="Freeform 22"/>
            <p:cNvSpPr/>
            <p:nvPr/>
          </p:nvSpPr>
          <p:spPr>
            <a:xfrm>
              <a:off x="0" y="0"/>
              <a:ext cx="399722" cy="398501"/>
            </a:xfrm>
            <a:custGeom>
              <a:avLst/>
              <a:gdLst/>
              <a:ahLst/>
              <a:cxnLst/>
              <a:rect l="l" t="t" r="r" b="b"/>
              <a:pathLst>
                <a:path w="399722" h="398501">
                  <a:moveTo>
                    <a:pt x="108363" y="0"/>
                  </a:moveTo>
                  <a:lnTo>
                    <a:pt x="291359" y="0"/>
                  </a:lnTo>
                  <a:cubicBezTo>
                    <a:pt x="320098" y="0"/>
                    <a:pt x="347661" y="11417"/>
                    <a:pt x="367983" y="31739"/>
                  </a:cubicBezTo>
                  <a:cubicBezTo>
                    <a:pt x="388305" y="52061"/>
                    <a:pt x="399722" y="79623"/>
                    <a:pt x="399722" y="108363"/>
                  </a:cubicBezTo>
                  <a:lnTo>
                    <a:pt x="399722" y="290138"/>
                  </a:lnTo>
                  <a:cubicBezTo>
                    <a:pt x="399722" y="349985"/>
                    <a:pt x="351206" y="398501"/>
                    <a:pt x="291359" y="398501"/>
                  </a:cubicBezTo>
                  <a:lnTo>
                    <a:pt x="108363" y="398501"/>
                  </a:lnTo>
                  <a:cubicBezTo>
                    <a:pt x="48516" y="398501"/>
                    <a:pt x="0" y="349985"/>
                    <a:pt x="0" y="290138"/>
                  </a:cubicBezTo>
                  <a:lnTo>
                    <a:pt x="0" y="108363"/>
                  </a:lnTo>
                  <a:cubicBezTo>
                    <a:pt x="0" y="48516"/>
                    <a:pt x="48516" y="0"/>
                    <a:pt x="108363" y="0"/>
                  </a:cubicBezTo>
                  <a:close/>
                </a:path>
              </a:pathLst>
            </a:custGeom>
            <a:blipFill>
              <a:blip r:embed="rId3"/>
              <a:stretch>
                <a:fillRect l="-34" r="-34"/>
              </a:stretch>
            </a:blipFill>
          </p:spPr>
          <p:txBody>
            <a:bodyPr/>
            <a:lstStyle/>
            <a:p>
              <a:endParaRPr lang="en-US"/>
            </a:p>
          </p:txBody>
        </p:sp>
      </p:grpSp>
      <p:grpSp>
        <p:nvGrpSpPr>
          <p:cNvPr id="23" name="Group 23"/>
          <p:cNvGrpSpPr/>
          <p:nvPr/>
        </p:nvGrpSpPr>
        <p:grpSpPr>
          <a:xfrm>
            <a:off x="1028700" y="2181625"/>
            <a:ext cx="4828867" cy="2041012"/>
            <a:chOff x="0" y="0"/>
            <a:chExt cx="942820" cy="398501"/>
          </a:xfrm>
        </p:grpSpPr>
        <p:sp>
          <p:nvSpPr>
            <p:cNvPr id="24" name="Freeform 24"/>
            <p:cNvSpPr/>
            <p:nvPr/>
          </p:nvSpPr>
          <p:spPr>
            <a:xfrm>
              <a:off x="0" y="0"/>
              <a:ext cx="942819" cy="398501"/>
            </a:xfrm>
            <a:custGeom>
              <a:avLst/>
              <a:gdLst/>
              <a:ahLst/>
              <a:cxnLst/>
              <a:rect l="l" t="t" r="r" b="b"/>
              <a:pathLst>
                <a:path w="942819" h="398501">
                  <a:moveTo>
                    <a:pt x="32065" y="0"/>
                  </a:moveTo>
                  <a:lnTo>
                    <a:pt x="910754" y="0"/>
                  </a:lnTo>
                  <a:cubicBezTo>
                    <a:pt x="928463" y="0"/>
                    <a:pt x="942819" y="14356"/>
                    <a:pt x="942819" y="32065"/>
                  </a:cubicBezTo>
                  <a:lnTo>
                    <a:pt x="942819" y="366435"/>
                  </a:lnTo>
                  <a:cubicBezTo>
                    <a:pt x="942819" y="384145"/>
                    <a:pt x="928463" y="398501"/>
                    <a:pt x="910754" y="398501"/>
                  </a:cubicBezTo>
                  <a:lnTo>
                    <a:pt x="32065" y="398501"/>
                  </a:lnTo>
                  <a:cubicBezTo>
                    <a:pt x="14356" y="398501"/>
                    <a:pt x="0" y="384145"/>
                    <a:pt x="0" y="366435"/>
                  </a:cubicBezTo>
                  <a:lnTo>
                    <a:pt x="0" y="32065"/>
                  </a:lnTo>
                  <a:cubicBezTo>
                    <a:pt x="0" y="14356"/>
                    <a:pt x="14356" y="0"/>
                    <a:pt x="32065" y="0"/>
                  </a:cubicBezTo>
                  <a:close/>
                </a:path>
              </a:pathLst>
            </a:custGeom>
            <a:blipFill>
              <a:blip r:embed="rId4"/>
              <a:stretch>
                <a:fillRect l="-168" r="-168"/>
              </a:stretch>
            </a:blipFill>
          </p:spPr>
          <p:txBody>
            <a:bodyPr/>
            <a:lstStyle/>
            <a:p>
              <a:endParaRPr lang="en-US"/>
            </a:p>
          </p:txBody>
        </p:sp>
      </p:grpSp>
      <p:grpSp>
        <p:nvGrpSpPr>
          <p:cNvPr id="25" name="Group 25"/>
          <p:cNvGrpSpPr/>
          <p:nvPr/>
        </p:nvGrpSpPr>
        <p:grpSpPr>
          <a:xfrm>
            <a:off x="6075187" y="2181625"/>
            <a:ext cx="2732652" cy="2041012"/>
            <a:chOff x="0" y="0"/>
            <a:chExt cx="533541" cy="398501"/>
          </a:xfrm>
        </p:grpSpPr>
        <p:sp>
          <p:nvSpPr>
            <p:cNvPr id="26" name="Freeform 26"/>
            <p:cNvSpPr/>
            <p:nvPr/>
          </p:nvSpPr>
          <p:spPr>
            <a:xfrm>
              <a:off x="0" y="0"/>
              <a:ext cx="533541" cy="398501"/>
            </a:xfrm>
            <a:custGeom>
              <a:avLst/>
              <a:gdLst/>
              <a:ahLst/>
              <a:cxnLst/>
              <a:rect l="l" t="t" r="r" b="b"/>
              <a:pathLst>
                <a:path w="533541" h="398501">
                  <a:moveTo>
                    <a:pt x="56662" y="0"/>
                  </a:moveTo>
                  <a:lnTo>
                    <a:pt x="476878" y="0"/>
                  </a:lnTo>
                  <a:cubicBezTo>
                    <a:pt x="508172" y="0"/>
                    <a:pt x="533541" y="25369"/>
                    <a:pt x="533541" y="56662"/>
                  </a:cubicBezTo>
                  <a:lnTo>
                    <a:pt x="533541" y="341838"/>
                  </a:lnTo>
                  <a:cubicBezTo>
                    <a:pt x="533541" y="356866"/>
                    <a:pt x="527571" y="371278"/>
                    <a:pt x="516945" y="381905"/>
                  </a:cubicBezTo>
                  <a:cubicBezTo>
                    <a:pt x="506319" y="392531"/>
                    <a:pt x="491906" y="398501"/>
                    <a:pt x="476878" y="398501"/>
                  </a:cubicBezTo>
                  <a:lnTo>
                    <a:pt x="56662" y="398501"/>
                  </a:lnTo>
                  <a:cubicBezTo>
                    <a:pt x="41635" y="398501"/>
                    <a:pt x="27222" y="392531"/>
                    <a:pt x="16596" y="381905"/>
                  </a:cubicBezTo>
                  <a:cubicBezTo>
                    <a:pt x="5970" y="371278"/>
                    <a:pt x="0" y="356866"/>
                    <a:pt x="0" y="341838"/>
                  </a:cubicBezTo>
                  <a:lnTo>
                    <a:pt x="0" y="56662"/>
                  </a:lnTo>
                  <a:cubicBezTo>
                    <a:pt x="0" y="41635"/>
                    <a:pt x="5970" y="27222"/>
                    <a:pt x="16596" y="16596"/>
                  </a:cubicBezTo>
                  <a:cubicBezTo>
                    <a:pt x="27222" y="5970"/>
                    <a:pt x="41635" y="0"/>
                    <a:pt x="56662" y="0"/>
                  </a:cubicBezTo>
                  <a:close/>
                </a:path>
              </a:pathLst>
            </a:custGeom>
            <a:blipFill>
              <a:blip r:embed="rId5"/>
              <a:stretch>
                <a:fillRect l="-43" r="-43"/>
              </a:stretch>
            </a:blipFill>
          </p:spPr>
          <p:txBody>
            <a:bodyPr/>
            <a:lstStyle/>
            <a:p>
              <a:endParaRPr lang="en-US"/>
            </a:p>
          </p:txBody>
        </p:sp>
      </p:grpSp>
      <p:grpSp>
        <p:nvGrpSpPr>
          <p:cNvPr id="27" name="Group 27"/>
          <p:cNvGrpSpPr/>
          <p:nvPr/>
        </p:nvGrpSpPr>
        <p:grpSpPr>
          <a:xfrm>
            <a:off x="11462441" y="4860445"/>
            <a:ext cx="1428887" cy="1424523"/>
            <a:chOff x="0" y="0"/>
            <a:chExt cx="399722" cy="398501"/>
          </a:xfrm>
        </p:grpSpPr>
        <p:sp>
          <p:nvSpPr>
            <p:cNvPr id="28" name="Freeform 28"/>
            <p:cNvSpPr/>
            <p:nvPr/>
          </p:nvSpPr>
          <p:spPr>
            <a:xfrm>
              <a:off x="0" y="0"/>
              <a:ext cx="399722" cy="398501"/>
            </a:xfrm>
            <a:custGeom>
              <a:avLst/>
              <a:gdLst/>
              <a:ahLst/>
              <a:cxnLst/>
              <a:rect l="l" t="t" r="r" b="b"/>
              <a:pathLst>
                <a:path w="399722" h="398501">
                  <a:moveTo>
                    <a:pt x="108363" y="0"/>
                  </a:moveTo>
                  <a:lnTo>
                    <a:pt x="291359" y="0"/>
                  </a:lnTo>
                  <a:cubicBezTo>
                    <a:pt x="320098" y="0"/>
                    <a:pt x="347661" y="11417"/>
                    <a:pt x="367983" y="31739"/>
                  </a:cubicBezTo>
                  <a:cubicBezTo>
                    <a:pt x="388305" y="52061"/>
                    <a:pt x="399722" y="79623"/>
                    <a:pt x="399722" y="108363"/>
                  </a:cubicBezTo>
                  <a:lnTo>
                    <a:pt x="399722" y="290138"/>
                  </a:lnTo>
                  <a:cubicBezTo>
                    <a:pt x="399722" y="349985"/>
                    <a:pt x="351206" y="398501"/>
                    <a:pt x="291359" y="398501"/>
                  </a:cubicBezTo>
                  <a:lnTo>
                    <a:pt x="108363" y="398501"/>
                  </a:lnTo>
                  <a:cubicBezTo>
                    <a:pt x="48516" y="398501"/>
                    <a:pt x="0" y="349985"/>
                    <a:pt x="0" y="290138"/>
                  </a:cubicBezTo>
                  <a:lnTo>
                    <a:pt x="0" y="108363"/>
                  </a:lnTo>
                  <a:cubicBezTo>
                    <a:pt x="0" y="48516"/>
                    <a:pt x="48516" y="0"/>
                    <a:pt x="108363" y="0"/>
                  </a:cubicBezTo>
                  <a:close/>
                </a:path>
              </a:pathLst>
            </a:custGeom>
            <a:blipFill>
              <a:blip r:embed="rId6"/>
              <a:stretch>
                <a:fillRect l="-34" r="-34"/>
              </a:stretch>
            </a:blipFill>
          </p:spPr>
          <p:txBody>
            <a:bodyPr/>
            <a:lstStyle/>
            <a:p>
              <a:endParaRPr lang="en-US"/>
            </a:p>
          </p:txBody>
        </p:sp>
      </p:grpSp>
      <p:grpSp>
        <p:nvGrpSpPr>
          <p:cNvPr id="29" name="Group 29"/>
          <p:cNvGrpSpPr/>
          <p:nvPr/>
        </p:nvGrpSpPr>
        <p:grpSpPr>
          <a:xfrm>
            <a:off x="10032023" y="7132415"/>
            <a:ext cx="1042967" cy="1042967"/>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4119"/>
            </a:soli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31" name="TextBox 31"/>
            <p:cNvSpPr txBox="1"/>
            <p:nvPr/>
          </p:nvSpPr>
          <p:spPr>
            <a:xfrm>
              <a:off x="76200" y="114300"/>
              <a:ext cx="660400" cy="622300"/>
            </a:xfrm>
            <a:prstGeom prst="rect">
              <a:avLst/>
            </a:prstGeom>
          </p:spPr>
          <p:txBody>
            <a:bodyPr lIns="50800" tIns="50800" rIns="50800" bIns="50800" rtlCol="0" anchor="ctr"/>
            <a:lstStyle/>
            <a:p>
              <a:pPr marL="0" lvl="0" indent="0" algn="ctr">
                <a:lnSpc>
                  <a:spcPts val="1619"/>
                </a:lnSpc>
                <a:spcBef>
                  <a:spcPct val="0"/>
                </a:spcBef>
              </a:pPr>
              <a:endParaRPr/>
            </a:p>
          </p:txBody>
        </p:sp>
      </p:grpSp>
      <p:grpSp>
        <p:nvGrpSpPr>
          <p:cNvPr id="32" name="Group 32"/>
          <p:cNvGrpSpPr/>
          <p:nvPr/>
        </p:nvGrpSpPr>
        <p:grpSpPr>
          <a:xfrm>
            <a:off x="11452830" y="6941637"/>
            <a:ext cx="1428887" cy="1424523"/>
            <a:chOff x="0" y="0"/>
            <a:chExt cx="399722" cy="398501"/>
          </a:xfrm>
        </p:grpSpPr>
        <p:sp>
          <p:nvSpPr>
            <p:cNvPr id="33" name="Freeform 33"/>
            <p:cNvSpPr/>
            <p:nvPr/>
          </p:nvSpPr>
          <p:spPr>
            <a:xfrm>
              <a:off x="0" y="0"/>
              <a:ext cx="399722" cy="398501"/>
            </a:xfrm>
            <a:custGeom>
              <a:avLst/>
              <a:gdLst/>
              <a:ahLst/>
              <a:cxnLst/>
              <a:rect l="l" t="t" r="r" b="b"/>
              <a:pathLst>
                <a:path w="399722" h="398501">
                  <a:moveTo>
                    <a:pt x="108363" y="0"/>
                  </a:moveTo>
                  <a:lnTo>
                    <a:pt x="291359" y="0"/>
                  </a:lnTo>
                  <a:cubicBezTo>
                    <a:pt x="320098" y="0"/>
                    <a:pt x="347661" y="11417"/>
                    <a:pt x="367983" y="31739"/>
                  </a:cubicBezTo>
                  <a:cubicBezTo>
                    <a:pt x="388305" y="52061"/>
                    <a:pt x="399722" y="79623"/>
                    <a:pt x="399722" y="108363"/>
                  </a:cubicBezTo>
                  <a:lnTo>
                    <a:pt x="399722" y="290138"/>
                  </a:lnTo>
                  <a:cubicBezTo>
                    <a:pt x="399722" y="349985"/>
                    <a:pt x="351206" y="398501"/>
                    <a:pt x="291359" y="398501"/>
                  </a:cubicBezTo>
                  <a:lnTo>
                    <a:pt x="108363" y="398501"/>
                  </a:lnTo>
                  <a:cubicBezTo>
                    <a:pt x="48516" y="398501"/>
                    <a:pt x="0" y="349985"/>
                    <a:pt x="0" y="290138"/>
                  </a:cubicBezTo>
                  <a:lnTo>
                    <a:pt x="0" y="108363"/>
                  </a:lnTo>
                  <a:cubicBezTo>
                    <a:pt x="0" y="48516"/>
                    <a:pt x="48516" y="0"/>
                    <a:pt x="108363" y="0"/>
                  </a:cubicBezTo>
                  <a:close/>
                </a:path>
              </a:pathLst>
            </a:custGeom>
            <a:blipFill>
              <a:blip r:embed="rId7"/>
              <a:stretch>
                <a:fillRect l="-34" r="-34"/>
              </a:stretch>
            </a:blipFill>
          </p:spPr>
          <p:txBody>
            <a:bodyPr/>
            <a:lstStyle/>
            <a:p>
              <a:endParaRPr lang="en-US"/>
            </a:p>
          </p:txBody>
        </p:sp>
      </p:grpSp>
      <p:sp>
        <p:nvSpPr>
          <p:cNvPr id="34" name="TextBox 34"/>
          <p:cNvSpPr txBox="1"/>
          <p:nvPr/>
        </p:nvSpPr>
        <p:spPr>
          <a:xfrm>
            <a:off x="1157857"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Background of the study</a:t>
            </a:r>
          </a:p>
        </p:txBody>
      </p:sp>
      <p:sp>
        <p:nvSpPr>
          <p:cNvPr id="35" name="TextBox 35"/>
          <p:cNvSpPr txBox="1"/>
          <p:nvPr/>
        </p:nvSpPr>
        <p:spPr>
          <a:xfrm>
            <a:off x="3358755"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Problem Statement</a:t>
            </a:r>
          </a:p>
        </p:txBody>
      </p:sp>
      <p:sp>
        <p:nvSpPr>
          <p:cNvPr id="36" name="TextBox 36"/>
          <p:cNvSpPr txBox="1"/>
          <p:nvPr/>
        </p:nvSpPr>
        <p:spPr>
          <a:xfrm>
            <a:off x="5108285"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Framework</a:t>
            </a:r>
          </a:p>
        </p:txBody>
      </p:sp>
      <p:sp>
        <p:nvSpPr>
          <p:cNvPr id="37" name="TextBox 37"/>
          <p:cNvSpPr txBox="1"/>
          <p:nvPr/>
        </p:nvSpPr>
        <p:spPr>
          <a:xfrm>
            <a:off x="6552810"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Methodology</a:t>
            </a:r>
          </a:p>
        </p:txBody>
      </p:sp>
      <p:sp>
        <p:nvSpPr>
          <p:cNvPr id="38" name="TextBox 38"/>
          <p:cNvSpPr txBox="1"/>
          <p:nvPr/>
        </p:nvSpPr>
        <p:spPr>
          <a:xfrm>
            <a:off x="14585765" y="904812"/>
            <a:ext cx="2498812" cy="502049"/>
          </a:xfrm>
          <a:prstGeom prst="rect">
            <a:avLst/>
          </a:prstGeom>
        </p:spPr>
        <p:txBody>
          <a:bodyPr lIns="0" tIns="0" rIns="0" bIns="0" rtlCol="0" anchor="t">
            <a:spAutoFit/>
          </a:bodyPr>
          <a:lstStyle/>
          <a:p>
            <a:pPr marL="0" lvl="0" indent="0" algn="r">
              <a:lnSpc>
                <a:spcPts val="2098"/>
              </a:lnSpc>
            </a:pPr>
            <a:r>
              <a:rPr lang="en-US" sz="1542" b="1" spc="-38">
                <a:solidFill>
                  <a:srgbClr val="FFFFFF"/>
                </a:solidFill>
                <a:latin typeface="Canva Sans Bold"/>
                <a:ea typeface="Canva Sans Bold"/>
                <a:cs typeface="Canva Sans Bold"/>
                <a:sym typeface="Canva Sans Bold"/>
              </a:rPr>
              <a:t>Hanoi University of Science and Technology</a:t>
            </a:r>
          </a:p>
        </p:txBody>
      </p:sp>
      <p:sp>
        <p:nvSpPr>
          <p:cNvPr id="39" name="TextBox 39"/>
          <p:cNvSpPr txBox="1"/>
          <p:nvPr/>
        </p:nvSpPr>
        <p:spPr>
          <a:xfrm>
            <a:off x="1157857" y="4952013"/>
            <a:ext cx="8131215" cy="2197708"/>
          </a:xfrm>
          <a:prstGeom prst="rect">
            <a:avLst/>
          </a:prstGeom>
        </p:spPr>
        <p:txBody>
          <a:bodyPr lIns="0" tIns="0" rIns="0" bIns="0" rtlCol="0" anchor="t">
            <a:spAutoFit/>
          </a:bodyPr>
          <a:lstStyle/>
          <a:p>
            <a:pPr marL="0" lvl="0" indent="0" algn="l">
              <a:lnSpc>
                <a:spcPts val="8325"/>
              </a:lnSpc>
              <a:spcBef>
                <a:spcPct val="0"/>
              </a:spcBef>
            </a:pPr>
            <a:r>
              <a:rPr lang="en-US" sz="9250" b="1" spc="-370">
                <a:solidFill>
                  <a:srgbClr val="FFFFFF"/>
                </a:solidFill>
                <a:latin typeface="Pragmatica Bold"/>
                <a:ea typeface="Pragmatica Bold"/>
                <a:cs typeface="Pragmatica Bold"/>
                <a:sym typeface="Pragmatica Bold"/>
              </a:rPr>
              <a:t>Scientific</a:t>
            </a:r>
          </a:p>
          <a:p>
            <a:pPr marL="0" lvl="0" indent="0" algn="l">
              <a:lnSpc>
                <a:spcPts val="8325"/>
              </a:lnSpc>
              <a:spcBef>
                <a:spcPct val="0"/>
              </a:spcBef>
            </a:pPr>
            <a:r>
              <a:rPr lang="en-US" sz="9250" b="1" spc="-370">
                <a:solidFill>
                  <a:srgbClr val="FFFFFF"/>
                </a:solidFill>
                <a:latin typeface="Pragmatica Bold"/>
                <a:ea typeface="Pragmatica Bold"/>
                <a:cs typeface="Pragmatica Bold"/>
                <a:sym typeface="Pragmatica Bold"/>
              </a:rPr>
              <a:t>Basis</a:t>
            </a:r>
          </a:p>
        </p:txBody>
      </p:sp>
      <p:sp>
        <p:nvSpPr>
          <p:cNvPr id="40" name="TextBox 40"/>
          <p:cNvSpPr txBox="1"/>
          <p:nvPr/>
        </p:nvSpPr>
        <p:spPr>
          <a:xfrm>
            <a:off x="1157857" y="7440427"/>
            <a:ext cx="5394953" cy="905583"/>
          </a:xfrm>
          <a:prstGeom prst="rect">
            <a:avLst/>
          </a:prstGeom>
        </p:spPr>
        <p:txBody>
          <a:bodyPr lIns="0" tIns="0" rIns="0" bIns="0" rtlCol="0" anchor="t">
            <a:spAutoFit/>
          </a:bodyPr>
          <a:lstStyle/>
          <a:p>
            <a:pPr marL="0" lvl="0" indent="0" algn="l">
              <a:lnSpc>
                <a:spcPts val="1865"/>
              </a:lnSpc>
            </a:pPr>
            <a:r>
              <a:rPr lang="en-US" sz="1371" spc="-34">
                <a:solidFill>
                  <a:srgbClr val="FFFFFF"/>
                </a:solidFill>
                <a:latin typeface="Canva Sans"/>
                <a:ea typeface="Canva Sans"/>
                <a:cs typeface="Canva Sans"/>
                <a:sym typeface="Canva Sans"/>
              </a:rPr>
              <a:t>The MSxOySez/SiOx composite adopts a yolk-shell or honeycomb porous architecture engineered at the nanoscale to deliver high capacity, structural stability, and efficient ion transport for next-generation Li-ion battery anodes.</a:t>
            </a:r>
          </a:p>
        </p:txBody>
      </p:sp>
      <p:sp>
        <p:nvSpPr>
          <p:cNvPr id="41" name="TextBox 41"/>
          <p:cNvSpPr txBox="1"/>
          <p:nvPr/>
        </p:nvSpPr>
        <p:spPr>
          <a:xfrm>
            <a:off x="10051244" y="3345643"/>
            <a:ext cx="1042967" cy="347937"/>
          </a:xfrm>
          <a:prstGeom prst="rect">
            <a:avLst/>
          </a:prstGeom>
        </p:spPr>
        <p:txBody>
          <a:bodyPr lIns="0" tIns="0" rIns="0" bIns="0" rtlCol="0" anchor="t">
            <a:spAutoFit/>
          </a:bodyPr>
          <a:lstStyle/>
          <a:p>
            <a:pPr marL="0" lvl="0" indent="0" algn="ctr">
              <a:lnSpc>
                <a:spcPts val="2574"/>
              </a:lnSpc>
            </a:pPr>
            <a:r>
              <a:rPr lang="en-US" sz="2925" b="1" spc="-146">
                <a:solidFill>
                  <a:srgbClr val="FFFFFF"/>
                </a:solidFill>
                <a:latin typeface="Pragmatica Bold"/>
                <a:ea typeface="Pragmatica Bold"/>
                <a:cs typeface="Pragmatica Bold"/>
                <a:sym typeface="Pragmatica Bold"/>
              </a:rPr>
              <a:t>01</a:t>
            </a:r>
          </a:p>
        </p:txBody>
      </p:sp>
      <p:sp>
        <p:nvSpPr>
          <p:cNvPr id="42" name="TextBox 42"/>
          <p:cNvSpPr txBox="1"/>
          <p:nvPr/>
        </p:nvSpPr>
        <p:spPr>
          <a:xfrm>
            <a:off x="10041633" y="5426835"/>
            <a:ext cx="1042967" cy="347937"/>
          </a:xfrm>
          <a:prstGeom prst="rect">
            <a:avLst/>
          </a:prstGeom>
        </p:spPr>
        <p:txBody>
          <a:bodyPr lIns="0" tIns="0" rIns="0" bIns="0" rtlCol="0" anchor="t">
            <a:spAutoFit/>
          </a:bodyPr>
          <a:lstStyle/>
          <a:p>
            <a:pPr marL="0" lvl="0" indent="0" algn="ctr">
              <a:lnSpc>
                <a:spcPts val="2574"/>
              </a:lnSpc>
            </a:pPr>
            <a:r>
              <a:rPr lang="en-US" sz="2925" b="1" spc="-146">
                <a:solidFill>
                  <a:srgbClr val="FFFFFF"/>
                </a:solidFill>
                <a:latin typeface="Pragmatica Bold"/>
                <a:ea typeface="Pragmatica Bold"/>
                <a:cs typeface="Pragmatica Bold"/>
                <a:sym typeface="Pragmatica Bold"/>
              </a:rPr>
              <a:t>02</a:t>
            </a:r>
          </a:p>
        </p:txBody>
      </p:sp>
      <p:sp>
        <p:nvSpPr>
          <p:cNvPr id="43" name="TextBox 43"/>
          <p:cNvSpPr txBox="1"/>
          <p:nvPr/>
        </p:nvSpPr>
        <p:spPr>
          <a:xfrm>
            <a:off x="13281939" y="3620508"/>
            <a:ext cx="3802638" cy="219783"/>
          </a:xfrm>
          <a:prstGeom prst="rect">
            <a:avLst/>
          </a:prstGeom>
        </p:spPr>
        <p:txBody>
          <a:bodyPr lIns="0" tIns="0" rIns="0" bIns="0" rtlCol="0" anchor="t">
            <a:spAutoFit/>
          </a:bodyPr>
          <a:lstStyle/>
          <a:p>
            <a:pPr marL="0" lvl="0" indent="0" algn="l">
              <a:lnSpc>
                <a:spcPts val="1865"/>
              </a:lnSpc>
            </a:pPr>
            <a:r>
              <a:rPr lang="en-US" sz="1371" spc="-34">
                <a:solidFill>
                  <a:srgbClr val="FFFFFF"/>
                </a:solidFill>
                <a:latin typeface="Canva Sans"/>
                <a:ea typeface="Canva Sans"/>
                <a:cs typeface="Canva Sans"/>
                <a:sym typeface="Canva Sans"/>
              </a:rPr>
              <a:t>Capacity &gt;1500 mAh/g (~4× graphite)</a:t>
            </a:r>
          </a:p>
        </p:txBody>
      </p:sp>
      <p:sp>
        <p:nvSpPr>
          <p:cNvPr id="44" name="TextBox 44"/>
          <p:cNvSpPr txBox="1"/>
          <p:nvPr/>
        </p:nvSpPr>
        <p:spPr>
          <a:xfrm>
            <a:off x="13272328" y="5701700"/>
            <a:ext cx="3802638" cy="219783"/>
          </a:xfrm>
          <a:prstGeom prst="rect">
            <a:avLst/>
          </a:prstGeom>
        </p:spPr>
        <p:txBody>
          <a:bodyPr lIns="0" tIns="0" rIns="0" bIns="0" rtlCol="0" anchor="t">
            <a:spAutoFit/>
          </a:bodyPr>
          <a:lstStyle/>
          <a:p>
            <a:pPr marL="0" lvl="0" indent="0" algn="l">
              <a:lnSpc>
                <a:spcPts val="1865"/>
              </a:lnSpc>
            </a:pPr>
            <a:r>
              <a:rPr lang="en-US" sz="1371" spc="-34">
                <a:solidFill>
                  <a:srgbClr val="FFFFFF"/>
                </a:solidFill>
                <a:latin typeface="Canva Sans"/>
                <a:ea typeface="Canva Sans"/>
                <a:cs typeface="Canva Sans"/>
                <a:sym typeface="Canva Sans"/>
              </a:rPr>
              <a:t>Mechanical protection + electrical conductivity</a:t>
            </a:r>
          </a:p>
        </p:txBody>
      </p:sp>
      <p:sp>
        <p:nvSpPr>
          <p:cNvPr id="45" name="TextBox 45"/>
          <p:cNvSpPr txBox="1"/>
          <p:nvPr/>
        </p:nvSpPr>
        <p:spPr>
          <a:xfrm>
            <a:off x="13281939" y="3175957"/>
            <a:ext cx="3793028" cy="287676"/>
          </a:xfrm>
          <a:prstGeom prst="rect">
            <a:avLst/>
          </a:prstGeom>
        </p:spPr>
        <p:txBody>
          <a:bodyPr lIns="0" tIns="0" rIns="0" bIns="0" rtlCol="0" anchor="t">
            <a:spAutoFit/>
          </a:bodyPr>
          <a:lstStyle/>
          <a:p>
            <a:pPr marL="0" lvl="0" indent="0" algn="l">
              <a:lnSpc>
                <a:spcPts val="2104"/>
              </a:lnSpc>
            </a:pPr>
            <a:r>
              <a:rPr lang="en-US" sz="2391" b="1" spc="-119">
                <a:solidFill>
                  <a:srgbClr val="FFFFFF"/>
                </a:solidFill>
                <a:latin typeface="Pragmatica Bold"/>
                <a:ea typeface="Pragmatica Bold"/>
                <a:cs typeface="Pragmatica Bold"/>
                <a:sym typeface="Pragmatica Bold"/>
              </a:rPr>
              <a:t>SiOx Core: 80–120 nm</a:t>
            </a:r>
          </a:p>
        </p:txBody>
      </p:sp>
      <p:sp>
        <p:nvSpPr>
          <p:cNvPr id="46" name="TextBox 46"/>
          <p:cNvSpPr txBox="1"/>
          <p:nvPr/>
        </p:nvSpPr>
        <p:spPr>
          <a:xfrm>
            <a:off x="13272328" y="5257149"/>
            <a:ext cx="3793028" cy="287676"/>
          </a:xfrm>
          <a:prstGeom prst="rect">
            <a:avLst/>
          </a:prstGeom>
        </p:spPr>
        <p:txBody>
          <a:bodyPr lIns="0" tIns="0" rIns="0" bIns="0" rtlCol="0" anchor="t">
            <a:spAutoFit/>
          </a:bodyPr>
          <a:lstStyle/>
          <a:p>
            <a:pPr marL="0" lvl="0" indent="0" algn="l">
              <a:lnSpc>
                <a:spcPts val="2104"/>
              </a:lnSpc>
            </a:pPr>
            <a:r>
              <a:rPr lang="en-US" sz="2391" b="1" spc="-119">
                <a:solidFill>
                  <a:srgbClr val="FFFFFF"/>
                </a:solidFill>
                <a:latin typeface="Pragmatica Bold"/>
                <a:ea typeface="Pragmatica Bold"/>
                <a:cs typeface="Pragmatica Bold"/>
                <a:sym typeface="Pragmatica Bold"/>
              </a:rPr>
              <a:t>MSxOySez Shell: 15–20 nm</a:t>
            </a:r>
          </a:p>
        </p:txBody>
      </p:sp>
      <p:sp>
        <p:nvSpPr>
          <p:cNvPr id="47" name="TextBox 47"/>
          <p:cNvSpPr txBox="1"/>
          <p:nvPr/>
        </p:nvSpPr>
        <p:spPr>
          <a:xfrm>
            <a:off x="10032023" y="7508027"/>
            <a:ext cx="1042967" cy="347937"/>
          </a:xfrm>
          <a:prstGeom prst="rect">
            <a:avLst/>
          </a:prstGeom>
        </p:spPr>
        <p:txBody>
          <a:bodyPr lIns="0" tIns="0" rIns="0" bIns="0" rtlCol="0" anchor="t">
            <a:spAutoFit/>
          </a:bodyPr>
          <a:lstStyle/>
          <a:p>
            <a:pPr marL="0" lvl="0" indent="0" algn="ctr">
              <a:lnSpc>
                <a:spcPts val="2574"/>
              </a:lnSpc>
            </a:pPr>
            <a:r>
              <a:rPr lang="en-US" sz="2925" b="1" spc="-146">
                <a:solidFill>
                  <a:srgbClr val="FFFFFF"/>
                </a:solidFill>
                <a:latin typeface="Pragmatica Bold"/>
                <a:ea typeface="Pragmatica Bold"/>
                <a:cs typeface="Pragmatica Bold"/>
                <a:sym typeface="Pragmatica Bold"/>
              </a:rPr>
              <a:t>03</a:t>
            </a:r>
          </a:p>
        </p:txBody>
      </p:sp>
      <p:sp>
        <p:nvSpPr>
          <p:cNvPr id="48" name="TextBox 48"/>
          <p:cNvSpPr txBox="1"/>
          <p:nvPr/>
        </p:nvSpPr>
        <p:spPr>
          <a:xfrm>
            <a:off x="13262717" y="7782892"/>
            <a:ext cx="3802638" cy="448383"/>
          </a:xfrm>
          <a:prstGeom prst="rect">
            <a:avLst/>
          </a:prstGeom>
        </p:spPr>
        <p:txBody>
          <a:bodyPr lIns="0" tIns="0" rIns="0" bIns="0" rtlCol="0" anchor="t">
            <a:spAutoFit/>
          </a:bodyPr>
          <a:lstStyle/>
          <a:p>
            <a:pPr marL="0" lvl="0" indent="0" algn="l">
              <a:lnSpc>
                <a:spcPts val="1865"/>
              </a:lnSpc>
            </a:pPr>
            <a:r>
              <a:rPr lang="en-US" sz="1371" spc="-34">
                <a:solidFill>
                  <a:srgbClr val="FFFFFF"/>
                </a:solidFill>
                <a:latin typeface="Canva Sans"/>
                <a:ea typeface="Canva Sans"/>
                <a:cs typeface="Canva Sans"/>
                <a:sym typeface="Canva Sans"/>
              </a:rPr>
              <a:t>Buffers &gt;300% volume expansion during cycling</a:t>
            </a:r>
          </a:p>
        </p:txBody>
      </p:sp>
      <p:sp>
        <p:nvSpPr>
          <p:cNvPr id="49" name="TextBox 49"/>
          <p:cNvSpPr txBox="1"/>
          <p:nvPr/>
        </p:nvSpPr>
        <p:spPr>
          <a:xfrm>
            <a:off x="13262717" y="7338341"/>
            <a:ext cx="3793028" cy="287676"/>
          </a:xfrm>
          <a:prstGeom prst="rect">
            <a:avLst/>
          </a:prstGeom>
        </p:spPr>
        <p:txBody>
          <a:bodyPr lIns="0" tIns="0" rIns="0" bIns="0" rtlCol="0" anchor="t">
            <a:spAutoFit/>
          </a:bodyPr>
          <a:lstStyle/>
          <a:p>
            <a:pPr marL="0" lvl="0" indent="0" algn="l">
              <a:lnSpc>
                <a:spcPts val="2104"/>
              </a:lnSpc>
            </a:pPr>
            <a:r>
              <a:rPr lang="en-US" sz="2391" b="1" spc="-119">
                <a:solidFill>
                  <a:srgbClr val="FFFFFF"/>
                </a:solidFill>
                <a:latin typeface="Pragmatica Bold"/>
                <a:ea typeface="Pragmatica Bold"/>
                <a:cs typeface="Pragmatica Bold"/>
                <a:sym typeface="Pragmatica Bold"/>
              </a:rPr>
              <a:t>30–40% Void Space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AutoShape 3"/>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4" name="AutoShape 4"/>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p:cNvSpPr/>
          <p:nvPr/>
        </p:nvSpPr>
        <p:spPr>
          <a:xfrm>
            <a:off x="6075187"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AutoShape 7"/>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8" name="Freeform 8"/>
          <p:cNvSpPr/>
          <p:nvPr/>
        </p:nvSpPr>
        <p:spPr>
          <a:xfrm>
            <a:off x="14950017" y="-1114244"/>
            <a:ext cx="8534070" cy="11618164"/>
          </a:xfrm>
          <a:custGeom>
            <a:avLst/>
            <a:gdLst/>
            <a:ahLst/>
            <a:cxnLst/>
            <a:rect l="l" t="t" r="r" b="b"/>
            <a:pathLst>
              <a:path w="8534070" h="11618164">
                <a:moveTo>
                  <a:pt x="0" y="0"/>
                </a:moveTo>
                <a:lnTo>
                  <a:pt x="8534069" y="0"/>
                </a:lnTo>
                <a:lnTo>
                  <a:pt x="8534069" y="11618163"/>
                </a:lnTo>
                <a:lnTo>
                  <a:pt x="0" y="11618163"/>
                </a:lnTo>
                <a:lnTo>
                  <a:pt x="0" y="0"/>
                </a:lnTo>
                <a:close/>
              </a:path>
            </a:pathLst>
          </a:custGeom>
          <a:blipFill>
            <a:blip r:embed="rId2">
              <a:alphaModFix amt="50000"/>
            </a:blip>
            <a:stretch>
              <a:fillRect/>
            </a:stretch>
          </a:blipFill>
        </p:spPr>
        <p:txBody>
          <a:bodyPr/>
          <a:lstStyle/>
          <a:p>
            <a:endParaRPr lang="en-US"/>
          </a:p>
        </p:txBody>
      </p:sp>
      <p:grpSp>
        <p:nvGrpSpPr>
          <p:cNvPr id="9" name="Group 9"/>
          <p:cNvGrpSpPr/>
          <p:nvPr/>
        </p:nvGrpSpPr>
        <p:grpSpPr>
          <a:xfrm>
            <a:off x="1028700" y="654448"/>
            <a:ext cx="16230600" cy="748504"/>
            <a:chOff x="0" y="0"/>
            <a:chExt cx="4274726" cy="197137"/>
          </a:xfrm>
        </p:grpSpPr>
        <p:sp>
          <p:nvSpPr>
            <p:cNvPr id="10" name="Freeform 10"/>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1" name="TextBox 11"/>
            <p:cNvSpPr txBox="1"/>
            <p:nvPr/>
          </p:nvSpPr>
          <p:spPr>
            <a:xfrm>
              <a:off x="0" y="38100"/>
              <a:ext cx="4274726" cy="159037"/>
            </a:xfrm>
            <a:prstGeom prst="rect">
              <a:avLst/>
            </a:prstGeom>
          </p:spPr>
          <p:txBody>
            <a:bodyPr lIns="50800" tIns="50800" rIns="50800" bIns="50800" rtlCol="0" anchor="ctr"/>
            <a:lstStyle/>
            <a:p>
              <a:pPr marL="0" lvl="0" indent="0" algn="ctr">
                <a:lnSpc>
                  <a:spcPts val="1619"/>
                </a:lnSpc>
              </a:pPr>
              <a:endParaRPr/>
            </a:p>
          </p:txBody>
        </p:sp>
      </p:grpSp>
      <p:sp>
        <p:nvSpPr>
          <p:cNvPr id="12" name="TextBox 12"/>
          <p:cNvSpPr txBox="1"/>
          <p:nvPr/>
        </p:nvSpPr>
        <p:spPr>
          <a:xfrm>
            <a:off x="1157857"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Project Overview</a:t>
            </a:r>
          </a:p>
        </p:txBody>
      </p:sp>
      <p:sp>
        <p:nvSpPr>
          <p:cNvPr id="13" name="TextBox 13"/>
          <p:cNvSpPr txBox="1"/>
          <p:nvPr/>
        </p:nvSpPr>
        <p:spPr>
          <a:xfrm>
            <a:off x="3358755"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Technical Approach</a:t>
            </a:r>
          </a:p>
        </p:txBody>
      </p:sp>
      <p:sp>
        <p:nvSpPr>
          <p:cNvPr id="14" name="TextBox 14"/>
          <p:cNvSpPr txBox="1"/>
          <p:nvPr/>
        </p:nvSpPr>
        <p:spPr>
          <a:xfrm>
            <a:off x="5108285"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AI Integration</a:t>
            </a:r>
          </a:p>
        </p:txBody>
      </p:sp>
      <p:sp>
        <p:nvSpPr>
          <p:cNvPr id="15" name="TextBox 15"/>
          <p:cNvSpPr txBox="1"/>
          <p:nvPr/>
        </p:nvSpPr>
        <p:spPr>
          <a:xfrm>
            <a:off x="6552810"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Manufacturing</a:t>
            </a:r>
          </a:p>
        </p:txBody>
      </p:sp>
      <p:sp>
        <p:nvSpPr>
          <p:cNvPr id="16" name="TextBox 16"/>
          <p:cNvSpPr txBox="1"/>
          <p:nvPr/>
        </p:nvSpPr>
        <p:spPr>
          <a:xfrm>
            <a:off x="14585765" y="904812"/>
            <a:ext cx="2498812" cy="244874"/>
          </a:xfrm>
          <a:prstGeom prst="rect">
            <a:avLst/>
          </a:prstGeom>
        </p:spPr>
        <p:txBody>
          <a:bodyPr lIns="0" tIns="0" rIns="0" bIns="0" rtlCol="0" anchor="t">
            <a:spAutoFit/>
          </a:bodyPr>
          <a:lstStyle/>
          <a:p>
            <a:pPr marL="0" lvl="0" indent="0" algn="r">
              <a:lnSpc>
                <a:spcPts val="2098"/>
              </a:lnSpc>
            </a:pPr>
            <a:r>
              <a:rPr lang="en-US" sz="1542" b="1" spc="-38">
                <a:solidFill>
                  <a:srgbClr val="FFFFFF"/>
                </a:solidFill>
                <a:latin typeface="Canva Sans Bold"/>
                <a:ea typeface="Canva Sans Bold"/>
                <a:cs typeface="Canva Sans Bold"/>
                <a:sym typeface="Canva Sans Bold"/>
              </a:rPr>
              <a:t>HUST Research</a:t>
            </a:r>
          </a:p>
        </p:txBody>
      </p:sp>
      <p:sp>
        <p:nvSpPr>
          <p:cNvPr id="17" name="TextBox 17"/>
          <p:cNvSpPr txBox="1"/>
          <p:nvPr/>
        </p:nvSpPr>
        <p:spPr>
          <a:xfrm>
            <a:off x="1093279" y="2079227"/>
            <a:ext cx="16101443" cy="1020364"/>
          </a:xfrm>
          <a:prstGeom prst="rect">
            <a:avLst/>
          </a:prstGeom>
        </p:spPr>
        <p:txBody>
          <a:bodyPr lIns="0" tIns="0" rIns="0" bIns="0" rtlCol="0" anchor="t">
            <a:spAutoFit/>
          </a:bodyPr>
          <a:lstStyle/>
          <a:p>
            <a:pPr marL="0" lvl="0" indent="0" algn="ctr">
              <a:lnSpc>
                <a:spcPts val="7453"/>
              </a:lnSpc>
              <a:spcBef>
                <a:spcPct val="0"/>
              </a:spcBef>
            </a:pPr>
            <a:r>
              <a:rPr lang="en-US" sz="8281" b="1" spc="-331">
                <a:solidFill>
                  <a:srgbClr val="FFFFFF"/>
                </a:solidFill>
                <a:latin typeface="Pragmatica Bold"/>
                <a:ea typeface="Pragmatica Bold"/>
                <a:cs typeface="Pragmatica Bold"/>
                <a:sym typeface="Pragmatica Bold"/>
              </a:rPr>
              <a:t>Manufacturing Process Overview</a:t>
            </a:r>
          </a:p>
        </p:txBody>
      </p:sp>
      <p:sp>
        <p:nvSpPr>
          <p:cNvPr id="18" name="TextBox 18"/>
          <p:cNvSpPr txBox="1"/>
          <p:nvPr/>
        </p:nvSpPr>
        <p:spPr>
          <a:xfrm>
            <a:off x="4120011" y="3403461"/>
            <a:ext cx="10047978" cy="676983"/>
          </a:xfrm>
          <a:prstGeom prst="rect">
            <a:avLst/>
          </a:prstGeom>
        </p:spPr>
        <p:txBody>
          <a:bodyPr lIns="0" tIns="0" rIns="0" bIns="0" rtlCol="0" anchor="t">
            <a:spAutoFit/>
          </a:bodyPr>
          <a:lstStyle/>
          <a:p>
            <a:pPr marL="0" lvl="0" indent="0" algn="ctr">
              <a:lnSpc>
                <a:spcPts val="1865"/>
              </a:lnSpc>
            </a:pPr>
            <a:r>
              <a:rPr lang="en-US" sz="1371" spc="-34">
                <a:solidFill>
                  <a:srgbClr val="FFFFFF"/>
                </a:solidFill>
                <a:latin typeface="Canva Sans"/>
                <a:ea typeface="Canva Sans"/>
                <a:cs typeface="Canva Sans"/>
                <a:sym typeface="Canva Sans"/>
              </a:rPr>
              <a:t>A four-step synthesis process transforms raw precursors into high-performance MSxOySez/SiOx heterostructured composite anode materials. Each step is precisely controlled for temperature, duration, and chemical environment to ensure optimal nanostructure formation.</a:t>
            </a:r>
          </a:p>
        </p:txBody>
      </p:sp>
      <p:grpSp>
        <p:nvGrpSpPr>
          <p:cNvPr id="19" name="Group 19"/>
          <p:cNvGrpSpPr/>
          <p:nvPr/>
        </p:nvGrpSpPr>
        <p:grpSpPr>
          <a:xfrm>
            <a:off x="1373705" y="5512332"/>
            <a:ext cx="15885595" cy="3745968"/>
            <a:chOff x="0" y="0"/>
            <a:chExt cx="4183860" cy="986592"/>
          </a:xfrm>
        </p:grpSpPr>
        <p:sp>
          <p:nvSpPr>
            <p:cNvPr id="20" name="Freeform 20"/>
            <p:cNvSpPr/>
            <p:nvPr/>
          </p:nvSpPr>
          <p:spPr>
            <a:xfrm>
              <a:off x="0" y="0"/>
              <a:ext cx="4183861" cy="986592"/>
            </a:xfrm>
            <a:custGeom>
              <a:avLst/>
              <a:gdLst/>
              <a:ahLst/>
              <a:cxnLst/>
              <a:rect l="l" t="t" r="r" b="b"/>
              <a:pathLst>
                <a:path w="4183861" h="986592">
                  <a:moveTo>
                    <a:pt x="8772" y="0"/>
                  </a:moveTo>
                  <a:lnTo>
                    <a:pt x="4175088" y="0"/>
                  </a:lnTo>
                  <a:cubicBezTo>
                    <a:pt x="4177415" y="0"/>
                    <a:pt x="4179646" y="924"/>
                    <a:pt x="4181291" y="2569"/>
                  </a:cubicBezTo>
                  <a:cubicBezTo>
                    <a:pt x="4182936" y="4215"/>
                    <a:pt x="4183861" y="6446"/>
                    <a:pt x="4183861" y="8772"/>
                  </a:cubicBezTo>
                  <a:lnTo>
                    <a:pt x="4183861" y="977820"/>
                  </a:lnTo>
                  <a:cubicBezTo>
                    <a:pt x="4183861" y="980146"/>
                    <a:pt x="4182936" y="982378"/>
                    <a:pt x="4181291" y="984023"/>
                  </a:cubicBezTo>
                  <a:cubicBezTo>
                    <a:pt x="4179646" y="985668"/>
                    <a:pt x="4177415" y="986592"/>
                    <a:pt x="4175088" y="986592"/>
                  </a:cubicBezTo>
                  <a:lnTo>
                    <a:pt x="8772" y="986592"/>
                  </a:lnTo>
                  <a:cubicBezTo>
                    <a:pt x="6446" y="986592"/>
                    <a:pt x="4215" y="985668"/>
                    <a:pt x="2569" y="984023"/>
                  </a:cubicBezTo>
                  <a:cubicBezTo>
                    <a:pt x="924" y="982378"/>
                    <a:pt x="0" y="980146"/>
                    <a:pt x="0" y="977820"/>
                  </a:cubicBezTo>
                  <a:lnTo>
                    <a:pt x="0" y="8772"/>
                  </a:lnTo>
                  <a:cubicBezTo>
                    <a:pt x="0" y="6446"/>
                    <a:pt x="924" y="4215"/>
                    <a:pt x="2569" y="2569"/>
                  </a:cubicBezTo>
                  <a:cubicBezTo>
                    <a:pt x="4215" y="924"/>
                    <a:pt x="6446" y="0"/>
                    <a:pt x="8772" y="0"/>
                  </a:cubicBezTo>
                  <a:close/>
                </a:path>
              </a:pathLst>
            </a:custGeom>
            <a:gradFill rotWithShape="1">
              <a:gsLst>
                <a:gs pos="0">
                  <a:srgbClr val="FFFFFF">
                    <a:alpha val="22000"/>
                  </a:srgbClr>
                </a:gs>
                <a:gs pos="100000">
                  <a:srgbClr val="FFFFFF">
                    <a:alpha val="22500"/>
                  </a:srgbClr>
                </a:gs>
              </a:gsLst>
              <a:lin ang="0"/>
            </a:gradFill>
            <a:ln w="19050" cap="sq">
              <a:solidFill>
                <a:srgbClr val="D3E4E7"/>
              </a:solidFill>
              <a:prstDash val="solid"/>
              <a:miter/>
            </a:ln>
          </p:spPr>
          <p:txBody>
            <a:bodyPr/>
            <a:lstStyle/>
            <a:p>
              <a:endParaRPr lang="en-US"/>
            </a:p>
          </p:txBody>
        </p:sp>
        <p:sp>
          <p:nvSpPr>
            <p:cNvPr id="21" name="TextBox 21"/>
            <p:cNvSpPr txBox="1"/>
            <p:nvPr/>
          </p:nvSpPr>
          <p:spPr>
            <a:xfrm>
              <a:off x="0" y="-38100"/>
              <a:ext cx="4183860" cy="1024692"/>
            </a:xfrm>
            <a:prstGeom prst="rect">
              <a:avLst/>
            </a:prstGeom>
          </p:spPr>
          <p:txBody>
            <a:bodyPr lIns="50800" tIns="50800" rIns="50800" bIns="50800" rtlCol="0" anchor="ctr"/>
            <a:lstStyle/>
            <a:p>
              <a:pPr marL="0" lvl="0" indent="0" algn="ctr">
                <a:lnSpc>
                  <a:spcPts val="2659"/>
                </a:lnSpc>
              </a:pPr>
              <a:endParaRPr/>
            </a:p>
          </p:txBody>
        </p:sp>
      </p:grpSp>
      <p:grpSp>
        <p:nvGrpSpPr>
          <p:cNvPr id="22" name="Group 22"/>
          <p:cNvGrpSpPr/>
          <p:nvPr/>
        </p:nvGrpSpPr>
        <p:grpSpPr>
          <a:xfrm>
            <a:off x="1599239" y="5143500"/>
            <a:ext cx="3444420" cy="737665"/>
            <a:chOff x="0" y="0"/>
            <a:chExt cx="907172" cy="194282"/>
          </a:xfrm>
        </p:grpSpPr>
        <p:sp>
          <p:nvSpPr>
            <p:cNvPr id="23" name="Freeform 23"/>
            <p:cNvSpPr/>
            <p:nvPr/>
          </p:nvSpPr>
          <p:spPr>
            <a:xfrm>
              <a:off x="0" y="0"/>
              <a:ext cx="907172" cy="194282"/>
            </a:xfrm>
            <a:custGeom>
              <a:avLst/>
              <a:gdLst/>
              <a:ahLst/>
              <a:cxnLst/>
              <a:rect l="l" t="t" r="r" b="b"/>
              <a:pathLst>
                <a:path w="907172" h="194282">
                  <a:moveTo>
                    <a:pt x="40458" y="0"/>
                  </a:moveTo>
                  <a:lnTo>
                    <a:pt x="866714" y="0"/>
                  </a:lnTo>
                  <a:cubicBezTo>
                    <a:pt x="889059" y="0"/>
                    <a:pt x="907172" y="18114"/>
                    <a:pt x="907172" y="40458"/>
                  </a:cubicBezTo>
                  <a:lnTo>
                    <a:pt x="907172" y="153824"/>
                  </a:lnTo>
                  <a:cubicBezTo>
                    <a:pt x="907172" y="164554"/>
                    <a:pt x="902910" y="174845"/>
                    <a:pt x="895322" y="182432"/>
                  </a:cubicBezTo>
                  <a:cubicBezTo>
                    <a:pt x="887735" y="190019"/>
                    <a:pt x="877444" y="194282"/>
                    <a:pt x="866714" y="194282"/>
                  </a:cubicBezTo>
                  <a:lnTo>
                    <a:pt x="40458" y="194282"/>
                  </a:lnTo>
                  <a:cubicBezTo>
                    <a:pt x="29728" y="194282"/>
                    <a:pt x="19437" y="190019"/>
                    <a:pt x="11850" y="182432"/>
                  </a:cubicBezTo>
                  <a:cubicBezTo>
                    <a:pt x="4263" y="174845"/>
                    <a:pt x="0" y="164554"/>
                    <a:pt x="0" y="153824"/>
                  </a:cubicBezTo>
                  <a:lnTo>
                    <a:pt x="0" y="40458"/>
                  </a:lnTo>
                  <a:cubicBezTo>
                    <a:pt x="0" y="29728"/>
                    <a:pt x="4263" y="19437"/>
                    <a:pt x="11850" y="11850"/>
                  </a:cubicBezTo>
                  <a:cubicBezTo>
                    <a:pt x="19437" y="4263"/>
                    <a:pt x="29728" y="0"/>
                    <a:pt x="40458" y="0"/>
                  </a:cubicBezTo>
                  <a:close/>
                </a:path>
              </a:pathLst>
            </a:custGeom>
            <a:solidFill>
              <a:srgbClr val="9BF019"/>
            </a:solidFill>
            <a:ln w="19050" cap="sq">
              <a:solidFill>
                <a:srgbClr val="D3E4E7"/>
              </a:solidFill>
              <a:prstDash val="solid"/>
              <a:miter/>
            </a:ln>
          </p:spPr>
          <p:txBody>
            <a:bodyPr/>
            <a:lstStyle/>
            <a:p>
              <a:endParaRPr lang="en-US"/>
            </a:p>
          </p:txBody>
        </p:sp>
        <p:sp>
          <p:nvSpPr>
            <p:cNvPr id="24" name="TextBox 24"/>
            <p:cNvSpPr txBox="1"/>
            <p:nvPr/>
          </p:nvSpPr>
          <p:spPr>
            <a:xfrm>
              <a:off x="0" y="-38100"/>
              <a:ext cx="907172" cy="232382"/>
            </a:xfrm>
            <a:prstGeom prst="rect">
              <a:avLst/>
            </a:prstGeom>
          </p:spPr>
          <p:txBody>
            <a:bodyPr lIns="50800" tIns="50800" rIns="50800" bIns="50800" rtlCol="0" anchor="ctr"/>
            <a:lstStyle/>
            <a:p>
              <a:pPr marL="0" lvl="0" indent="0" algn="ctr">
                <a:lnSpc>
                  <a:spcPts val="2659"/>
                </a:lnSpc>
              </a:pPr>
              <a:endParaRPr/>
            </a:p>
          </p:txBody>
        </p:sp>
      </p:grpSp>
      <p:grpSp>
        <p:nvGrpSpPr>
          <p:cNvPr id="25" name="Group 25"/>
          <p:cNvGrpSpPr/>
          <p:nvPr/>
        </p:nvGrpSpPr>
        <p:grpSpPr>
          <a:xfrm>
            <a:off x="5595858" y="5143500"/>
            <a:ext cx="3444420" cy="737665"/>
            <a:chOff x="0" y="0"/>
            <a:chExt cx="907172" cy="194282"/>
          </a:xfrm>
        </p:grpSpPr>
        <p:sp>
          <p:nvSpPr>
            <p:cNvPr id="26" name="Freeform 26"/>
            <p:cNvSpPr/>
            <p:nvPr/>
          </p:nvSpPr>
          <p:spPr>
            <a:xfrm>
              <a:off x="0" y="0"/>
              <a:ext cx="907172" cy="194282"/>
            </a:xfrm>
            <a:custGeom>
              <a:avLst/>
              <a:gdLst/>
              <a:ahLst/>
              <a:cxnLst/>
              <a:rect l="l" t="t" r="r" b="b"/>
              <a:pathLst>
                <a:path w="907172" h="194282">
                  <a:moveTo>
                    <a:pt x="40458" y="0"/>
                  </a:moveTo>
                  <a:lnTo>
                    <a:pt x="866714" y="0"/>
                  </a:lnTo>
                  <a:cubicBezTo>
                    <a:pt x="889059" y="0"/>
                    <a:pt x="907172" y="18114"/>
                    <a:pt x="907172" y="40458"/>
                  </a:cubicBezTo>
                  <a:lnTo>
                    <a:pt x="907172" y="153824"/>
                  </a:lnTo>
                  <a:cubicBezTo>
                    <a:pt x="907172" y="164554"/>
                    <a:pt x="902910" y="174845"/>
                    <a:pt x="895322" y="182432"/>
                  </a:cubicBezTo>
                  <a:cubicBezTo>
                    <a:pt x="887735" y="190019"/>
                    <a:pt x="877444" y="194282"/>
                    <a:pt x="866714" y="194282"/>
                  </a:cubicBezTo>
                  <a:lnTo>
                    <a:pt x="40458" y="194282"/>
                  </a:lnTo>
                  <a:cubicBezTo>
                    <a:pt x="29728" y="194282"/>
                    <a:pt x="19437" y="190019"/>
                    <a:pt x="11850" y="182432"/>
                  </a:cubicBezTo>
                  <a:cubicBezTo>
                    <a:pt x="4263" y="174845"/>
                    <a:pt x="0" y="164554"/>
                    <a:pt x="0" y="153824"/>
                  </a:cubicBezTo>
                  <a:lnTo>
                    <a:pt x="0" y="40458"/>
                  </a:lnTo>
                  <a:cubicBezTo>
                    <a:pt x="0" y="29728"/>
                    <a:pt x="4263" y="19437"/>
                    <a:pt x="11850" y="11850"/>
                  </a:cubicBezTo>
                  <a:cubicBezTo>
                    <a:pt x="19437" y="4263"/>
                    <a:pt x="29728" y="0"/>
                    <a:pt x="40458" y="0"/>
                  </a:cubicBezTo>
                  <a:close/>
                </a:path>
              </a:pathLst>
            </a:custGeom>
            <a:solidFill>
              <a:srgbClr val="004119"/>
            </a:solidFill>
            <a:ln w="19050" cap="sq">
              <a:solidFill>
                <a:srgbClr val="D3E4E7"/>
              </a:solidFill>
              <a:prstDash val="solid"/>
              <a:miter/>
            </a:ln>
          </p:spPr>
          <p:txBody>
            <a:bodyPr/>
            <a:lstStyle/>
            <a:p>
              <a:endParaRPr lang="en-US"/>
            </a:p>
          </p:txBody>
        </p:sp>
        <p:sp>
          <p:nvSpPr>
            <p:cNvPr id="27" name="TextBox 27"/>
            <p:cNvSpPr txBox="1"/>
            <p:nvPr/>
          </p:nvSpPr>
          <p:spPr>
            <a:xfrm>
              <a:off x="0" y="-38100"/>
              <a:ext cx="907172" cy="232382"/>
            </a:xfrm>
            <a:prstGeom prst="rect">
              <a:avLst/>
            </a:prstGeom>
          </p:spPr>
          <p:txBody>
            <a:bodyPr lIns="50800" tIns="50800" rIns="50800" bIns="50800" rtlCol="0" anchor="ctr"/>
            <a:lstStyle/>
            <a:p>
              <a:pPr marL="0" lvl="0" indent="0" algn="ctr">
                <a:lnSpc>
                  <a:spcPts val="2659"/>
                </a:lnSpc>
              </a:pPr>
              <a:endParaRPr/>
            </a:p>
          </p:txBody>
        </p:sp>
      </p:grpSp>
      <p:sp>
        <p:nvSpPr>
          <p:cNvPr id="28" name="TextBox 28"/>
          <p:cNvSpPr txBox="1"/>
          <p:nvPr/>
        </p:nvSpPr>
        <p:spPr>
          <a:xfrm>
            <a:off x="2098157" y="6346846"/>
            <a:ext cx="2446584" cy="703816"/>
          </a:xfrm>
          <a:prstGeom prst="rect">
            <a:avLst/>
          </a:prstGeom>
        </p:spPr>
        <p:txBody>
          <a:bodyPr lIns="0" tIns="0" rIns="0" bIns="0" rtlCol="0" anchor="t">
            <a:spAutoFit/>
          </a:bodyPr>
          <a:lstStyle/>
          <a:p>
            <a:pPr marL="0" lvl="0" indent="0" algn="ctr">
              <a:lnSpc>
                <a:spcPts val="1878"/>
              </a:lnSpc>
            </a:pPr>
            <a:r>
              <a:rPr lang="en-US" sz="1371" spc="-43">
                <a:solidFill>
                  <a:srgbClr val="FFFFFF"/>
                </a:solidFill>
                <a:latin typeface="Canva Sans"/>
                <a:ea typeface="Canva Sans"/>
                <a:cs typeface="Canva Sans"/>
                <a:sym typeface="Canva Sans"/>
              </a:rPr>
              <a:t>Magnesiothermic Reduction: Synthesis of porous SiOx nanoparticles (80–120 nm)</a:t>
            </a:r>
          </a:p>
        </p:txBody>
      </p:sp>
      <p:sp>
        <p:nvSpPr>
          <p:cNvPr id="29" name="TextBox 29"/>
          <p:cNvSpPr txBox="1"/>
          <p:nvPr/>
        </p:nvSpPr>
        <p:spPr>
          <a:xfrm>
            <a:off x="1881236" y="8141102"/>
            <a:ext cx="2880426" cy="941941"/>
          </a:xfrm>
          <a:prstGeom prst="rect">
            <a:avLst/>
          </a:prstGeom>
        </p:spPr>
        <p:txBody>
          <a:bodyPr lIns="0" tIns="0" rIns="0" bIns="0" rtlCol="0" anchor="t">
            <a:spAutoFit/>
          </a:bodyPr>
          <a:lstStyle/>
          <a:p>
            <a:pPr marL="0" lvl="0" indent="0" algn="ctr">
              <a:lnSpc>
                <a:spcPts val="1878"/>
              </a:lnSpc>
            </a:pPr>
            <a:r>
              <a:rPr lang="en-US" sz="1371" spc="-43">
                <a:solidFill>
                  <a:srgbClr val="FFFFFF"/>
                </a:solidFill>
                <a:latin typeface="Canva Sans"/>
                <a:ea typeface="Canva Sans"/>
                <a:cs typeface="Canva Sans"/>
                <a:sym typeface="Canva Sans"/>
              </a:rPr>
              <a:t>Conditions: 650°C, 3 hours under inert atmosphere. Produces high-surface-area porous SiOx core structure.</a:t>
            </a:r>
          </a:p>
        </p:txBody>
      </p:sp>
      <p:sp>
        <p:nvSpPr>
          <p:cNvPr id="30" name="TextBox 30"/>
          <p:cNvSpPr txBox="1"/>
          <p:nvPr/>
        </p:nvSpPr>
        <p:spPr>
          <a:xfrm>
            <a:off x="5776374" y="6346846"/>
            <a:ext cx="3082885" cy="703816"/>
          </a:xfrm>
          <a:prstGeom prst="rect">
            <a:avLst/>
          </a:prstGeom>
        </p:spPr>
        <p:txBody>
          <a:bodyPr lIns="0" tIns="0" rIns="0" bIns="0" rtlCol="0" anchor="t">
            <a:spAutoFit/>
          </a:bodyPr>
          <a:lstStyle/>
          <a:p>
            <a:pPr marL="0" lvl="0" indent="0" algn="ctr">
              <a:lnSpc>
                <a:spcPts val="1878"/>
              </a:lnSpc>
            </a:pPr>
            <a:r>
              <a:rPr lang="en-US" sz="1371" spc="-43">
                <a:solidFill>
                  <a:srgbClr val="FFFFFF"/>
                </a:solidFill>
                <a:latin typeface="Canva Sans"/>
                <a:ea typeface="Canva Sans"/>
                <a:cs typeface="Canva Sans"/>
                <a:sym typeface="Canva Sans"/>
              </a:rPr>
              <a:t>Metal Hydroxide Adsorption: FeCl3 or NbCl5 precursor adsorption and precipitation onto SiOx surface</a:t>
            </a:r>
          </a:p>
        </p:txBody>
      </p:sp>
      <p:sp>
        <p:nvSpPr>
          <p:cNvPr id="31" name="TextBox 31"/>
          <p:cNvSpPr txBox="1"/>
          <p:nvPr/>
        </p:nvSpPr>
        <p:spPr>
          <a:xfrm>
            <a:off x="5776374" y="8141102"/>
            <a:ext cx="3082885" cy="703816"/>
          </a:xfrm>
          <a:prstGeom prst="rect">
            <a:avLst/>
          </a:prstGeom>
        </p:spPr>
        <p:txBody>
          <a:bodyPr lIns="0" tIns="0" rIns="0" bIns="0" rtlCol="0" anchor="t">
            <a:spAutoFit/>
          </a:bodyPr>
          <a:lstStyle/>
          <a:p>
            <a:pPr marL="0" lvl="0" indent="0" algn="ctr">
              <a:lnSpc>
                <a:spcPts val="1878"/>
              </a:lnSpc>
            </a:pPr>
            <a:r>
              <a:rPr lang="en-US" sz="1371" spc="-43">
                <a:solidFill>
                  <a:srgbClr val="FFFFFF"/>
                </a:solidFill>
                <a:latin typeface="Canva Sans"/>
                <a:ea typeface="Canva Sans"/>
                <a:cs typeface="Canva Sans"/>
                <a:sym typeface="Canva Sans"/>
              </a:rPr>
              <a:t>Controlled pH precipitation forms uniform metal hydroxide shell layer (15–20 nm) on SiOx core particles.</a:t>
            </a:r>
          </a:p>
        </p:txBody>
      </p:sp>
      <p:grpSp>
        <p:nvGrpSpPr>
          <p:cNvPr id="32" name="Group 32"/>
          <p:cNvGrpSpPr/>
          <p:nvPr/>
        </p:nvGrpSpPr>
        <p:grpSpPr>
          <a:xfrm>
            <a:off x="9592476" y="5143500"/>
            <a:ext cx="3444420" cy="737665"/>
            <a:chOff x="0" y="0"/>
            <a:chExt cx="907172" cy="194282"/>
          </a:xfrm>
        </p:grpSpPr>
        <p:sp>
          <p:nvSpPr>
            <p:cNvPr id="33" name="Freeform 33"/>
            <p:cNvSpPr/>
            <p:nvPr/>
          </p:nvSpPr>
          <p:spPr>
            <a:xfrm>
              <a:off x="0" y="0"/>
              <a:ext cx="907172" cy="194282"/>
            </a:xfrm>
            <a:custGeom>
              <a:avLst/>
              <a:gdLst/>
              <a:ahLst/>
              <a:cxnLst/>
              <a:rect l="l" t="t" r="r" b="b"/>
              <a:pathLst>
                <a:path w="907172" h="194282">
                  <a:moveTo>
                    <a:pt x="40458" y="0"/>
                  </a:moveTo>
                  <a:lnTo>
                    <a:pt x="866714" y="0"/>
                  </a:lnTo>
                  <a:cubicBezTo>
                    <a:pt x="889059" y="0"/>
                    <a:pt x="907172" y="18114"/>
                    <a:pt x="907172" y="40458"/>
                  </a:cubicBezTo>
                  <a:lnTo>
                    <a:pt x="907172" y="153824"/>
                  </a:lnTo>
                  <a:cubicBezTo>
                    <a:pt x="907172" y="164554"/>
                    <a:pt x="902910" y="174845"/>
                    <a:pt x="895322" y="182432"/>
                  </a:cubicBezTo>
                  <a:cubicBezTo>
                    <a:pt x="887735" y="190019"/>
                    <a:pt x="877444" y="194282"/>
                    <a:pt x="866714" y="194282"/>
                  </a:cubicBezTo>
                  <a:lnTo>
                    <a:pt x="40458" y="194282"/>
                  </a:lnTo>
                  <a:cubicBezTo>
                    <a:pt x="29728" y="194282"/>
                    <a:pt x="19437" y="190019"/>
                    <a:pt x="11850" y="182432"/>
                  </a:cubicBezTo>
                  <a:cubicBezTo>
                    <a:pt x="4263" y="174845"/>
                    <a:pt x="0" y="164554"/>
                    <a:pt x="0" y="153824"/>
                  </a:cubicBezTo>
                  <a:lnTo>
                    <a:pt x="0" y="40458"/>
                  </a:lnTo>
                  <a:cubicBezTo>
                    <a:pt x="0" y="29728"/>
                    <a:pt x="4263" y="19437"/>
                    <a:pt x="11850" y="11850"/>
                  </a:cubicBezTo>
                  <a:cubicBezTo>
                    <a:pt x="19437" y="4263"/>
                    <a:pt x="29728" y="0"/>
                    <a:pt x="40458" y="0"/>
                  </a:cubicBezTo>
                  <a:close/>
                </a:path>
              </a:pathLst>
            </a:custGeom>
            <a:solidFill>
              <a:srgbClr val="9BF019"/>
            </a:solidFill>
            <a:ln w="19050" cap="sq">
              <a:solidFill>
                <a:srgbClr val="D3E4E7"/>
              </a:solidFill>
              <a:prstDash val="solid"/>
              <a:miter/>
            </a:ln>
          </p:spPr>
          <p:txBody>
            <a:bodyPr/>
            <a:lstStyle/>
            <a:p>
              <a:endParaRPr lang="en-US"/>
            </a:p>
          </p:txBody>
        </p:sp>
        <p:sp>
          <p:nvSpPr>
            <p:cNvPr id="34" name="TextBox 34"/>
            <p:cNvSpPr txBox="1"/>
            <p:nvPr/>
          </p:nvSpPr>
          <p:spPr>
            <a:xfrm>
              <a:off x="0" y="-38100"/>
              <a:ext cx="907172" cy="232382"/>
            </a:xfrm>
            <a:prstGeom prst="rect">
              <a:avLst/>
            </a:prstGeom>
          </p:spPr>
          <p:txBody>
            <a:bodyPr lIns="50800" tIns="50800" rIns="50800" bIns="50800" rtlCol="0" anchor="ctr"/>
            <a:lstStyle/>
            <a:p>
              <a:pPr marL="0" lvl="0" indent="0" algn="ctr">
                <a:lnSpc>
                  <a:spcPts val="2659"/>
                </a:lnSpc>
              </a:pPr>
              <a:endParaRPr/>
            </a:p>
          </p:txBody>
        </p:sp>
      </p:grpSp>
      <p:grpSp>
        <p:nvGrpSpPr>
          <p:cNvPr id="35" name="Group 35"/>
          <p:cNvGrpSpPr/>
          <p:nvPr/>
        </p:nvGrpSpPr>
        <p:grpSpPr>
          <a:xfrm>
            <a:off x="13589346" y="5143500"/>
            <a:ext cx="3444420" cy="737665"/>
            <a:chOff x="0" y="0"/>
            <a:chExt cx="907172" cy="194282"/>
          </a:xfrm>
        </p:grpSpPr>
        <p:sp>
          <p:nvSpPr>
            <p:cNvPr id="36" name="Freeform 36"/>
            <p:cNvSpPr/>
            <p:nvPr/>
          </p:nvSpPr>
          <p:spPr>
            <a:xfrm>
              <a:off x="0" y="0"/>
              <a:ext cx="907172" cy="194282"/>
            </a:xfrm>
            <a:custGeom>
              <a:avLst/>
              <a:gdLst/>
              <a:ahLst/>
              <a:cxnLst/>
              <a:rect l="l" t="t" r="r" b="b"/>
              <a:pathLst>
                <a:path w="907172" h="194282">
                  <a:moveTo>
                    <a:pt x="40458" y="0"/>
                  </a:moveTo>
                  <a:lnTo>
                    <a:pt x="866714" y="0"/>
                  </a:lnTo>
                  <a:cubicBezTo>
                    <a:pt x="889059" y="0"/>
                    <a:pt x="907172" y="18114"/>
                    <a:pt x="907172" y="40458"/>
                  </a:cubicBezTo>
                  <a:lnTo>
                    <a:pt x="907172" y="153824"/>
                  </a:lnTo>
                  <a:cubicBezTo>
                    <a:pt x="907172" y="164554"/>
                    <a:pt x="902910" y="174845"/>
                    <a:pt x="895322" y="182432"/>
                  </a:cubicBezTo>
                  <a:cubicBezTo>
                    <a:pt x="887735" y="190019"/>
                    <a:pt x="877444" y="194282"/>
                    <a:pt x="866714" y="194282"/>
                  </a:cubicBezTo>
                  <a:lnTo>
                    <a:pt x="40458" y="194282"/>
                  </a:lnTo>
                  <a:cubicBezTo>
                    <a:pt x="29728" y="194282"/>
                    <a:pt x="19437" y="190019"/>
                    <a:pt x="11850" y="182432"/>
                  </a:cubicBezTo>
                  <a:cubicBezTo>
                    <a:pt x="4263" y="174845"/>
                    <a:pt x="0" y="164554"/>
                    <a:pt x="0" y="153824"/>
                  </a:cubicBezTo>
                  <a:lnTo>
                    <a:pt x="0" y="40458"/>
                  </a:lnTo>
                  <a:cubicBezTo>
                    <a:pt x="0" y="29728"/>
                    <a:pt x="4263" y="19437"/>
                    <a:pt x="11850" y="11850"/>
                  </a:cubicBezTo>
                  <a:cubicBezTo>
                    <a:pt x="19437" y="4263"/>
                    <a:pt x="29728" y="0"/>
                    <a:pt x="40458" y="0"/>
                  </a:cubicBezTo>
                  <a:close/>
                </a:path>
              </a:pathLst>
            </a:custGeom>
            <a:solidFill>
              <a:srgbClr val="004119"/>
            </a:solidFill>
            <a:ln w="19050" cap="sq">
              <a:solidFill>
                <a:srgbClr val="D3E4E7"/>
              </a:solidFill>
              <a:prstDash val="solid"/>
              <a:miter/>
            </a:ln>
          </p:spPr>
          <p:txBody>
            <a:bodyPr/>
            <a:lstStyle/>
            <a:p>
              <a:endParaRPr lang="en-US"/>
            </a:p>
          </p:txBody>
        </p:sp>
        <p:sp>
          <p:nvSpPr>
            <p:cNvPr id="37" name="TextBox 37"/>
            <p:cNvSpPr txBox="1"/>
            <p:nvPr/>
          </p:nvSpPr>
          <p:spPr>
            <a:xfrm>
              <a:off x="0" y="-38100"/>
              <a:ext cx="907172" cy="23238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38" name="TextBox 38"/>
          <p:cNvSpPr txBox="1"/>
          <p:nvPr/>
        </p:nvSpPr>
        <p:spPr>
          <a:xfrm>
            <a:off x="1598988" y="5379233"/>
            <a:ext cx="3444420" cy="357956"/>
          </a:xfrm>
          <a:prstGeom prst="rect">
            <a:avLst/>
          </a:prstGeom>
        </p:spPr>
        <p:txBody>
          <a:bodyPr lIns="0" tIns="0" rIns="0" bIns="0" rtlCol="0" anchor="t">
            <a:spAutoFit/>
          </a:bodyPr>
          <a:lstStyle/>
          <a:p>
            <a:pPr marL="0" lvl="0" indent="0" algn="ctr">
              <a:lnSpc>
                <a:spcPts val="2714"/>
              </a:lnSpc>
              <a:spcBef>
                <a:spcPct val="0"/>
              </a:spcBef>
            </a:pPr>
            <a:r>
              <a:rPr lang="en-US" sz="2798" b="1" spc="-55">
                <a:solidFill>
                  <a:srgbClr val="053416"/>
                </a:solidFill>
                <a:latin typeface="Pragmatica Bold"/>
                <a:ea typeface="Pragmatica Bold"/>
                <a:cs typeface="Pragmatica Bold"/>
                <a:sym typeface="Pragmatica Bold"/>
              </a:rPr>
              <a:t>Step 1</a:t>
            </a:r>
          </a:p>
        </p:txBody>
      </p:sp>
      <p:sp>
        <p:nvSpPr>
          <p:cNvPr id="39" name="TextBox 39"/>
          <p:cNvSpPr txBox="1"/>
          <p:nvPr/>
        </p:nvSpPr>
        <p:spPr>
          <a:xfrm>
            <a:off x="5607202" y="5366663"/>
            <a:ext cx="3444420" cy="357956"/>
          </a:xfrm>
          <a:prstGeom prst="rect">
            <a:avLst/>
          </a:prstGeom>
        </p:spPr>
        <p:txBody>
          <a:bodyPr lIns="0" tIns="0" rIns="0" bIns="0" rtlCol="0" anchor="t">
            <a:spAutoFit/>
          </a:bodyPr>
          <a:lstStyle/>
          <a:p>
            <a:pPr marL="0" lvl="0" indent="0" algn="ctr">
              <a:lnSpc>
                <a:spcPts val="2714"/>
              </a:lnSpc>
              <a:spcBef>
                <a:spcPct val="0"/>
              </a:spcBef>
            </a:pPr>
            <a:r>
              <a:rPr lang="en-US" sz="2798" b="1" spc="-55">
                <a:solidFill>
                  <a:srgbClr val="FFFFFF"/>
                </a:solidFill>
                <a:latin typeface="Pragmatica Bold"/>
                <a:ea typeface="Pragmatica Bold"/>
                <a:cs typeface="Pragmatica Bold"/>
                <a:sym typeface="Pragmatica Bold"/>
              </a:rPr>
              <a:t>Step 2</a:t>
            </a:r>
          </a:p>
        </p:txBody>
      </p:sp>
      <p:sp>
        <p:nvSpPr>
          <p:cNvPr id="40" name="TextBox 40"/>
          <p:cNvSpPr txBox="1"/>
          <p:nvPr/>
        </p:nvSpPr>
        <p:spPr>
          <a:xfrm>
            <a:off x="9592476" y="5379233"/>
            <a:ext cx="3444420" cy="357956"/>
          </a:xfrm>
          <a:prstGeom prst="rect">
            <a:avLst/>
          </a:prstGeom>
        </p:spPr>
        <p:txBody>
          <a:bodyPr lIns="0" tIns="0" rIns="0" bIns="0" rtlCol="0" anchor="t">
            <a:spAutoFit/>
          </a:bodyPr>
          <a:lstStyle/>
          <a:p>
            <a:pPr marL="0" lvl="0" indent="0" algn="ctr">
              <a:lnSpc>
                <a:spcPts val="2714"/>
              </a:lnSpc>
              <a:spcBef>
                <a:spcPct val="0"/>
              </a:spcBef>
            </a:pPr>
            <a:r>
              <a:rPr lang="en-US" sz="2798" b="1" spc="-55">
                <a:solidFill>
                  <a:srgbClr val="053416"/>
                </a:solidFill>
                <a:latin typeface="Pragmatica Bold"/>
                <a:ea typeface="Pragmatica Bold"/>
                <a:cs typeface="Pragmatica Bold"/>
                <a:sym typeface="Pragmatica Bold"/>
              </a:rPr>
              <a:t>Step 3</a:t>
            </a:r>
          </a:p>
        </p:txBody>
      </p:sp>
      <p:sp>
        <p:nvSpPr>
          <p:cNvPr id="41" name="TextBox 41"/>
          <p:cNvSpPr txBox="1"/>
          <p:nvPr/>
        </p:nvSpPr>
        <p:spPr>
          <a:xfrm>
            <a:off x="13589346" y="5366663"/>
            <a:ext cx="3444420" cy="357956"/>
          </a:xfrm>
          <a:prstGeom prst="rect">
            <a:avLst/>
          </a:prstGeom>
        </p:spPr>
        <p:txBody>
          <a:bodyPr lIns="0" tIns="0" rIns="0" bIns="0" rtlCol="0" anchor="t">
            <a:spAutoFit/>
          </a:bodyPr>
          <a:lstStyle/>
          <a:p>
            <a:pPr marL="0" lvl="0" indent="0" algn="ctr">
              <a:lnSpc>
                <a:spcPts val="2714"/>
              </a:lnSpc>
              <a:spcBef>
                <a:spcPct val="0"/>
              </a:spcBef>
            </a:pPr>
            <a:r>
              <a:rPr lang="en-US" sz="2798" b="1" spc="-55">
                <a:solidFill>
                  <a:srgbClr val="FFFFFF"/>
                </a:solidFill>
                <a:latin typeface="Pragmatica Bold"/>
                <a:ea typeface="Pragmatica Bold"/>
                <a:cs typeface="Pragmatica Bold"/>
                <a:sym typeface="Pragmatica Bold"/>
              </a:rPr>
              <a:t>Step 4</a:t>
            </a:r>
          </a:p>
        </p:txBody>
      </p:sp>
      <p:sp>
        <p:nvSpPr>
          <p:cNvPr id="42" name="TextBox 42"/>
          <p:cNvSpPr txBox="1"/>
          <p:nvPr/>
        </p:nvSpPr>
        <p:spPr>
          <a:xfrm>
            <a:off x="9961241" y="6346846"/>
            <a:ext cx="2706889" cy="703816"/>
          </a:xfrm>
          <a:prstGeom prst="rect">
            <a:avLst/>
          </a:prstGeom>
        </p:spPr>
        <p:txBody>
          <a:bodyPr lIns="0" tIns="0" rIns="0" bIns="0" rtlCol="0" anchor="t">
            <a:spAutoFit/>
          </a:bodyPr>
          <a:lstStyle/>
          <a:p>
            <a:pPr marL="0" lvl="0" indent="0" algn="ctr">
              <a:lnSpc>
                <a:spcPts val="1878"/>
              </a:lnSpc>
            </a:pPr>
            <a:r>
              <a:rPr lang="en-US" sz="1371" spc="-43">
                <a:solidFill>
                  <a:srgbClr val="FFFFFF"/>
                </a:solidFill>
                <a:latin typeface="Canva Sans"/>
                <a:ea typeface="Canva Sans"/>
                <a:cs typeface="Canva Sans"/>
                <a:sym typeface="Canva Sans"/>
              </a:rPr>
              <a:t>Hydrothermal Reaction: Crystallization and nanostructure formation of the composite shell</a:t>
            </a:r>
          </a:p>
        </p:txBody>
      </p:sp>
      <p:sp>
        <p:nvSpPr>
          <p:cNvPr id="43" name="TextBox 43"/>
          <p:cNvSpPr txBox="1"/>
          <p:nvPr/>
        </p:nvSpPr>
        <p:spPr>
          <a:xfrm>
            <a:off x="9961241" y="8279215"/>
            <a:ext cx="2706889" cy="941941"/>
          </a:xfrm>
          <a:prstGeom prst="rect">
            <a:avLst/>
          </a:prstGeom>
        </p:spPr>
        <p:txBody>
          <a:bodyPr lIns="0" tIns="0" rIns="0" bIns="0" rtlCol="0" anchor="t">
            <a:spAutoFit/>
          </a:bodyPr>
          <a:lstStyle/>
          <a:p>
            <a:pPr marL="0" lvl="0" indent="0" algn="ctr">
              <a:lnSpc>
                <a:spcPts val="1878"/>
              </a:lnSpc>
            </a:pPr>
            <a:r>
              <a:rPr lang="en-US" sz="1371" spc="-43">
                <a:solidFill>
                  <a:srgbClr val="FFFFFF"/>
                </a:solidFill>
                <a:latin typeface="Canva Sans"/>
                <a:ea typeface="Canva Sans"/>
                <a:cs typeface="Canva Sans"/>
                <a:sym typeface="Canva Sans"/>
              </a:rPr>
              <a:t>Conditions: 180°C, 12 hours in autoclave. Develops yolk-shell morphology with 30–40% void space.</a:t>
            </a:r>
          </a:p>
        </p:txBody>
      </p:sp>
      <p:sp>
        <p:nvSpPr>
          <p:cNvPr id="44" name="TextBox 44"/>
          <p:cNvSpPr txBox="1"/>
          <p:nvPr/>
        </p:nvSpPr>
        <p:spPr>
          <a:xfrm>
            <a:off x="14087258" y="6346846"/>
            <a:ext cx="2446584" cy="703816"/>
          </a:xfrm>
          <a:prstGeom prst="rect">
            <a:avLst/>
          </a:prstGeom>
        </p:spPr>
        <p:txBody>
          <a:bodyPr lIns="0" tIns="0" rIns="0" bIns="0" rtlCol="0" anchor="t">
            <a:spAutoFit/>
          </a:bodyPr>
          <a:lstStyle/>
          <a:p>
            <a:pPr marL="0" lvl="0" indent="0" algn="ctr">
              <a:lnSpc>
                <a:spcPts val="1878"/>
              </a:lnSpc>
            </a:pPr>
            <a:r>
              <a:rPr lang="en-US" sz="1371" spc="-43">
                <a:solidFill>
                  <a:srgbClr val="FFFFFF"/>
                </a:solidFill>
                <a:latin typeface="Canva Sans"/>
                <a:ea typeface="Canva Sans"/>
                <a:cs typeface="Canva Sans"/>
                <a:sym typeface="Canva Sans"/>
              </a:rPr>
              <a:t>Sulfurization &amp; Selenization: Conversion to MSxOySez heterostructure shell</a:t>
            </a:r>
          </a:p>
        </p:txBody>
      </p:sp>
      <p:sp>
        <p:nvSpPr>
          <p:cNvPr id="45" name="TextBox 45"/>
          <p:cNvSpPr txBox="1"/>
          <p:nvPr/>
        </p:nvSpPr>
        <p:spPr>
          <a:xfrm>
            <a:off x="14087258" y="8141102"/>
            <a:ext cx="2446584" cy="1180066"/>
          </a:xfrm>
          <a:prstGeom prst="rect">
            <a:avLst/>
          </a:prstGeom>
        </p:spPr>
        <p:txBody>
          <a:bodyPr lIns="0" tIns="0" rIns="0" bIns="0" rtlCol="0" anchor="t">
            <a:spAutoFit/>
          </a:bodyPr>
          <a:lstStyle/>
          <a:p>
            <a:pPr marL="0" lvl="0" indent="0" algn="ctr">
              <a:lnSpc>
                <a:spcPts val="1878"/>
              </a:lnSpc>
            </a:pPr>
            <a:r>
              <a:rPr lang="en-US" sz="1371" spc="-43">
                <a:solidFill>
                  <a:srgbClr val="FFFFFF"/>
                </a:solidFill>
                <a:latin typeface="Canva Sans"/>
                <a:ea typeface="Canva Sans"/>
                <a:cs typeface="Canva Sans"/>
                <a:sym typeface="Canva Sans"/>
              </a:rPr>
              <a:t>Conditions: 550–600°C, 3–4 hours. H2S/H2Se gases fully recovered. Final MSxOySez/SiOx composite powder delivered.</a:t>
            </a:r>
          </a:p>
        </p:txBody>
      </p:sp>
      <p:sp>
        <p:nvSpPr>
          <p:cNvPr id="46" name="AutoShape 46"/>
          <p:cNvSpPr/>
          <p:nvPr/>
        </p:nvSpPr>
        <p:spPr>
          <a:xfrm>
            <a:off x="1696761" y="7664852"/>
            <a:ext cx="15337005" cy="0"/>
          </a:xfrm>
          <a:prstGeom prst="line">
            <a:avLst/>
          </a:prstGeom>
          <a:ln w="19050" cap="flat">
            <a:gradFill>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prstDash val="solid"/>
            <a:headEnd type="none" w="sm" len="sm"/>
            <a:tailEnd type="none" w="sm" len="sm"/>
          </a:ln>
        </p:spPr>
        <p:txBody>
          <a:bodyPr/>
          <a:lstStyle/>
          <a:p>
            <a:endParaRPr lang="en-US"/>
          </a:p>
        </p:txBody>
      </p:sp>
      <p:sp>
        <p:nvSpPr>
          <p:cNvPr id="47" name="AutoShape 47"/>
          <p:cNvSpPr/>
          <p:nvPr/>
        </p:nvSpPr>
        <p:spPr>
          <a:xfrm flipV="1">
            <a:off x="5269018" y="6800199"/>
            <a:ext cx="0" cy="1757018"/>
          </a:xfrm>
          <a:prstGeom prst="line">
            <a:avLst/>
          </a:prstGeom>
          <a:ln w="19050" cap="flat">
            <a:gradFill>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prstDash val="solid"/>
            <a:headEnd type="none" w="sm" len="sm"/>
            <a:tailEnd type="none" w="sm" len="sm"/>
          </a:ln>
        </p:spPr>
        <p:txBody>
          <a:bodyPr/>
          <a:lstStyle/>
          <a:p>
            <a:endParaRPr lang="en-US"/>
          </a:p>
        </p:txBody>
      </p:sp>
      <p:sp>
        <p:nvSpPr>
          <p:cNvPr id="48" name="AutoShape 48"/>
          <p:cNvSpPr/>
          <p:nvPr/>
        </p:nvSpPr>
        <p:spPr>
          <a:xfrm flipV="1">
            <a:off x="9410250" y="6800199"/>
            <a:ext cx="0" cy="1757018"/>
          </a:xfrm>
          <a:prstGeom prst="line">
            <a:avLst/>
          </a:prstGeom>
          <a:ln w="19050" cap="flat">
            <a:gradFill>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prstDash val="solid"/>
            <a:headEnd type="none" w="sm" len="sm"/>
            <a:tailEnd type="none" w="sm" len="sm"/>
          </a:ln>
        </p:spPr>
        <p:txBody>
          <a:bodyPr/>
          <a:lstStyle/>
          <a:p>
            <a:endParaRPr lang="en-US"/>
          </a:p>
        </p:txBody>
      </p:sp>
      <p:sp>
        <p:nvSpPr>
          <p:cNvPr id="49" name="AutoShape 49"/>
          <p:cNvSpPr/>
          <p:nvPr/>
        </p:nvSpPr>
        <p:spPr>
          <a:xfrm flipV="1">
            <a:off x="13551482" y="6800199"/>
            <a:ext cx="0" cy="1757018"/>
          </a:xfrm>
          <a:prstGeom prst="line">
            <a:avLst/>
          </a:prstGeom>
          <a:ln w="19050" cap="flat">
            <a:gradFill>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prstDash val="solid"/>
            <a:headEnd type="none" w="sm" len="sm"/>
            <a:tailEnd type="none" w="sm" len="sm"/>
          </a:ln>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AutoShape 3"/>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4" name="AutoShape 4"/>
          <p:cNvSpPr/>
          <p:nvPr/>
        </p:nvSpPr>
        <p:spPr>
          <a:xfrm>
            <a:off x="6075187"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Freeform 7"/>
          <p:cNvSpPr/>
          <p:nvPr/>
        </p:nvSpPr>
        <p:spPr>
          <a:xfrm>
            <a:off x="14950017" y="-1114244"/>
            <a:ext cx="8534070" cy="11618164"/>
          </a:xfrm>
          <a:custGeom>
            <a:avLst/>
            <a:gdLst/>
            <a:ahLst/>
            <a:cxnLst/>
            <a:rect l="l" t="t" r="r" b="b"/>
            <a:pathLst>
              <a:path w="8534070" h="11618164">
                <a:moveTo>
                  <a:pt x="0" y="0"/>
                </a:moveTo>
                <a:lnTo>
                  <a:pt x="8534069" y="0"/>
                </a:lnTo>
                <a:lnTo>
                  <a:pt x="8534069" y="11618163"/>
                </a:lnTo>
                <a:lnTo>
                  <a:pt x="0" y="11618163"/>
                </a:lnTo>
                <a:lnTo>
                  <a:pt x="0" y="0"/>
                </a:lnTo>
                <a:close/>
              </a:path>
            </a:pathLst>
          </a:custGeom>
          <a:blipFill>
            <a:blip r:embed="rId2">
              <a:alphaModFix amt="50000"/>
            </a:blip>
            <a:stretch>
              <a:fillRect/>
            </a:stretch>
          </a:blipFill>
        </p:spPr>
        <p:txBody>
          <a:bodyPr/>
          <a:lstStyle/>
          <a:p>
            <a:endParaRPr lang="en-US"/>
          </a:p>
        </p:txBody>
      </p:sp>
      <p:grpSp>
        <p:nvGrpSpPr>
          <p:cNvPr id="8" name="Group 8"/>
          <p:cNvGrpSpPr/>
          <p:nvPr/>
        </p:nvGrpSpPr>
        <p:grpSpPr>
          <a:xfrm>
            <a:off x="1028700" y="654448"/>
            <a:ext cx="16230600" cy="748504"/>
            <a:chOff x="0" y="0"/>
            <a:chExt cx="4274726" cy="197137"/>
          </a:xfrm>
        </p:grpSpPr>
        <p:sp>
          <p:nvSpPr>
            <p:cNvPr id="9" name="Freeform 9"/>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0" name="TextBox 10"/>
            <p:cNvSpPr txBox="1"/>
            <p:nvPr/>
          </p:nvSpPr>
          <p:spPr>
            <a:xfrm>
              <a:off x="0" y="38100"/>
              <a:ext cx="4274726" cy="159037"/>
            </a:xfrm>
            <a:prstGeom prst="rect">
              <a:avLst/>
            </a:prstGeom>
          </p:spPr>
          <p:txBody>
            <a:bodyPr lIns="50800" tIns="50800" rIns="50800" bIns="50800" rtlCol="0" anchor="ctr"/>
            <a:lstStyle/>
            <a:p>
              <a:pPr marL="0" lvl="0" indent="0" algn="ctr">
                <a:lnSpc>
                  <a:spcPts val="1619"/>
                </a:lnSpc>
              </a:pPr>
              <a:endParaRPr/>
            </a:p>
          </p:txBody>
        </p:sp>
      </p:grpSp>
      <p:grpSp>
        <p:nvGrpSpPr>
          <p:cNvPr id="11" name="Group 11"/>
          <p:cNvGrpSpPr/>
          <p:nvPr/>
        </p:nvGrpSpPr>
        <p:grpSpPr>
          <a:xfrm>
            <a:off x="9985182" y="2580285"/>
            <a:ext cx="3471547" cy="6383502"/>
            <a:chOff x="0" y="0"/>
            <a:chExt cx="537833" cy="988972"/>
          </a:xfrm>
        </p:grpSpPr>
        <p:sp>
          <p:nvSpPr>
            <p:cNvPr id="12" name="Freeform 12"/>
            <p:cNvSpPr/>
            <p:nvPr/>
          </p:nvSpPr>
          <p:spPr>
            <a:xfrm>
              <a:off x="0" y="0"/>
              <a:ext cx="537833" cy="988972"/>
            </a:xfrm>
            <a:custGeom>
              <a:avLst/>
              <a:gdLst/>
              <a:ahLst/>
              <a:cxnLst/>
              <a:rect l="l" t="t" r="r" b="b"/>
              <a:pathLst>
                <a:path w="537833" h="988972">
                  <a:moveTo>
                    <a:pt x="71363" y="0"/>
                  </a:moveTo>
                  <a:lnTo>
                    <a:pt x="466470" y="0"/>
                  </a:lnTo>
                  <a:cubicBezTo>
                    <a:pt x="505883" y="0"/>
                    <a:pt x="537833" y="31950"/>
                    <a:pt x="537833" y="71363"/>
                  </a:cubicBezTo>
                  <a:lnTo>
                    <a:pt x="537833" y="917608"/>
                  </a:lnTo>
                  <a:cubicBezTo>
                    <a:pt x="537833" y="957021"/>
                    <a:pt x="505883" y="988972"/>
                    <a:pt x="466470" y="988972"/>
                  </a:cubicBezTo>
                  <a:lnTo>
                    <a:pt x="71363" y="988972"/>
                  </a:lnTo>
                  <a:cubicBezTo>
                    <a:pt x="31950" y="988972"/>
                    <a:pt x="0" y="957021"/>
                    <a:pt x="0" y="917608"/>
                  </a:cubicBezTo>
                  <a:lnTo>
                    <a:pt x="0" y="71363"/>
                  </a:lnTo>
                  <a:cubicBezTo>
                    <a:pt x="0" y="31950"/>
                    <a:pt x="31950" y="0"/>
                    <a:pt x="71363" y="0"/>
                  </a:cubicBezTo>
                  <a:close/>
                </a:path>
              </a:pathLst>
            </a:custGeom>
            <a:blipFill>
              <a:blip r:embed="rId3"/>
              <a:stretch>
                <a:fillRect l="-452" r="-452"/>
              </a:stretch>
            </a:blipFill>
          </p:spPr>
          <p:txBody>
            <a:bodyPr/>
            <a:lstStyle/>
            <a:p>
              <a:endParaRPr lang="en-US"/>
            </a:p>
          </p:txBody>
        </p:sp>
      </p:grpSp>
      <p:grpSp>
        <p:nvGrpSpPr>
          <p:cNvPr id="13" name="Group 13"/>
          <p:cNvGrpSpPr/>
          <p:nvPr/>
        </p:nvGrpSpPr>
        <p:grpSpPr>
          <a:xfrm>
            <a:off x="13659893" y="2586904"/>
            <a:ext cx="3059311" cy="3855166"/>
            <a:chOff x="0" y="0"/>
            <a:chExt cx="784810" cy="988972"/>
          </a:xfrm>
        </p:grpSpPr>
        <p:sp>
          <p:nvSpPr>
            <p:cNvPr id="14" name="Freeform 14"/>
            <p:cNvSpPr/>
            <p:nvPr/>
          </p:nvSpPr>
          <p:spPr>
            <a:xfrm>
              <a:off x="0" y="0"/>
              <a:ext cx="784810" cy="988972"/>
            </a:xfrm>
            <a:custGeom>
              <a:avLst/>
              <a:gdLst/>
              <a:ahLst/>
              <a:cxnLst/>
              <a:rect l="l" t="t" r="r" b="b"/>
              <a:pathLst>
                <a:path w="784810" h="988972">
                  <a:moveTo>
                    <a:pt x="80979" y="0"/>
                  </a:moveTo>
                  <a:lnTo>
                    <a:pt x="703830" y="0"/>
                  </a:lnTo>
                  <a:cubicBezTo>
                    <a:pt x="725307" y="0"/>
                    <a:pt x="745905" y="8532"/>
                    <a:pt x="761091" y="23718"/>
                  </a:cubicBezTo>
                  <a:cubicBezTo>
                    <a:pt x="776278" y="38905"/>
                    <a:pt x="784810" y="59502"/>
                    <a:pt x="784810" y="80979"/>
                  </a:cubicBezTo>
                  <a:lnTo>
                    <a:pt x="784810" y="907992"/>
                  </a:lnTo>
                  <a:cubicBezTo>
                    <a:pt x="784810" y="929469"/>
                    <a:pt x="776278" y="950067"/>
                    <a:pt x="761091" y="965253"/>
                  </a:cubicBezTo>
                  <a:cubicBezTo>
                    <a:pt x="745905" y="980440"/>
                    <a:pt x="725307" y="988972"/>
                    <a:pt x="703830" y="988972"/>
                  </a:cubicBezTo>
                  <a:lnTo>
                    <a:pt x="80979" y="988972"/>
                  </a:lnTo>
                  <a:cubicBezTo>
                    <a:pt x="59502" y="988972"/>
                    <a:pt x="38905" y="980440"/>
                    <a:pt x="23718" y="965253"/>
                  </a:cubicBezTo>
                  <a:cubicBezTo>
                    <a:pt x="8532" y="950067"/>
                    <a:pt x="0" y="929469"/>
                    <a:pt x="0" y="907992"/>
                  </a:cubicBezTo>
                  <a:lnTo>
                    <a:pt x="0" y="80979"/>
                  </a:lnTo>
                  <a:cubicBezTo>
                    <a:pt x="0" y="59502"/>
                    <a:pt x="8532" y="38905"/>
                    <a:pt x="23718" y="23718"/>
                  </a:cubicBezTo>
                  <a:cubicBezTo>
                    <a:pt x="38905" y="8532"/>
                    <a:pt x="59502" y="0"/>
                    <a:pt x="80979" y="0"/>
                  </a:cubicBezTo>
                  <a:close/>
                </a:path>
              </a:pathLst>
            </a:custGeom>
            <a:blipFill>
              <a:blip r:embed="rId4"/>
              <a:stretch>
                <a:fillRect l="-11" r="-11"/>
              </a:stretch>
            </a:blipFill>
          </p:spPr>
          <p:txBody>
            <a:bodyPr/>
            <a:lstStyle/>
            <a:p>
              <a:endParaRPr lang="en-US"/>
            </a:p>
          </p:txBody>
        </p:sp>
      </p:grpSp>
      <p:grpSp>
        <p:nvGrpSpPr>
          <p:cNvPr id="15" name="Group 15"/>
          <p:cNvGrpSpPr/>
          <p:nvPr/>
        </p:nvGrpSpPr>
        <p:grpSpPr>
          <a:xfrm>
            <a:off x="13659893" y="6613520"/>
            <a:ext cx="3059311" cy="2350267"/>
            <a:chOff x="0" y="0"/>
            <a:chExt cx="784810" cy="602917"/>
          </a:xfrm>
        </p:grpSpPr>
        <p:sp>
          <p:nvSpPr>
            <p:cNvPr id="16" name="Freeform 16"/>
            <p:cNvSpPr/>
            <p:nvPr/>
          </p:nvSpPr>
          <p:spPr>
            <a:xfrm>
              <a:off x="0" y="0"/>
              <a:ext cx="784810" cy="602917"/>
            </a:xfrm>
            <a:custGeom>
              <a:avLst/>
              <a:gdLst/>
              <a:ahLst/>
              <a:cxnLst/>
              <a:rect l="l" t="t" r="r" b="b"/>
              <a:pathLst>
                <a:path w="784810" h="602917">
                  <a:moveTo>
                    <a:pt x="80979" y="0"/>
                  </a:moveTo>
                  <a:lnTo>
                    <a:pt x="703830" y="0"/>
                  </a:lnTo>
                  <a:cubicBezTo>
                    <a:pt x="725307" y="0"/>
                    <a:pt x="745905" y="8532"/>
                    <a:pt x="761091" y="23718"/>
                  </a:cubicBezTo>
                  <a:cubicBezTo>
                    <a:pt x="776278" y="38905"/>
                    <a:pt x="784810" y="59502"/>
                    <a:pt x="784810" y="80979"/>
                  </a:cubicBezTo>
                  <a:lnTo>
                    <a:pt x="784810" y="521938"/>
                  </a:lnTo>
                  <a:cubicBezTo>
                    <a:pt x="784810" y="543415"/>
                    <a:pt x="776278" y="564012"/>
                    <a:pt x="761091" y="579199"/>
                  </a:cubicBezTo>
                  <a:cubicBezTo>
                    <a:pt x="745905" y="594386"/>
                    <a:pt x="725307" y="602917"/>
                    <a:pt x="703830" y="602917"/>
                  </a:cubicBezTo>
                  <a:lnTo>
                    <a:pt x="80979" y="602917"/>
                  </a:lnTo>
                  <a:cubicBezTo>
                    <a:pt x="59502" y="602917"/>
                    <a:pt x="38905" y="594386"/>
                    <a:pt x="23718" y="579199"/>
                  </a:cubicBezTo>
                  <a:cubicBezTo>
                    <a:pt x="8532" y="564012"/>
                    <a:pt x="0" y="543415"/>
                    <a:pt x="0" y="521938"/>
                  </a:cubicBezTo>
                  <a:lnTo>
                    <a:pt x="0" y="80979"/>
                  </a:lnTo>
                  <a:cubicBezTo>
                    <a:pt x="0" y="59502"/>
                    <a:pt x="8532" y="38905"/>
                    <a:pt x="23718" y="23718"/>
                  </a:cubicBezTo>
                  <a:cubicBezTo>
                    <a:pt x="38905" y="8532"/>
                    <a:pt x="59502" y="0"/>
                    <a:pt x="80979" y="0"/>
                  </a:cubicBezTo>
                  <a:close/>
                </a:path>
              </a:pathLst>
            </a:custGeom>
            <a:blipFill>
              <a:blip r:embed="rId5"/>
              <a:stretch>
                <a:fillRect l="-47" r="-47"/>
              </a:stretch>
            </a:blipFill>
          </p:spPr>
          <p:txBody>
            <a:bodyPr/>
            <a:lstStyle/>
            <a:p>
              <a:endParaRPr lang="en-US"/>
            </a:p>
          </p:txBody>
        </p:sp>
      </p:grpSp>
      <p:sp>
        <p:nvSpPr>
          <p:cNvPr id="17" name="TextBox 17"/>
          <p:cNvSpPr txBox="1"/>
          <p:nvPr/>
        </p:nvSpPr>
        <p:spPr>
          <a:xfrm>
            <a:off x="1157857" y="895287"/>
            <a:ext cx="2498812" cy="238272"/>
          </a:xfrm>
          <a:prstGeom prst="rect">
            <a:avLst/>
          </a:prstGeom>
        </p:spPr>
        <p:txBody>
          <a:bodyPr lIns="0" tIns="0" rIns="0" bIns="0" rtlCol="0" anchor="t">
            <a:spAutoFit/>
          </a:bodyPr>
          <a:lstStyle/>
          <a:p>
            <a:pPr marL="0" lvl="0" indent="0" algn="ctr">
              <a:lnSpc>
                <a:spcPts val="1902"/>
              </a:lnSpc>
            </a:pPr>
            <a:r>
              <a:rPr lang="en-US" sz="1399" spc="-34">
                <a:solidFill>
                  <a:srgbClr val="FFFFFF"/>
                </a:solidFill>
                <a:latin typeface="Canva Sans"/>
                <a:ea typeface="Canva Sans"/>
                <a:cs typeface="Canva Sans"/>
                <a:sym typeface="Canva Sans"/>
              </a:rPr>
              <a:t>Background of the study</a:t>
            </a:r>
          </a:p>
        </p:txBody>
      </p:sp>
      <p:sp>
        <p:nvSpPr>
          <p:cNvPr id="18" name="TextBox 18"/>
          <p:cNvSpPr txBox="1"/>
          <p:nvPr/>
        </p:nvSpPr>
        <p:spPr>
          <a:xfrm>
            <a:off x="3358755" y="895287"/>
            <a:ext cx="2498812" cy="238272"/>
          </a:xfrm>
          <a:prstGeom prst="rect">
            <a:avLst/>
          </a:prstGeom>
        </p:spPr>
        <p:txBody>
          <a:bodyPr lIns="0" tIns="0" rIns="0" bIns="0" rtlCol="0" anchor="t">
            <a:spAutoFit/>
          </a:bodyPr>
          <a:lstStyle/>
          <a:p>
            <a:pPr marL="0" lvl="0" indent="0" algn="ctr">
              <a:lnSpc>
                <a:spcPts val="1902"/>
              </a:lnSpc>
            </a:pPr>
            <a:r>
              <a:rPr lang="en-US" sz="1399" spc="-34">
                <a:solidFill>
                  <a:srgbClr val="FFFFFF"/>
                </a:solidFill>
                <a:latin typeface="Canva Sans"/>
                <a:ea typeface="Canva Sans"/>
                <a:cs typeface="Canva Sans"/>
                <a:sym typeface="Canva Sans"/>
              </a:rPr>
              <a:t>Problem Statement</a:t>
            </a:r>
          </a:p>
        </p:txBody>
      </p:sp>
      <p:sp>
        <p:nvSpPr>
          <p:cNvPr id="19" name="TextBox 19"/>
          <p:cNvSpPr txBox="1"/>
          <p:nvPr/>
        </p:nvSpPr>
        <p:spPr>
          <a:xfrm>
            <a:off x="5108285" y="895287"/>
            <a:ext cx="2498812" cy="238272"/>
          </a:xfrm>
          <a:prstGeom prst="rect">
            <a:avLst/>
          </a:prstGeom>
        </p:spPr>
        <p:txBody>
          <a:bodyPr lIns="0" tIns="0" rIns="0" bIns="0" rtlCol="0" anchor="t">
            <a:spAutoFit/>
          </a:bodyPr>
          <a:lstStyle/>
          <a:p>
            <a:pPr marL="0" lvl="0" indent="0" algn="ctr">
              <a:lnSpc>
                <a:spcPts val="1902"/>
              </a:lnSpc>
            </a:pPr>
            <a:r>
              <a:rPr lang="en-US" sz="1399" spc="-34">
                <a:solidFill>
                  <a:srgbClr val="FFFFFF"/>
                </a:solidFill>
                <a:latin typeface="Canva Sans"/>
                <a:ea typeface="Canva Sans"/>
                <a:cs typeface="Canva Sans"/>
                <a:sym typeface="Canva Sans"/>
              </a:rPr>
              <a:t>Framework</a:t>
            </a:r>
          </a:p>
        </p:txBody>
      </p:sp>
      <p:sp>
        <p:nvSpPr>
          <p:cNvPr id="20" name="TextBox 20"/>
          <p:cNvSpPr txBox="1"/>
          <p:nvPr/>
        </p:nvSpPr>
        <p:spPr>
          <a:xfrm>
            <a:off x="6552810" y="895287"/>
            <a:ext cx="2498812" cy="238272"/>
          </a:xfrm>
          <a:prstGeom prst="rect">
            <a:avLst/>
          </a:prstGeom>
        </p:spPr>
        <p:txBody>
          <a:bodyPr lIns="0" tIns="0" rIns="0" bIns="0" rtlCol="0" anchor="t">
            <a:spAutoFit/>
          </a:bodyPr>
          <a:lstStyle/>
          <a:p>
            <a:pPr marL="0" lvl="0" indent="0" algn="ctr">
              <a:lnSpc>
                <a:spcPts val="1902"/>
              </a:lnSpc>
            </a:pPr>
            <a:r>
              <a:rPr lang="en-US" sz="1399" spc="-34">
                <a:solidFill>
                  <a:srgbClr val="FFFFFF"/>
                </a:solidFill>
                <a:latin typeface="Canva Sans"/>
                <a:ea typeface="Canva Sans"/>
                <a:cs typeface="Canva Sans"/>
                <a:sym typeface="Canva Sans"/>
              </a:rPr>
              <a:t>Methodology</a:t>
            </a:r>
          </a:p>
        </p:txBody>
      </p:sp>
      <p:sp>
        <p:nvSpPr>
          <p:cNvPr id="21" name="TextBox 21"/>
          <p:cNvSpPr txBox="1"/>
          <p:nvPr/>
        </p:nvSpPr>
        <p:spPr>
          <a:xfrm>
            <a:off x="14585765" y="904812"/>
            <a:ext cx="2498812" cy="287300"/>
          </a:xfrm>
          <a:prstGeom prst="rect">
            <a:avLst/>
          </a:prstGeom>
        </p:spPr>
        <p:txBody>
          <a:bodyPr lIns="0" tIns="0" rIns="0" bIns="0" rtlCol="0" anchor="t">
            <a:spAutoFit/>
          </a:bodyPr>
          <a:lstStyle/>
          <a:p>
            <a:pPr marL="0" lvl="0" indent="0" algn="r">
              <a:lnSpc>
                <a:spcPts val="2446"/>
              </a:lnSpc>
            </a:pPr>
            <a:r>
              <a:rPr lang="en-US" sz="1798" b="1" spc="-44">
                <a:solidFill>
                  <a:srgbClr val="FFFFFF"/>
                </a:solidFill>
                <a:latin typeface="Canva Sans Bold"/>
                <a:ea typeface="Canva Sans Bold"/>
                <a:cs typeface="Canva Sans Bold"/>
                <a:sym typeface="Canva Sans Bold"/>
              </a:rPr>
              <a:t>Larana Company</a:t>
            </a:r>
          </a:p>
        </p:txBody>
      </p:sp>
      <p:sp>
        <p:nvSpPr>
          <p:cNvPr id="22" name="TextBox 22"/>
          <p:cNvSpPr txBox="1"/>
          <p:nvPr/>
        </p:nvSpPr>
        <p:spPr>
          <a:xfrm>
            <a:off x="1157857" y="2784211"/>
            <a:ext cx="8648122" cy="2209810"/>
          </a:xfrm>
          <a:prstGeom prst="rect">
            <a:avLst/>
          </a:prstGeom>
        </p:spPr>
        <p:txBody>
          <a:bodyPr lIns="0" tIns="0" rIns="0" bIns="0" rtlCol="0" anchor="t">
            <a:spAutoFit/>
          </a:bodyPr>
          <a:lstStyle/>
          <a:p>
            <a:pPr marL="0" lvl="0" indent="0" algn="l">
              <a:lnSpc>
                <a:spcPts val="8325"/>
              </a:lnSpc>
            </a:pPr>
            <a:r>
              <a:rPr lang="en-US" sz="9250" b="1" spc="-370">
                <a:solidFill>
                  <a:srgbClr val="FFFFFF"/>
                </a:solidFill>
                <a:latin typeface="Pragmatica Bold"/>
                <a:ea typeface="Pragmatica Bold"/>
                <a:cs typeface="Pragmatica Bold"/>
                <a:sym typeface="Pragmatica Bold"/>
              </a:rPr>
              <a:t>SEM/TEM</a:t>
            </a:r>
          </a:p>
          <a:p>
            <a:pPr marL="0" lvl="0" indent="0" algn="l">
              <a:lnSpc>
                <a:spcPts val="8325"/>
              </a:lnSpc>
            </a:pPr>
            <a:r>
              <a:rPr lang="en-US" sz="9250" b="1" spc="-370">
                <a:solidFill>
                  <a:srgbClr val="FFFFFF"/>
                </a:solidFill>
                <a:latin typeface="Pragmatica Bold"/>
                <a:ea typeface="Pragmatica Bold"/>
                <a:cs typeface="Pragmatica Bold"/>
                <a:sym typeface="Pragmatica Bold"/>
              </a:rPr>
              <a:t>Micrographs</a:t>
            </a:r>
          </a:p>
        </p:txBody>
      </p:sp>
      <p:sp>
        <p:nvSpPr>
          <p:cNvPr id="23" name="TextBox 23"/>
          <p:cNvSpPr txBox="1"/>
          <p:nvPr/>
        </p:nvSpPr>
        <p:spPr>
          <a:xfrm>
            <a:off x="1157857" y="7754231"/>
            <a:ext cx="6761545" cy="1053361"/>
          </a:xfrm>
          <a:prstGeom prst="rect">
            <a:avLst/>
          </a:prstGeom>
        </p:spPr>
        <p:txBody>
          <a:bodyPr lIns="0" tIns="0" rIns="0" bIns="0" rtlCol="0" anchor="t">
            <a:spAutoFit/>
          </a:bodyPr>
          <a:lstStyle/>
          <a:p>
            <a:pPr marL="0" lvl="0" indent="0" algn="l">
              <a:lnSpc>
                <a:spcPts val="2174"/>
              </a:lnSpc>
            </a:pPr>
            <a:r>
              <a:rPr lang="en-US" sz="1598" spc="-39">
                <a:solidFill>
                  <a:srgbClr val="FFFFFF"/>
                </a:solidFill>
                <a:latin typeface="Canva Sans"/>
                <a:ea typeface="Canva Sans"/>
                <a:cs typeface="Canva Sans"/>
                <a:sym typeface="Canva Sans"/>
              </a:rPr>
              <a:t>Fig. 2 &amp; 3: TEM images showing MSxOySez shell uniformity (15–20 nm thickness) around SiOx core (80–120 nm). The distinct core-shell interface confirms successful heterostructure formation and structural integrity.</a:t>
            </a:r>
          </a:p>
        </p:txBody>
      </p:sp>
      <p:sp>
        <p:nvSpPr>
          <p:cNvPr id="24" name="TextBox 24"/>
          <p:cNvSpPr txBox="1"/>
          <p:nvPr/>
        </p:nvSpPr>
        <p:spPr>
          <a:xfrm>
            <a:off x="1157857" y="6423020"/>
            <a:ext cx="6761545" cy="1053361"/>
          </a:xfrm>
          <a:prstGeom prst="rect">
            <a:avLst/>
          </a:prstGeom>
        </p:spPr>
        <p:txBody>
          <a:bodyPr lIns="0" tIns="0" rIns="0" bIns="0" rtlCol="0" anchor="t">
            <a:spAutoFit/>
          </a:bodyPr>
          <a:lstStyle/>
          <a:p>
            <a:pPr marL="0" lvl="0" indent="0" algn="l">
              <a:lnSpc>
                <a:spcPts val="2174"/>
              </a:lnSpc>
            </a:pPr>
            <a:r>
              <a:rPr lang="en-US" sz="1598" spc="-39">
                <a:solidFill>
                  <a:srgbClr val="FFFFFF"/>
                </a:solidFill>
                <a:latin typeface="Canva Sans"/>
                <a:ea typeface="Canva Sans"/>
                <a:cs typeface="Canva Sans"/>
                <a:sym typeface="Canva Sans"/>
              </a:rPr>
              <a:t>Fig. 1: SEM image of yolk-shell MSxOySez/SiOx composite. Scale bar: 200 nm. The porous honeycomb architecture and uniform shell coating are clearly visible, confirming 30–40% void space for volume expansion buffering.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AutoShape 3"/>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4" name="AutoShape 4"/>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p:cNvSpPr/>
          <p:nvPr/>
        </p:nvSpPr>
        <p:spPr>
          <a:xfrm>
            <a:off x="6075187"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AutoShape 7"/>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8" name="Freeform 8"/>
          <p:cNvSpPr/>
          <p:nvPr/>
        </p:nvSpPr>
        <p:spPr>
          <a:xfrm>
            <a:off x="14703657" y="-4110001"/>
            <a:ext cx="8872758" cy="23195926"/>
          </a:xfrm>
          <a:custGeom>
            <a:avLst/>
            <a:gdLst/>
            <a:ahLst/>
            <a:cxnLst/>
            <a:rect l="l" t="t" r="r" b="b"/>
            <a:pathLst>
              <a:path w="8872758" h="23195926">
                <a:moveTo>
                  <a:pt x="0" y="0"/>
                </a:moveTo>
                <a:lnTo>
                  <a:pt x="8872759" y="0"/>
                </a:lnTo>
                <a:lnTo>
                  <a:pt x="8872759" y="23195925"/>
                </a:lnTo>
                <a:lnTo>
                  <a:pt x="0" y="23195925"/>
                </a:lnTo>
                <a:lnTo>
                  <a:pt x="0" y="0"/>
                </a:lnTo>
                <a:close/>
              </a:path>
            </a:pathLst>
          </a:custGeom>
          <a:blipFill>
            <a:blip r:embed="rId2">
              <a:alphaModFix amt="50000"/>
            </a:blip>
            <a:stretch>
              <a:fillRect/>
            </a:stretch>
          </a:blipFill>
        </p:spPr>
        <p:txBody>
          <a:bodyPr/>
          <a:lstStyle/>
          <a:p>
            <a:endParaRPr lang="en-US"/>
          </a:p>
        </p:txBody>
      </p:sp>
      <p:grpSp>
        <p:nvGrpSpPr>
          <p:cNvPr id="9" name="Group 9"/>
          <p:cNvGrpSpPr/>
          <p:nvPr/>
        </p:nvGrpSpPr>
        <p:grpSpPr>
          <a:xfrm>
            <a:off x="1028700" y="654448"/>
            <a:ext cx="16230600" cy="748504"/>
            <a:chOff x="0" y="0"/>
            <a:chExt cx="4274726" cy="197137"/>
          </a:xfrm>
        </p:grpSpPr>
        <p:sp>
          <p:nvSpPr>
            <p:cNvPr id="10" name="Freeform 10"/>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1" name="TextBox 11"/>
            <p:cNvSpPr txBox="1"/>
            <p:nvPr/>
          </p:nvSpPr>
          <p:spPr>
            <a:xfrm>
              <a:off x="0" y="38100"/>
              <a:ext cx="4274726" cy="159037"/>
            </a:xfrm>
            <a:prstGeom prst="rect">
              <a:avLst/>
            </a:prstGeom>
          </p:spPr>
          <p:txBody>
            <a:bodyPr lIns="50800" tIns="50800" rIns="50800" bIns="50800" rtlCol="0" anchor="ctr"/>
            <a:lstStyle/>
            <a:p>
              <a:pPr marL="0" lvl="0" indent="0" algn="ctr">
                <a:lnSpc>
                  <a:spcPts val="1619"/>
                </a:lnSpc>
              </a:pPr>
              <a:endParaRPr/>
            </a:p>
          </p:txBody>
        </p:sp>
      </p:grpSp>
      <p:sp>
        <p:nvSpPr>
          <p:cNvPr id="12" name="TextBox 12"/>
          <p:cNvSpPr txBox="1"/>
          <p:nvPr/>
        </p:nvSpPr>
        <p:spPr>
          <a:xfrm>
            <a:off x="1157857" y="895287"/>
            <a:ext cx="2498812" cy="238272"/>
          </a:xfrm>
          <a:prstGeom prst="rect">
            <a:avLst/>
          </a:prstGeom>
        </p:spPr>
        <p:txBody>
          <a:bodyPr lIns="0" tIns="0" rIns="0" bIns="0" rtlCol="0" anchor="t">
            <a:spAutoFit/>
          </a:bodyPr>
          <a:lstStyle/>
          <a:p>
            <a:pPr marL="0" lvl="0" indent="0" algn="ctr">
              <a:lnSpc>
                <a:spcPts val="1902"/>
              </a:lnSpc>
            </a:pPr>
            <a:r>
              <a:rPr lang="en-US" sz="1399" spc="-34">
                <a:solidFill>
                  <a:srgbClr val="FFFFFF"/>
                </a:solidFill>
                <a:latin typeface="Canva Sans"/>
                <a:ea typeface="Canva Sans"/>
                <a:cs typeface="Canva Sans"/>
                <a:sym typeface="Canva Sans"/>
              </a:rPr>
              <a:t>Background of the study</a:t>
            </a:r>
          </a:p>
        </p:txBody>
      </p:sp>
      <p:sp>
        <p:nvSpPr>
          <p:cNvPr id="13" name="TextBox 13"/>
          <p:cNvSpPr txBox="1"/>
          <p:nvPr/>
        </p:nvSpPr>
        <p:spPr>
          <a:xfrm>
            <a:off x="3358755" y="895287"/>
            <a:ext cx="2498812" cy="238272"/>
          </a:xfrm>
          <a:prstGeom prst="rect">
            <a:avLst/>
          </a:prstGeom>
        </p:spPr>
        <p:txBody>
          <a:bodyPr lIns="0" tIns="0" rIns="0" bIns="0" rtlCol="0" anchor="t">
            <a:spAutoFit/>
          </a:bodyPr>
          <a:lstStyle/>
          <a:p>
            <a:pPr marL="0" lvl="0" indent="0" algn="ctr">
              <a:lnSpc>
                <a:spcPts val="1902"/>
              </a:lnSpc>
            </a:pPr>
            <a:r>
              <a:rPr lang="en-US" sz="1399" spc="-34">
                <a:solidFill>
                  <a:srgbClr val="FFFFFF"/>
                </a:solidFill>
                <a:latin typeface="Canva Sans"/>
                <a:ea typeface="Canva Sans"/>
                <a:cs typeface="Canva Sans"/>
                <a:sym typeface="Canva Sans"/>
              </a:rPr>
              <a:t>Problem Statement</a:t>
            </a:r>
          </a:p>
        </p:txBody>
      </p:sp>
      <p:sp>
        <p:nvSpPr>
          <p:cNvPr id="14" name="TextBox 14"/>
          <p:cNvSpPr txBox="1"/>
          <p:nvPr/>
        </p:nvSpPr>
        <p:spPr>
          <a:xfrm>
            <a:off x="5108285" y="895287"/>
            <a:ext cx="2498812" cy="238272"/>
          </a:xfrm>
          <a:prstGeom prst="rect">
            <a:avLst/>
          </a:prstGeom>
        </p:spPr>
        <p:txBody>
          <a:bodyPr lIns="0" tIns="0" rIns="0" bIns="0" rtlCol="0" anchor="t">
            <a:spAutoFit/>
          </a:bodyPr>
          <a:lstStyle/>
          <a:p>
            <a:pPr marL="0" lvl="0" indent="0" algn="ctr">
              <a:lnSpc>
                <a:spcPts val="1902"/>
              </a:lnSpc>
            </a:pPr>
            <a:r>
              <a:rPr lang="en-US" sz="1399" spc="-34">
                <a:solidFill>
                  <a:srgbClr val="FFFFFF"/>
                </a:solidFill>
                <a:latin typeface="Canva Sans"/>
                <a:ea typeface="Canva Sans"/>
                <a:cs typeface="Canva Sans"/>
                <a:sym typeface="Canva Sans"/>
              </a:rPr>
              <a:t>Framework</a:t>
            </a:r>
          </a:p>
        </p:txBody>
      </p:sp>
      <p:sp>
        <p:nvSpPr>
          <p:cNvPr id="15" name="TextBox 15"/>
          <p:cNvSpPr txBox="1"/>
          <p:nvPr/>
        </p:nvSpPr>
        <p:spPr>
          <a:xfrm>
            <a:off x="6552810" y="895287"/>
            <a:ext cx="2498812" cy="238272"/>
          </a:xfrm>
          <a:prstGeom prst="rect">
            <a:avLst/>
          </a:prstGeom>
        </p:spPr>
        <p:txBody>
          <a:bodyPr lIns="0" tIns="0" rIns="0" bIns="0" rtlCol="0" anchor="t">
            <a:spAutoFit/>
          </a:bodyPr>
          <a:lstStyle/>
          <a:p>
            <a:pPr marL="0" lvl="0" indent="0" algn="ctr">
              <a:lnSpc>
                <a:spcPts val="1902"/>
              </a:lnSpc>
            </a:pPr>
            <a:r>
              <a:rPr lang="en-US" sz="1399" spc="-34">
                <a:solidFill>
                  <a:srgbClr val="FFFFFF"/>
                </a:solidFill>
                <a:latin typeface="Canva Sans"/>
                <a:ea typeface="Canva Sans"/>
                <a:cs typeface="Canva Sans"/>
                <a:sym typeface="Canva Sans"/>
              </a:rPr>
              <a:t>Methodology</a:t>
            </a:r>
          </a:p>
        </p:txBody>
      </p:sp>
      <p:sp>
        <p:nvSpPr>
          <p:cNvPr id="16" name="TextBox 16"/>
          <p:cNvSpPr txBox="1"/>
          <p:nvPr/>
        </p:nvSpPr>
        <p:spPr>
          <a:xfrm>
            <a:off x="14585765" y="904812"/>
            <a:ext cx="2498812" cy="287300"/>
          </a:xfrm>
          <a:prstGeom prst="rect">
            <a:avLst/>
          </a:prstGeom>
        </p:spPr>
        <p:txBody>
          <a:bodyPr lIns="0" tIns="0" rIns="0" bIns="0" rtlCol="0" anchor="t">
            <a:spAutoFit/>
          </a:bodyPr>
          <a:lstStyle/>
          <a:p>
            <a:pPr marL="0" lvl="0" indent="0" algn="r">
              <a:lnSpc>
                <a:spcPts val="2446"/>
              </a:lnSpc>
            </a:pPr>
            <a:r>
              <a:rPr lang="en-US" sz="1798" b="1" spc="-44">
                <a:solidFill>
                  <a:srgbClr val="FFFFFF"/>
                </a:solidFill>
                <a:latin typeface="Canva Sans Bold"/>
                <a:ea typeface="Canva Sans Bold"/>
                <a:cs typeface="Canva Sans Bold"/>
                <a:sym typeface="Canva Sans Bold"/>
              </a:rPr>
              <a:t>Larana Company</a:t>
            </a:r>
          </a:p>
        </p:txBody>
      </p:sp>
      <p:sp>
        <p:nvSpPr>
          <p:cNvPr id="17" name="TextBox 17"/>
          <p:cNvSpPr txBox="1"/>
          <p:nvPr/>
        </p:nvSpPr>
        <p:spPr>
          <a:xfrm>
            <a:off x="1157857" y="2444622"/>
            <a:ext cx="10069193" cy="1237436"/>
          </a:xfrm>
          <a:prstGeom prst="rect">
            <a:avLst/>
          </a:prstGeom>
        </p:spPr>
        <p:txBody>
          <a:bodyPr lIns="0" tIns="0" rIns="0" bIns="0" rtlCol="0" anchor="t">
            <a:spAutoFit/>
          </a:bodyPr>
          <a:lstStyle/>
          <a:p>
            <a:pPr marL="0" lvl="0" indent="0" algn="l">
              <a:lnSpc>
                <a:spcPts val="4705"/>
              </a:lnSpc>
              <a:spcBef>
                <a:spcPct val="0"/>
              </a:spcBef>
            </a:pPr>
            <a:r>
              <a:rPr lang="en-US" sz="5228" b="1" spc="-209">
                <a:solidFill>
                  <a:srgbClr val="FFFFFF"/>
                </a:solidFill>
                <a:latin typeface="Pragmatica Bold"/>
                <a:ea typeface="Pragmatica Bold"/>
                <a:cs typeface="Pragmatica Bold"/>
                <a:sym typeface="Pragmatica Bold"/>
              </a:rPr>
              <a:t>Competitor Performance &amp; Cost Comparison</a:t>
            </a:r>
          </a:p>
        </p:txBody>
      </p:sp>
      <p:sp>
        <p:nvSpPr>
          <p:cNvPr id="18" name="TextBox 18"/>
          <p:cNvSpPr txBox="1"/>
          <p:nvPr/>
        </p:nvSpPr>
        <p:spPr>
          <a:xfrm>
            <a:off x="1157857" y="4052062"/>
            <a:ext cx="6761545" cy="1053361"/>
          </a:xfrm>
          <a:prstGeom prst="rect">
            <a:avLst/>
          </a:prstGeom>
        </p:spPr>
        <p:txBody>
          <a:bodyPr lIns="0" tIns="0" rIns="0" bIns="0" rtlCol="0" anchor="t">
            <a:spAutoFit/>
          </a:bodyPr>
          <a:lstStyle/>
          <a:p>
            <a:pPr marL="0" lvl="0" indent="0" algn="l">
              <a:lnSpc>
                <a:spcPts val="2174"/>
              </a:lnSpc>
            </a:pPr>
            <a:r>
              <a:rPr lang="en-US" sz="1598" spc="-39">
                <a:solidFill>
                  <a:srgbClr val="FFFFFF"/>
                </a:solidFill>
                <a:latin typeface="Canva Sans"/>
                <a:ea typeface="Canva Sans"/>
                <a:cs typeface="Canva Sans"/>
                <a:sym typeface="Canva Sans"/>
              </a:rPr>
              <a:t>Our MSxOySez/SiOx composite achieves 1400-1500 mAh/g at $55-75/kg — outperforming graphite by 4x and undercutting imported silicon by ~40% in cost. A compelling balance of high capacity and commercial viability.</a:t>
            </a:r>
          </a:p>
        </p:txBody>
      </p:sp>
      <p:grpSp>
        <p:nvGrpSpPr>
          <p:cNvPr id="19" name="Group 19"/>
          <p:cNvGrpSpPr/>
          <p:nvPr/>
        </p:nvGrpSpPr>
        <p:grpSpPr>
          <a:xfrm>
            <a:off x="1157857" y="5881069"/>
            <a:ext cx="7688301" cy="3204781"/>
            <a:chOff x="0" y="0"/>
            <a:chExt cx="2024902" cy="844058"/>
          </a:xfrm>
        </p:grpSpPr>
        <p:sp>
          <p:nvSpPr>
            <p:cNvPr id="20" name="Freeform 20"/>
            <p:cNvSpPr/>
            <p:nvPr/>
          </p:nvSpPr>
          <p:spPr>
            <a:xfrm>
              <a:off x="0" y="0"/>
              <a:ext cx="2024902" cy="844058"/>
            </a:xfrm>
            <a:custGeom>
              <a:avLst/>
              <a:gdLst/>
              <a:ahLst/>
              <a:cxnLst/>
              <a:rect l="l" t="t" r="r" b="b"/>
              <a:pathLst>
                <a:path w="2024902" h="844058">
                  <a:moveTo>
                    <a:pt x="50349" y="0"/>
                  </a:moveTo>
                  <a:lnTo>
                    <a:pt x="1974554" y="0"/>
                  </a:lnTo>
                  <a:cubicBezTo>
                    <a:pt x="2002361" y="0"/>
                    <a:pt x="2024902" y="22542"/>
                    <a:pt x="2024902" y="50349"/>
                  </a:cubicBezTo>
                  <a:lnTo>
                    <a:pt x="2024902" y="793709"/>
                  </a:lnTo>
                  <a:cubicBezTo>
                    <a:pt x="2024902" y="807062"/>
                    <a:pt x="2019598" y="819869"/>
                    <a:pt x="2010156" y="829311"/>
                  </a:cubicBezTo>
                  <a:cubicBezTo>
                    <a:pt x="2000713" y="838753"/>
                    <a:pt x="1987907" y="844058"/>
                    <a:pt x="1974554" y="844058"/>
                  </a:cubicBezTo>
                  <a:lnTo>
                    <a:pt x="50349" y="844058"/>
                  </a:lnTo>
                  <a:cubicBezTo>
                    <a:pt x="22542" y="844058"/>
                    <a:pt x="0" y="821516"/>
                    <a:pt x="0" y="793709"/>
                  </a:cubicBezTo>
                  <a:lnTo>
                    <a:pt x="0" y="50349"/>
                  </a:lnTo>
                  <a:cubicBezTo>
                    <a:pt x="0" y="22542"/>
                    <a:pt x="22542" y="0"/>
                    <a:pt x="50349"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21" name="TextBox 21"/>
            <p:cNvSpPr txBox="1"/>
            <p:nvPr/>
          </p:nvSpPr>
          <p:spPr>
            <a:xfrm>
              <a:off x="0" y="38100"/>
              <a:ext cx="2024902" cy="805958"/>
            </a:xfrm>
            <a:prstGeom prst="rect">
              <a:avLst/>
            </a:prstGeom>
          </p:spPr>
          <p:txBody>
            <a:bodyPr lIns="50800" tIns="50800" rIns="50800" bIns="50800" rtlCol="0" anchor="ctr"/>
            <a:lstStyle/>
            <a:p>
              <a:pPr marL="0" lvl="0" indent="0" algn="ctr">
                <a:lnSpc>
                  <a:spcPts val="1619"/>
                </a:lnSpc>
              </a:pPr>
              <a:endParaRPr/>
            </a:p>
          </p:txBody>
        </p:sp>
      </p:grpSp>
      <p:pic>
        <p:nvPicPr>
          <p:cNvPr id="22" name="Picture 22"/>
          <p:cNvPicPr>
            <a:picLocks noChangeAspect="1"/>
          </p:cNvPicPr>
          <p:nvPr/>
        </p:nvPicPr>
        <p:blipFill>
          <a:blip r:embed="rId3"/>
          <a:stretch>
            <a:fillRect/>
          </a:stretch>
        </p:blipFill>
        <p:spPr>
          <a:xfrm>
            <a:off x="2980082" y="5798137"/>
            <a:ext cx="4043851" cy="3370644"/>
          </a:xfrm>
          <a:prstGeom prst="rect">
            <a:avLst/>
          </a:prstGeom>
        </p:spPr>
      </p:pic>
      <p:pic>
        <p:nvPicPr>
          <p:cNvPr id="23" name="Picture 23"/>
          <p:cNvPicPr>
            <a:picLocks noChangeAspect="1"/>
          </p:cNvPicPr>
          <p:nvPr/>
        </p:nvPicPr>
        <p:blipFill>
          <a:blip r:embed="rId4"/>
          <a:stretch>
            <a:fillRect/>
          </a:stretch>
        </p:blipFill>
        <p:spPr>
          <a:xfrm>
            <a:off x="9252454" y="1682674"/>
            <a:ext cx="8734741" cy="791950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AutoShape 3"/>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4" name="AutoShape 4"/>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p:cNvSpPr/>
          <p:nvPr/>
        </p:nvSpPr>
        <p:spPr>
          <a:xfrm>
            <a:off x="6075187"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AutoShape 7"/>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8" name="Freeform 8"/>
          <p:cNvSpPr/>
          <p:nvPr/>
        </p:nvSpPr>
        <p:spPr>
          <a:xfrm>
            <a:off x="14950017" y="-1114244"/>
            <a:ext cx="8534070" cy="11618164"/>
          </a:xfrm>
          <a:custGeom>
            <a:avLst/>
            <a:gdLst/>
            <a:ahLst/>
            <a:cxnLst/>
            <a:rect l="l" t="t" r="r" b="b"/>
            <a:pathLst>
              <a:path w="8534070" h="11618164">
                <a:moveTo>
                  <a:pt x="0" y="0"/>
                </a:moveTo>
                <a:lnTo>
                  <a:pt x="8534069" y="0"/>
                </a:lnTo>
                <a:lnTo>
                  <a:pt x="8534069" y="11618163"/>
                </a:lnTo>
                <a:lnTo>
                  <a:pt x="0" y="11618163"/>
                </a:lnTo>
                <a:lnTo>
                  <a:pt x="0" y="0"/>
                </a:lnTo>
                <a:close/>
              </a:path>
            </a:pathLst>
          </a:custGeom>
          <a:blipFill>
            <a:blip r:embed="rId2">
              <a:alphaModFix amt="50000"/>
            </a:blip>
            <a:stretch>
              <a:fillRect/>
            </a:stretch>
          </a:blipFill>
        </p:spPr>
        <p:txBody>
          <a:bodyPr/>
          <a:lstStyle/>
          <a:p>
            <a:endParaRPr lang="en-US"/>
          </a:p>
        </p:txBody>
      </p:sp>
      <p:grpSp>
        <p:nvGrpSpPr>
          <p:cNvPr id="9" name="Group 9"/>
          <p:cNvGrpSpPr/>
          <p:nvPr/>
        </p:nvGrpSpPr>
        <p:grpSpPr>
          <a:xfrm>
            <a:off x="1028700" y="654448"/>
            <a:ext cx="16230600" cy="748504"/>
            <a:chOff x="0" y="0"/>
            <a:chExt cx="4274726" cy="197137"/>
          </a:xfrm>
        </p:grpSpPr>
        <p:sp>
          <p:nvSpPr>
            <p:cNvPr id="10" name="Freeform 10"/>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1" name="TextBox 11"/>
            <p:cNvSpPr txBox="1"/>
            <p:nvPr/>
          </p:nvSpPr>
          <p:spPr>
            <a:xfrm>
              <a:off x="0" y="38100"/>
              <a:ext cx="4274726" cy="159037"/>
            </a:xfrm>
            <a:prstGeom prst="rect">
              <a:avLst/>
            </a:prstGeom>
          </p:spPr>
          <p:txBody>
            <a:bodyPr lIns="50800" tIns="50800" rIns="50800" bIns="50800" rtlCol="0" anchor="ctr"/>
            <a:lstStyle/>
            <a:p>
              <a:pPr marL="0" lvl="0" indent="0" algn="ctr">
                <a:lnSpc>
                  <a:spcPts val="1619"/>
                </a:lnSpc>
              </a:pPr>
              <a:endParaRPr/>
            </a:p>
          </p:txBody>
        </p:sp>
      </p:grpSp>
      <p:grpSp>
        <p:nvGrpSpPr>
          <p:cNvPr id="12" name="Group 12"/>
          <p:cNvGrpSpPr/>
          <p:nvPr/>
        </p:nvGrpSpPr>
        <p:grpSpPr>
          <a:xfrm>
            <a:off x="1240550" y="5739847"/>
            <a:ext cx="4617017" cy="3518453"/>
            <a:chOff x="0" y="0"/>
            <a:chExt cx="1216004" cy="926671"/>
          </a:xfrm>
        </p:grpSpPr>
        <p:sp>
          <p:nvSpPr>
            <p:cNvPr id="13" name="Freeform 13"/>
            <p:cNvSpPr/>
            <p:nvPr/>
          </p:nvSpPr>
          <p:spPr>
            <a:xfrm>
              <a:off x="0" y="0"/>
              <a:ext cx="1216004" cy="926671"/>
            </a:xfrm>
            <a:custGeom>
              <a:avLst/>
              <a:gdLst/>
              <a:ahLst/>
              <a:cxnLst/>
              <a:rect l="l" t="t" r="r" b="b"/>
              <a:pathLst>
                <a:path w="1216004" h="926671">
                  <a:moveTo>
                    <a:pt x="83841" y="0"/>
                  </a:moveTo>
                  <a:lnTo>
                    <a:pt x="1132163" y="0"/>
                  </a:lnTo>
                  <a:cubicBezTo>
                    <a:pt x="1154399" y="0"/>
                    <a:pt x="1175725" y="8833"/>
                    <a:pt x="1191448" y="24557"/>
                  </a:cubicBezTo>
                  <a:cubicBezTo>
                    <a:pt x="1207171" y="40280"/>
                    <a:pt x="1216004" y="61605"/>
                    <a:pt x="1216004" y="83841"/>
                  </a:cubicBezTo>
                  <a:lnTo>
                    <a:pt x="1216004" y="842830"/>
                  </a:lnTo>
                  <a:cubicBezTo>
                    <a:pt x="1216004" y="889134"/>
                    <a:pt x="1178468" y="926671"/>
                    <a:pt x="1132163" y="926671"/>
                  </a:cubicBezTo>
                  <a:lnTo>
                    <a:pt x="83841" y="926671"/>
                  </a:lnTo>
                  <a:cubicBezTo>
                    <a:pt x="61605" y="926671"/>
                    <a:pt x="40280" y="917837"/>
                    <a:pt x="24557" y="902114"/>
                  </a:cubicBezTo>
                  <a:cubicBezTo>
                    <a:pt x="8833" y="886391"/>
                    <a:pt x="0" y="865066"/>
                    <a:pt x="0" y="842830"/>
                  </a:cubicBezTo>
                  <a:lnTo>
                    <a:pt x="0" y="83841"/>
                  </a:lnTo>
                  <a:cubicBezTo>
                    <a:pt x="0" y="37537"/>
                    <a:pt x="37537" y="0"/>
                    <a:pt x="83841"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4" name="TextBox 14"/>
            <p:cNvSpPr txBox="1"/>
            <p:nvPr/>
          </p:nvSpPr>
          <p:spPr>
            <a:xfrm>
              <a:off x="0" y="38100"/>
              <a:ext cx="1216004" cy="888571"/>
            </a:xfrm>
            <a:prstGeom prst="rect">
              <a:avLst/>
            </a:prstGeom>
          </p:spPr>
          <p:txBody>
            <a:bodyPr lIns="50800" tIns="50800" rIns="50800" bIns="50800" rtlCol="0" anchor="ctr"/>
            <a:lstStyle/>
            <a:p>
              <a:pPr marL="0" lvl="0" indent="0" algn="ctr">
                <a:lnSpc>
                  <a:spcPts val="1619"/>
                </a:lnSpc>
              </a:pPr>
              <a:endParaRPr/>
            </a:p>
          </p:txBody>
        </p:sp>
      </p:grpSp>
      <p:grpSp>
        <p:nvGrpSpPr>
          <p:cNvPr id="15" name="Group 15"/>
          <p:cNvGrpSpPr/>
          <p:nvPr/>
        </p:nvGrpSpPr>
        <p:grpSpPr>
          <a:xfrm>
            <a:off x="6289499" y="5739847"/>
            <a:ext cx="4617017" cy="3518453"/>
            <a:chOff x="0" y="0"/>
            <a:chExt cx="1216004" cy="926671"/>
          </a:xfrm>
        </p:grpSpPr>
        <p:sp>
          <p:nvSpPr>
            <p:cNvPr id="16" name="Freeform 16"/>
            <p:cNvSpPr/>
            <p:nvPr/>
          </p:nvSpPr>
          <p:spPr>
            <a:xfrm>
              <a:off x="0" y="0"/>
              <a:ext cx="1216004" cy="926671"/>
            </a:xfrm>
            <a:custGeom>
              <a:avLst/>
              <a:gdLst/>
              <a:ahLst/>
              <a:cxnLst/>
              <a:rect l="l" t="t" r="r" b="b"/>
              <a:pathLst>
                <a:path w="1216004" h="926671">
                  <a:moveTo>
                    <a:pt x="83841" y="0"/>
                  </a:moveTo>
                  <a:lnTo>
                    <a:pt x="1132163" y="0"/>
                  </a:lnTo>
                  <a:cubicBezTo>
                    <a:pt x="1154399" y="0"/>
                    <a:pt x="1175725" y="8833"/>
                    <a:pt x="1191448" y="24557"/>
                  </a:cubicBezTo>
                  <a:cubicBezTo>
                    <a:pt x="1207171" y="40280"/>
                    <a:pt x="1216004" y="61605"/>
                    <a:pt x="1216004" y="83841"/>
                  </a:cubicBezTo>
                  <a:lnTo>
                    <a:pt x="1216004" y="842830"/>
                  </a:lnTo>
                  <a:cubicBezTo>
                    <a:pt x="1216004" y="889134"/>
                    <a:pt x="1178468" y="926671"/>
                    <a:pt x="1132163" y="926671"/>
                  </a:cubicBezTo>
                  <a:lnTo>
                    <a:pt x="83841" y="926671"/>
                  </a:lnTo>
                  <a:cubicBezTo>
                    <a:pt x="61605" y="926671"/>
                    <a:pt x="40280" y="917837"/>
                    <a:pt x="24557" y="902114"/>
                  </a:cubicBezTo>
                  <a:cubicBezTo>
                    <a:pt x="8833" y="886391"/>
                    <a:pt x="0" y="865066"/>
                    <a:pt x="0" y="842830"/>
                  </a:cubicBezTo>
                  <a:lnTo>
                    <a:pt x="0" y="83841"/>
                  </a:lnTo>
                  <a:cubicBezTo>
                    <a:pt x="0" y="37537"/>
                    <a:pt x="37537" y="0"/>
                    <a:pt x="83841" y="0"/>
                  </a:cubicBezTo>
                  <a:close/>
                </a:path>
              </a:pathLst>
            </a:custGeom>
            <a:solidFill>
              <a:srgbClr val="053416"/>
            </a:soli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7" name="TextBox 17"/>
            <p:cNvSpPr txBox="1"/>
            <p:nvPr/>
          </p:nvSpPr>
          <p:spPr>
            <a:xfrm>
              <a:off x="0" y="38100"/>
              <a:ext cx="1216004" cy="888571"/>
            </a:xfrm>
            <a:prstGeom prst="rect">
              <a:avLst/>
            </a:prstGeom>
          </p:spPr>
          <p:txBody>
            <a:bodyPr lIns="50800" tIns="50800" rIns="50800" bIns="50800" rtlCol="0" anchor="ctr"/>
            <a:lstStyle/>
            <a:p>
              <a:pPr marL="0" lvl="0" indent="0" algn="ctr">
                <a:lnSpc>
                  <a:spcPts val="1619"/>
                </a:lnSpc>
              </a:pPr>
              <a:endParaRPr/>
            </a:p>
          </p:txBody>
        </p:sp>
      </p:grpSp>
      <p:grpSp>
        <p:nvGrpSpPr>
          <p:cNvPr id="18" name="Group 18"/>
          <p:cNvGrpSpPr/>
          <p:nvPr/>
        </p:nvGrpSpPr>
        <p:grpSpPr>
          <a:xfrm>
            <a:off x="3588041" y="823594"/>
            <a:ext cx="2040239" cy="410211"/>
            <a:chOff x="0" y="0"/>
            <a:chExt cx="537347" cy="108039"/>
          </a:xfrm>
        </p:grpSpPr>
        <p:sp>
          <p:nvSpPr>
            <p:cNvPr id="19" name="Freeform 19"/>
            <p:cNvSpPr/>
            <p:nvPr/>
          </p:nvSpPr>
          <p:spPr>
            <a:xfrm>
              <a:off x="0" y="0"/>
              <a:ext cx="537347" cy="108039"/>
            </a:xfrm>
            <a:custGeom>
              <a:avLst/>
              <a:gdLst/>
              <a:ahLst/>
              <a:cxnLst/>
              <a:rect l="l" t="t" r="r" b="b"/>
              <a:pathLst>
                <a:path w="537347" h="108039">
                  <a:moveTo>
                    <a:pt x="54020" y="0"/>
                  </a:moveTo>
                  <a:lnTo>
                    <a:pt x="483327" y="0"/>
                  </a:lnTo>
                  <a:cubicBezTo>
                    <a:pt x="497654" y="0"/>
                    <a:pt x="511394" y="5691"/>
                    <a:pt x="521525" y="15822"/>
                  </a:cubicBezTo>
                  <a:cubicBezTo>
                    <a:pt x="531656" y="25953"/>
                    <a:pt x="537347" y="39693"/>
                    <a:pt x="537347" y="54020"/>
                  </a:cubicBezTo>
                  <a:lnTo>
                    <a:pt x="537347" y="54020"/>
                  </a:lnTo>
                  <a:cubicBezTo>
                    <a:pt x="537347" y="68346"/>
                    <a:pt x="531656" y="82087"/>
                    <a:pt x="521525" y="92217"/>
                  </a:cubicBezTo>
                  <a:cubicBezTo>
                    <a:pt x="511394" y="102348"/>
                    <a:pt x="497654" y="108039"/>
                    <a:pt x="483327" y="108039"/>
                  </a:cubicBezTo>
                  <a:lnTo>
                    <a:pt x="54020" y="108039"/>
                  </a:lnTo>
                  <a:cubicBezTo>
                    <a:pt x="39693" y="108039"/>
                    <a:pt x="25953" y="102348"/>
                    <a:pt x="15822" y="92217"/>
                  </a:cubicBezTo>
                  <a:cubicBezTo>
                    <a:pt x="5691" y="82087"/>
                    <a:pt x="0" y="68346"/>
                    <a:pt x="0" y="54020"/>
                  </a:cubicBezTo>
                  <a:lnTo>
                    <a:pt x="0" y="54020"/>
                  </a:lnTo>
                  <a:cubicBezTo>
                    <a:pt x="0" y="39693"/>
                    <a:pt x="5691" y="25953"/>
                    <a:pt x="15822" y="15822"/>
                  </a:cubicBezTo>
                  <a:cubicBezTo>
                    <a:pt x="25953" y="5691"/>
                    <a:pt x="39693" y="0"/>
                    <a:pt x="54020" y="0"/>
                  </a:cubicBezTo>
                  <a:close/>
                </a:path>
              </a:pathLst>
            </a:custGeom>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ln cap="rnd">
              <a:noFill/>
              <a:prstDash val="solid"/>
              <a:round/>
            </a:ln>
          </p:spPr>
          <p:txBody>
            <a:bodyPr/>
            <a:lstStyle/>
            <a:p>
              <a:endParaRPr lang="en-US"/>
            </a:p>
          </p:txBody>
        </p:sp>
        <p:sp>
          <p:nvSpPr>
            <p:cNvPr id="20" name="TextBox 20"/>
            <p:cNvSpPr txBox="1"/>
            <p:nvPr/>
          </p:nvSpPr>
          <p:spPr>
            <a:xfrm>
              <a:off x="0" y="38100"/>
              <a:ext cx="537347" cy="69939"/>
            </a:xfrm>
            <a:prstGeom prst="rect">
              <a:avLst/>
            </a:prstGeom>
          </p:spPr>
          <p:txBody>
            <a:bodyPr lIns="50800" tIns="50800" rIns="50800" bIns="50800" rtlCol="0" anchor="ctr"/>
            <a:lstStyle/>
            <a:p>
              <a:pPr marL="0" lvl="0" indent="0" algn="ctr">
                <a:lnSpc>
                  <a:spcPts val="1619"/>
                </a:lnSpc>
              </a:pPr>
              <a:endParaRPr/>
            </a:p>
          </p:txBody>
        </p:sp>
      </p:grpSp>
      <p:sp>
        <p:nvSpPr>
          <p:cNvPr id="21" name="TextBox 21"/>
          <p:cNvSpPr txBox="1"/>
          <p:nvPr/>
        </p:nvSpPr>
        <p:spPr>
          <a:xfrm>
            <a:off x="1157857" y="2290425"/>
            <a:ext cx="9165821" cy="2197708"/>
          </a:xfrm>
          <a:prstGeom prst="rect">
            <a:avLst/>
          </a:prstGeom>
        </p:spPr>
        <p:txBody>
          <a:bodyPr lIns="0" tIns="0" rIns="0" bIns="0" rtlCol="0" anchor="t">
            <a:spAutoFit/>
          </a:bodyPr>
          <a:lstStyle/>
          <a:p>
            <a:pPr marL="0" lvl="0" indent="0" algn="l">
              <a:lnSpc>
                <a:spcPts val="8325"/>
              </a:lnSpc>
              <a:spcBef>
                <a:spcPct val="0"/>
              </a:spcBef>
            </a:pPr>
            <a:r>
              <a:rPr lang="en-US" sz="9250" b="1" spc="-370">
                <a:solidFill>
                  <a:srgbClr val="FFFFFF"/>
                </a:solidFill>
                <a:latin typeface="Pragmatica Bold"/>
                <a:ea typeface="Pragmatica Bold"/>
                <a:cs typeface="Pragmatica Bold"/>
                <a:sym typeface="Pragmatica Bold"/>
              </a:rPr>
              <a:t>Target</a:t>
            </a:r>
          </a:p>
          <a:p>
            <a:pPr marL="0" lvl="0" indent="0" algn="l">
              <a:lnSpc>
                <a:spcPts val="8325"/>
              </a:lnSpc>
              <a:spcBef>
                <a:spcPct val="0"/>
              </a:spcBef>
            </a:pPr>
            <a:r>
              <a:rPr lang="en-US" sz="9250" b="1" spc="-370">
                <a:solidFill>
                  <a:srgbClr val="FFFFFF"/>
                </a:solidFill>
                <a:latin typeface="Pragmatica Bold"/>
                <a:ea typeface="Pragmatica Bold"/>
                <a:cs typeface="Pragmatica Bold"/>
                <a:sym typeface="Pragmatica Bold"/>
              </a:rPr>
              <a:t>Markets</a:t>
            </a:r>
          </a:p>
        </p:txBody>
      </p:sp>
      <p:grpSp>
        <p:nvGrpSpPr>
          <p:cNvPr id="22" name="Group 22"/>
          <p:cNvGrpSpPr/>
          <p:nvPr/>
        </p:nvGrpSpPr>
        <p:grpSpPr>
          <a:xfrm>
            <a:off x="11338448" y="5739847"/>
            <a:ext cx="4617017" cy="3518453"/>
            <a:chOff x="0" y="0"/>
            <a:chExt cx="1216004" cy="926671"/>
          </a:xfrm>
        </p:grpSpPr>
        <p:sp>
          <p:nvSpPr>
            <p:cNvPr id="23" name="Freeform 23"/>
            <p:cNvSpPr/>
            <p:nvPr/>
          </p:nvSpPr>
          <p:spPr>
            <a:xfrm>
              <a:off x="0" y="0"/>
              <a:ext cx="1216004" cy="926671"/>
            </a:xfrm>
            <a:custGeom>
              <a:avLst/>
              <a:gdLst/>
              <a:ahLst/>
              <a:cxnLst/>
              <a:rect l="l" t="t" r="r" b="b"/>
              <a:pathLst>
                <a:path w="1216004" h="926671">
                  <a:moveTo>
                    <a:pt x="83841" y="0"/>
                  </a:moveTo>
                  <a:lnTo>
                    <a:pt x="1132163" y="0"/>
                  </a:lnTo>
                  <a:cubicBezTo>
                    <a:pt x="1154399" y="0"/>
                    <a:pt x="1175725" y="8833"/>
                    <a:pt x="1191448" y="24557"/>
                  </a:cubicBezTo>
                  <a:cubicBezTo>
                    <a:pt x="1207171" y="40280"/>
                    <a:pt x="1216004" y="61605"/>
                    <a:pt x="1216004" y="83841"/>
                  </a:cubicBezTo>
                  <a:lnTo>
                    <a:pt x="1216004" y="842830"/>
                  </a:lnTo>
                  <a:cubicBezTo>
                    <a:pt x="1216004" y="889134"/>
                    <a:pt x="1178468" y="926671"/>
                    <a:pt x="1132163" y="926671"/>
                  </a:cubicBezTo>
                  <a:lnTo>
                    <a:pt x="83841" y="926671"/>
                  </a:lnTo>
                  <a:cubicBezTo>
                    <a:pt x="61605" y="926671"/>
                    <a:pt x="40280" y="917837"/>
                    <a:pt x="24557" y="902114"/>
                  </a:cubicBezTo>
                  <a:cubicBezTo>
                    <a:pt x="8833" y="886391"/>
                    <a:pt x="0" y="865066"/>
                    <a:pt x="0" y="842830"/>
                  </a:cubicBezTo>
                  <a:lnTo>
                    <a:pt x="0" y="83841"/>
                  </a:lnTo>
                  <a:cubicBezTo>
                    <a:pt x="0" y="37537"/>
                    <a:pt x="37537" y="0"/>
                    <a:pt x="83841"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24" name="TextBox 24"/>
            <p:cNvSpPr txBox="1"/>
            <p:nvPr/>
          </p:nvSpPr>
          <p:spPr>
            <a:xfrm>
              <a:off x="0" y="38100"/>
              <a:ext cx="1216004" cy="888571"/>
            </a:xfrm>
            <a:prstGeom prst="rect">
              <a:avLst/>
            </a:prstGeom>
          </p:spPr>
          <p:txBody>
            <a:bodyPr lIns="50800" tIns="50800" rIns="50800" bIns="50800" rtlCol="0" anchor="ctr"/>
            <a:lstStyle/>
            <a:p>
              <a:pPr marL="0" lvl="0" indent="0" algn="ctr">
                <a:lnSpc>
                  <a:spcPts val="1619"/>
                </a:lnSpc>
              </a:pPr>
              <a:endParaRPr/>
            </a:p>
          </p:txBody>
        </p:sp>
      </p:grpSp>
      <p:grpSp>
        <p:nvGrpSpPr>
          <p:cNvPr id="25" name="Group 25"/>
          <p:cNvGrpSpPr/>
          <p:nvPr/>
        </p:nvGrpSpPr>
        <p:grpSpPr>
          <a:xfrm>
            <a:off x="16384090" y="5739847"/>
            <a:ext cx="4617017" cy="3518453"/>
            <a:chOff x="0" y="0"/>
            <a:chExt cx="1216004" cy="926671"/>
          </a:xfrm>
        </p:grpSpPr>
        <p:sp>
          <p:nvSpPr>
            <p:cNvPr id="26" name="Freeform 26"/>
            <p:cNvSpPr/>
            <p:nvPr/>
          </p:nvSpPr>
          <p:spPr>
            <a:xfrm>
              <a:off x="0" y="0"/>
              <a:ext cx="1216004" cy="926671"/>
            </a:xfrm>
            <a:custGeom>
              <a:avLst/>
              <a:gdLst/>
              <a:ahLst/>
              <a:cxnLst/>
              <a:rect l="l" t="t" r="r" b="b"/>
              <a:pathLst>
                <a:path w="1216004" h="926671">
                  <a:moveTo>
                    <a:pt x="83841" y="0"/>
                  </a:moveTo>
                  <a:lnTo>
                    <a:pt x="1132163" y="0"/>
                  </a:lnTo>
                  <a:cubicBezTo>
                    <a:pt x="1154399" y="0"/>
                    <a:pt x="1175725" y="8833"/>
                    <a:pt x="1191448" y="24557"/>
                  </a:cubicBezTo>
                  <a:cubicBezTo>
                    <a:pt x="1207171" y="40280"/>
                    <a:pt x="1216004" y="61605"/>
                    <a:pt x="1216004" y="83841"/>
                  </a:cubicBezTo>
                  <a:lnTo>
                    <a:pt x="1216004" y="842830"/>
                  </a:lnTo>
                  <a:cubicBezTo>
                    <a:pt x="1216004" y="889134"/>
                    <a:pt x="1178468" y="926671"/>
                    <a:pt x="1132163" y="926671"/>
                  </a:cubicBezTo>
                  <a:lnTo>
                    <a:pt x="83841" y="926671"/>
                  </a:lnTo>
                  <a:cubicBezTo>
                    <a:pt x="61605" y="926671"/>
                    <a:pt x="40280" y="917837"/>
                    <a:pt x="24557" y="902114"/>
                  </a:cubicBezTo>
                  <a:cubicBezTo>
                    <a:pt x="8833" y="886391"/>
                    <a:pt x="0" y="865066"/>
                    <a:pt x="0" y="842830"/>
                  </a:cubicBezTo>
                  <a:lnTo>
                    <a:pt x="0" y="83841"/>
                  </a:lnTo>
                  <a:cubicBezTo>
                    <a:pt x="0" y="37537"/>
                    <a:pt x="37537" y="0"/>
                    <a:pt x="83841"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27" name="TextBox 27"/>
            <p:cNvSpPr txBox="1"/>
            <p:nvPr/>
          </p:nvSpPr>
          <p:spPr>
            <a:xfrm>
              <a:off x="0" y="38100"/>
              <a:ext cx="1216004" cy="888571"/>
            </a:xfrm>
            <a:prstGeom prst="rect">
              <a:avLst/>
            </a:prstGeom>
          </p:spPr>
          <p:txBody>
            <a:bodyPr lIns="50800" tIns="50800" rIns="50800" bIns="50800" rtlCol="0" anchor="ctr"/>
            <a:lstStyle/>
            <a:p>
              <a:pPr marL="0" lvl="0" indent="0" algn="ctr">
                <a:lnSpc>
                  <a:spcPts val="1619"/>
                </a:lnSpc>
              </a:pPr>
              <a:endParaRPr/>
            </a:p>
          </p:txBody>
        </p:sp>
      </p:grpSp>
      <p:grpSp>
        <p:nvGrpSpPr>
          <p:cNvPr id="28" name="Group 28"/>
          <p:cNvGrpSpPr/>
          <p:nvPr/>
        </p:nvGrpSpPr>
        <p:grpSpPr>
          <a:xfrm>
            <a:off x="11677368" y="2141556"/>
            <a:ext cx="5542405" cy="2238518"/>
            <a:chOff x="0" y="0"/>
            <a:chExt cx="601748" cy="243040"/>
          </a:xfrm>
        </p:grpSpPr>
        <p:sp>
          <p:nvSpPr>
            <p:cNvPr id="29" name="Freeform 29"/>
            <p:cNvSpPr/>
            <p:nvPr/>
          </p:nvSpPr>
          <p:spPr>
            <a:xfrm>
              <a:off x="0" y="0"/>
              <a:ext cx="601748" cy="243040"/>
            </a:xfrm>
            <a:custGeom>
              <a:avLst/>
              <a:gdLst/>
              <a:ahLst/>
              <a:cxnLst/>
              <a:rect l="l" t="t" r="r" b="b"/>
              <a:pathLst>
                <a:path w="601748" h="243040">
                  <a:moveTo>
                    <a:pt x="44699" y="0"/>
                  </a:moveTo>
                  <a:lnTo>
                    <a:pt x="557049" y="0"/>
                  </a:lnTo>
                  <a:cubicBezTo>
                    <a:pt x="568904" y="0"/>
                    <a:pt x="580273" y="4709"/>
                    <a:pt x="588656" y="13092"/>
                  </a:cubicBezTo>
                  <a:cubicBezTo>
                    <a:pt x="597039" y="21475"/>
                    <a:pt x="601748" y="32844"/>
                    <a:pt x="601748" y="44699"/>
                  </a:cubicBezTo>
                  <a:lnTo>
                    <a:pt x="601748" y="198340"/>
                  </a:lnTo>
                  <a:cubicBezTo>
                    <a:pt x="601748" y="210195"/>
                    <a:pt x="597039" y="221565"/>
                    <a:pt x="588656" y="229947"/>
                  </a:cubicBezTo>
                  <a:cubicBezTo>
                    <a:pt x="580273" y="238330"/>
                    <a:pt x="568904" y="243040"/>
                    <a:pt x="557049" y="243040"/>
                  </a:cubicBezTo>
                  <a:lnTo>
                    <a:pt x="44699" y="243040"/>
                  </a:lnTo>
                  <a:cubicBezTo>
                    <a:pt x="32844" y="243040"/>
                    <a:pt x="21475" y="238330"/>
                    <a:pt x="13092" y="229947"/>
                  </a:cubicBezTo>
                  <a:cubicBezTo>
                    <a:pt x="4709" y="221565"/>
                    <a:pt x="0" y="210195"/>
                    <a:pt x="0" y="198340"/>
                  </a:cubicBezTo>
                  <a:lnTo>
                    <a:pt x="0" y="44699"/>
                  </a:lnTo>
                  <a:cubicBezTo>
                    <a:pt x="0" y="32844"/>
                    <a:pt x="4709" y="21475"/>
                    <a:pt x="13092" y="13092"/>
                  </a:cubicBezTo>
                  <a:cubicBezTo>
                    <a:pt x="21475" y="4709"/>
                    <a:pt x="32844" y="0"/>
                    <a:pt x="44699" y="0"/>
                  </a:cubicBezTo>
                  <a:close/>
                </a:path>
              </a:pathLst>
            </a:custGeom>
            <a:blipFill>
              <a:blip r:embed="rId3"/>
              <a:stretch>
                <a:fillRect l="-172" r="-172"/>
              </a:stretch>
            </a:blipFill>
          </p:spPr>
          <p:txBody>
            <a:bodyPr/>
            <a:lstStyle/>
            <a:p>
              <a:endParaRPr lang="en-US"/>
            </a:p>
          </p:txBody>
        </p:sp>
      </p:grpSp>
      <p:grpSp>
        <p:nvGrpSpPr>
          <p:cNvPr id="30" name="Group 30"/>
          <p:cNvGrpSpPr/>
          <p:nvPr/>
        </p:nvGrpSpPr>
        <p:grpSpPr>
          <a:xfrm>
            <a:off x="8767467" y="2141556"/>
            <a:ext cx="2725322" cy="2238518"/>
            <a:chOff x="0" y="0"/>
            <a:chExt cx="295893" cy="243040"/>
          </a:xfrm>
        </p:grpSpPr>
        <p:sp>
          <p:nvSpPr>
            <p:cNvPr id="31" name="Freeform 31"/>
            <p:cNvSpPr/>
            <p:nvPr/>
          </p:nvSpPr>
          <p:spPr>
            <a:xfrm>
              <a:off x="0" y="0"/>
              <a:ext cx="295893" cy="243040"/>
            </a:xfrm>
            <a:custGeom>
              <a:avLst/>
              <a:gdLst/>
              <a:ahLst/>
              <a:cxnLst/>
              <a:rect l="l" t="t" r="r" b="b"/>
              <a:pathLst>
                <a:path w="295893" h="243040">
                  <a:moveTo>
                    <a:pt x="90904" y="0"/>
                  </a:moveTo>
                  <a:lnTo>
                    <a:pt x="204989" y="0"/>
                  </a:lnTo>
                  <a:cubicBezTo>
                    <a:pt x="255194" y="0"/>
                    <a:pt x="295893" y="40699"/>
                    <a:pt x="295893" y="90904"/>
                  </a:cubicBezTo>
                  <a:lnTo>
                    <a:pt x="295893" y="152136"/>
                  </a:lnTo>
                  <a:cubicBezTo>
                    <a:pt x="295893" y="202341"/>
                    <a:pt x="255194" y="243040"/>
                    <a:pt x="204989" y="243040"/>
                  </a:cubicBezTo>
                  <a:lnTo>
                    <a:pt x="90904" y="243040"/>
                  </a:lnTo>
                  <a:cubicBezTo>
                    <a:pt x="66794" y="243040"/>
                    <a:pt x="43673" y="233462"/>
                    <a:pt x="26625" y="216415"/>
                  </a:cubicBezTo>
                  <a:cubicBezTo>
                    <a:pt x="9577" y="199367"/>
                    <a:pt x="0" y="176245"/>
                    <a:pt x="0" y="152136"/>
                  </a:cubicBezTo>
                  <a:lnTo>
                    <a:pt x="0" y="90904"/>
                  </a:lnTo>
                  <a:cubicBezTo>
                    <a:pt x="0" y="66794"/>
                    <a:pt x="9577" y="43673"/>
                    <a:pt x="26625" y="26625"/>
                  </a:cubicBezTo>
                  <a:cubicBezTo>
                    <a:pt x="43673" y="9577"/>
                    <a:pt x="66794" y="0"/>
                    <a:pt x="90904" y="0"/>
                  </a:cubicBezTo>
                  <a:close/>
                </a:path>
              </a:pathLst>
            </a:custGeom>
            <a:blipFill>
              <a:blip r:embed="rId4"/>
              <a:stretch>
                <a:fillRect l="-84" r="-84"/>
              </a:stretch>
            </a:blipFill>
          </p:spPr>
          <p:txBody>
            <a:bodyPr/>
            <a:lstStyle/>
            <a:p>
              <a:endParaRPr lang="en-US"/>
            </a:p>
          </p:txBody>
        </p:sp>
      </p:grpSp>
      <p:sp>
        <p:nvSpPr>
          <p:cNvPr id="32" name="TextBox 32"/>
          <p:cNvSpPr txBox="1"/>
          <p:nvPr/>
        </p:nvSpPr>
        <p:spPr>
          <a:xfrm>
            <a:off x="1157857" y="904812"/>
            <a:ext cx="2498812" cy="219669"/>
          </a:xfrm>
          <a:prstGeom prst="rect">
            <a:avLst/>
          </a:prstGeom>
        </p:spPr>
        <p:txBody>
          <a:bodyPr lIns="0" tIns="0" rIns="0" bIns="0" rtlCol="0" anchor="t">
            <a:spAutoFit/>
          </a:bodyPr>
          <a:lstStyle/>
          <a:p>
            <a:pPr marL="0" lvl="0" indent="0" algn="ctr">
              <a:lnSpc>
                <a:spcPts val="1872"/>
              </a:lnSpc>
            </a:pPr>
            <a:r>
              <a:rPr lang="en-US" sz="1377" spc="-34">
                <a:solidFill>
                  <a:srgbClr val="FFFFFF"/>
                </a:solidFill>
                <a:latin typeface="Canva Sans"/>
                <a:ea typeface="Canva Sans"/>
                <a:cs typeface="Canva Sans"/>
                <a:sym typeface="Canva Sans"/>
              </a:rPr>
              <a:t>Background of the study</a:t>
            </a:r>
          </a:p>
        </p:txBody>
      </p:sp>
      <p:sp>
        <p:nvSpPr>
          <p:cNvPr id="33" name="TextBox 33"/>
          <p:cNvSpPr txBox="1"/>
          <p:nvPr/>
        </p:nvSpPr>
        <p:spPr>
          <a:xfrm>
            <a:off x="3358755" y="904812"/>
            <a:ext cx="2498812" cy="219669"/>
          </a:xfrm>
          <a:prstGeom prst="rect">
            <a:avLst/>
          </a:prstGeom>
        </p:spPr>
        <p:txBody>
          <a:bodyPr lIns="0" tIns="0" rIns="0" bIns="0" rtlCol="0" anchor="t">
            <a:spAutoFit/>
          </a:bodyPr>
          <a:lstStyle/>
          <a:p>
            <a:pPr marL="0" lvl="0" indent="0" algn="ctr">
              <a:lnSpc>
                <a:spcPts val="1872"/>
              </a:lnSpc>
            </a:pPr>
            <a:r>
              <a:rPr lang="en-US" sz="1377" spc="-34">
                <a:solidFill>
                  <a:srgbClr val="FFFFFF"/>
                </a:solidFill>
                <a:latin typeface="Canva Sans"/>
                <a:ea typeface="Canva Sans"/>
                <a:cs typeface="Canva Sans"/>
                <a:sym typeface="Canva Sans"/>
              </a:rPr>
              <a:t>Target Markets</a:t>
            </a:r>
          </a:p>
        </p:txBody>
      </p:sp>
      <p:sp>
        <p:nvSpPr>
          <p:cNvPr id="34" name="TextBox 34"/>
          <p:cNvSpPr txBox="1"/>
          <p:nvPr/>
        </p:nvSpPr>
        <p:spPr>
          <a:xfrm>
            <a:off x="5108285" y="904812"/>
            <a:ext cx="2498812" cy="219669"/>
          </a:xfrm>
          <a:prstGeom prst="rect">
            <a:avLst/>
          </a:prstGeom>
        </p:spPr>
        <p:txBody>
          <a:bodyPr lIns="0" tIns="0" rIns="0" bIns="0" rtlCol="0" anchor="t">
            <a:spAutoFit/>
          </a:bodyPr>
          <a:lstStyle/>
          <a:p>
            <a:pPr marL="0" lvl="0" indent="0" algn="ctr">
              <a:lnSpc>
                <a:spcPts val="1872"/>
              </a:lnSpc>
            </a:pPr>
            <a:r>
              <a:rPr lang="en-US" sz="1377" spc="-34">
                <a:solidFill>
                  <a:srgbClr val="FFFFFF"/>
                </a:solidFill>
                <a:latin typeface="Canva Sans"/>
                <a:ea typeface="Canva Sans"/>
                <a:cs typeface="Canva Sans"/>
                <a:sym typeface="Canva Sans"/>
              </a:rPr>
              <a:t>Framework</a:t>
            </a:r>
          </a:p>
        </p:txBody>
      </p:sp>
      <p:sp>
        <p:nvSpPr>
          <p:cNvPr id="35" name="TextBox 35"/>
          <p:cNvSpPr txBox="1"/>
          <p:nvPr/>
        </p:nvSpPr>
        <p:spPr>
          <a:xfrm>
            <a:off x="6552810" y="904812"/>
            <a:ext cx="2498812" cy="219669"/>
          </a:xfrm>
          <a:prstGeom prst="rect">
            <a:avLst/>
          </a:prstGeom>
        </p:spPr>
        <p:txBody>
          <a:bodyPr lIns="0" tIns="0" rIns="0" bIns="0" rtlCol="0" anchor="t">
            <a:spAutoFit/>
          </a:bodyPr>
          <a:lstStyle/>
          <a:p>
            <a:pPr marL="0" lvl="0" indent="0" algn="ctr">
              <a:lnSpc>
                <a:spcPts val="1872"/>
              </a:lnSpc>
            </a:pPr>
            <a:r>
              <a:rPr lang="en-US" sz="1377" spc="-34">
                <a:solidFill>
                  <a:srgbClr val="FFFFFF"/>
                </a:solidFill>
                <a:latin typeface="Canva Sans"/>
                <a:ea typeface="Canva Sans"/>
                <a:cs typeface="Canva Sans"/>
                <a:sym typeface="Canva Sans"/>
              </a:rPr>
              <a:t>Methodology</a:t>
            </a:r>
          </a:p>
        </p:txBody>
      </p:sp>
      <p:sp>
        <p:nvSpPr>
          <p:cNvPr id="36" name="TextBox 36"/>
          <p:cNvSpPr txBox="1"/>
          <p:nvPr/>
        </p:nvSpPr>
        <p:spPr>
          <a:xfrm>
            <a:off x="14585765" y="895287"/>
            <a:ext cx="2498812" cy="297399"/>
          </a:xfrm>
          <a:prstGeom prst="rect">
            <a:avLst/>
          </a:prstGeom>
        </p:spPr>
        <p:txBody>
          <a:bodyPr lIns="0" tIns="0" rIns="0" bIns="0" rtlCol="0" anchor="t">
            <a:spAutoFit/>
          </a:bodyPr>
          <a:lstStyle/>
          <a:p>
            <a:pPr marL="0" lvl="0" indent="0" algn="r">
              <a:lnSpc>
                <a:spcPts val="2407"/>
              </a:lnSpc>
            </a:pPr>
            <a:r>
              <a:rPr lang="en-US" sz="1770" b="1" spc="-44">
                <a:solidFill>
                  <a:srgbClr val="FFFFFF"/>
                </a:solidFill>
                <a:latin typeface="Canva Sans Bold"/>
                <a:ea typeface="Canva Sans Bold"/>
                <a:cs typeface="Canva Sans Bold"/>
                <a:sym typeface="Canva Sans Bold"/>
              </a:rPr>
              <a:t>Hanoi University</a:t>
            </a:r>
          </a:p>
        </p:txBody>
      </p:sp>
      <p:sp>
        <p:nvSpPr>
          <p:cNvPr id="37" name="TextBox 37"/>
          <p:cNvSpPr txBox="1"/>
          <p:nvPr/>
        </p:nvSpPr>
        <p:spPr>
          <a:xfrm>
            <a:off x="1579470" y="6842023"/>
            <a:ext cx="3796441" cy="1863496"/>
          </a:xfrm>
          <a:prstGeom prst="rect">
            <a:avLst/>
          </a:prstGeom>
        </p:spPr>
        <p:txBody>
          <a:bodyPr lIns="0" tIns="0" rIns="0" bIns="0" rtlCol="0" anchor="t">
            <a:spAutoFit/>
          </a:bodyPr>
          <a:lstStyle/>
          <a:p>
            <a:pPr marL="0" lvl="0" indent="0" algn="l">
              <a:lnSpc>
                <a:spcPts val="2140"/>
              </a:lnSpc>
            </a:pPr>
            <a:r>
              <a:rPr lang="en-US" sz="1573" spc="-39">
                <a:solidFill>
                  <a:srgbClr val="FFFFFF"/>
                </a:solidFill>
                <a:latin typeface="Canva Sans"/>
                <a:ea typeface="Canva Sans"/>
                <a:cs typeface="Canva Sans"/>
                <a:sym typeface="Canva Sans"/>
              </a:rPr>
              <a:t>Primary market for high-capacity anodes. Key customers include VinFast and emerging Vietnamese EV manufacturers. MSxOySez/SiOx enables longer range and faster charging, directly supporting Vietnam's EV transition and Southeast Asia's growing automotive electrification.</a:t>
            </a:r>
          </a:p>
        </p:txBody>
      </p:sp>
      <p:sp>
        <p:nvSpPr>
          <p:cNvPr id="38" name="TextBox 38"/>
          <p:cNvSpPr txBox="1"/>
          <p:nvPr/>
        </p:nvSpPr>
        <p:spPr>
          <a:xfrm>
            <a:off x="6628419" y="6842023"/>
            <a:ext cx="3796441" cy="1863496"/>
          </a:xfrm>
          <a:prstGeom prst="rect">
            <a:avLst/>
          </a:prstGeom>
        </p:spPr>
        <p:txBody>
          <a:bodyPr lIns="0" tIns="0" rIns="0" bIns="0" rtlCol="0" anchor="t">
            <a:spAutoFit/>
          </a:bodyPr>
          <a:lstStyle/>
          <a:p>
            <a:pPr marL="0" lvl="0" indent="0" algn="l">
              <a:lnSpc>
                <a:spcPts val="2140"/>
              </a:lnSpc>
            </a:pPr>
            <a:r>
              <a:rPr lang="en-US" sz="1573" spc="-39">
                <a:solidFill>
                  <a:srgbClr val="FFFFFF"/>
                </a:solidFill>
                <a:latin typeface="Canva Sans"/>
                <a:ea typeface="Canva Sans"/>
                <a:cs typeface="Canva Sans"/>
                <a:sym typeface="Canva Sans"/>
              </a:rPr>
              <a:t>VinES and regional grid-scale storage operators demand durable, high-cycle-life anodes. Our composite materials deliver ≥80% capacity retention after 500 cycles, making them ideal for renewable energy storage infrastructure across Southeast Asia.</a:t>
            </a:r>
          </a:p>
        </p:txBody>
      </p:sp>
      <p:sp>
        <p:nvSpPr>
          <p:cNvPr id="39" name="TextBox 39"/>
          <p:cNvSpPr txBox="1"/>
          <p:nvPr/>
        </p:nvSpPr>
        <p:spPr>
          <a:xfrm>
            <a:off x="1579470" y="6321736"/>
            <a:ext cx="4278097" cy="323134"/>
          </a:xfrm>
          <a:prstGeom prst="rect">
            <a:avLst/>
          </a:prstGeom>
        </p:spPr>
        <p:txBody>
          <a:bodyPr lIns="0" tIns="0" rIns="0" bIns="0" rtlCol="0" anchor="t">
            <a:spAutoFit/>
          </a:bodyPr>
          <a:lstStyle/>
          <a:p>
            <a:pPr marL="0" lvl="0" indent="0" algn="l">
              <a:lnSpc>
                <a:spcPts val="2459"/>
              </a:lnSpc>
            </a:pPr>
            <a:r>
              <a:rPr lang="en-US" sz="2794" b="1" spc="-139">
                <a:solidFill>
                  <a:srgbClr val="FFFFFF"/>
                </a:solidFill>
                <a:latin typeface="Pragmatica Bold"/>
                <a:ea typeface="Pragmatica Bold"/>
                <a:cs typeface="Pragmatica Bold"/>
                <a:sym typeface="Pragmatica Bold"/>
              </a:rPr>
              <a:t>Electric Vehicles (EV)</a:t>
            </a:r>
          </a:p>
        </p:txBody>
      </p:sp>
      <p:sp>
        <p:nvSpPr>
          <p:cNvPr id="40" name="TextBox 40"/>
          <p:cNvSpPr txBox="1"/>
          <p:nvPr/>
        </p:nvSpPr>
        <p:spPr>
          <a:xfrm>
            <a:off x="6628419" y="6321736"/>
            <a:ext cx="4278097" cy="323134"/>
          </a:xfrm>
          <a:prstGeom prst="rect">
            <a:avLst/>
          </a:prstGeom>
        </p:spPr>
        <p:txBody>
          <a:bodyPr lIns="0" tIns="0" rIns="0" bIns="0" rtlCol="0" anchor="t">
            <a:spAutoFit/>
          </a:bodyPr>
          <a:lstStyle/>
          <a:p>
            <a:pPr marL="0" lvl="0" indent="0" algn="l">
              <a:lnSpc>
                <a:spcPts val="2459"/>
              </a:lnSpc>
            </a:pPr>
            <a:r>
              <a:rPr lang="en-US" sz="2794" b="1" spc="-139">
                <a:solidFill>
                  <a:srgbClr val="FFFFFF"/>
                </a:solidFill>
                <a:latin typeface="Pragmatica Bold"/>
                <a:ea typeface="Pragmatica Bold"/>
                <a:cs typeface="Pragmatica Bold"/>
                <a:sym typeface="Pragmatica Bold"/>
              </a:rPr>
              <a:t>Energy Storage Systems</a:t>
            </a:r>
          </a:p>
        </p:txBody>
      </p:sp>
      <p:sp>
        <p:nvSpPr>
          <p:cNvPr id="41" name="TextBox 41"/>
          <p:cNvSpPr txBox="1"/>
          <p:nvPr/>
        </p:nvSpPr>
        <p:spPr>
          <a:xfrm>
            <a:off x="11677368" y="6842023"/>
            <a:ext cx="3796441" cy="1863496"/>
          </a:xfrm>
          <a:prstGeom prst="rect">
            <a:avLst/>
          </a:prstGeom>
        </p:spPr>
        <p:txBody>
          <a:bodyPr lIns="0" tIns="0" rIns="0" bIns="0" rtlCol="0" anchor="t">
            <a:spAutoFit/>
          </a:bodyPr>
          <a:lstStyle/>
          <a:p>
            <a:pPr marL="0" lvl="0" indent="0" algn="l">
              <a:lnSpc>
                <a:spcPts val="2140"/>
              </a:lnSpc>
            </a:pPr>
            <a:r>
              <a:rPr lang="en-US" sz="1573" spc="-39">
                <a:solidFill>
                  <a:srgbClr val="FFFFFF"/>
                </a:solidFill>
                <a:latin typeface="Canva Sans"/>
                <a:ea typeface="Canva Sans"/>
                <a:cs typeface="Canva Sans"/>
                <a:sym typeface="Canva Sans"/>
              </a:rPr>
              <a:t>Smartphones, laptops, and wearables require compact, high-density energy storage. Our anode materials offer 4x the capacity of graphite, enabling slimmer, longer-lasting consumer devices for the fast-growing Southeast Asian electronics market.</a:t>
            </a:r>
          </a:p>
        </p:txBody>
      </p:sp>
      <p:sp>
        <p:nvSpPr>
          <p:cNvPr id="42" name="TextBox 42"/>
          <p:cNvSpPr txBox="1"/>
          <p:nvPr/>
        </p:nvSpPr>
        <p:spPr>
          <a:xfrm>
            <a:off x="11677368" y="6321736"/>
            <a:ext cx="3939178" cy="323134"/>
          </a:xfrm>
          <a:prstGeom prst="rect">
            <a:avLst/>
          </a:prstGeom>
        </p:spPr>
        <p:txBody>
          <a:bodyPr lIns="0" tIns="0" rIns="0" bIns="0" rtlCol="0" anchor="t">
            <a:spAutoFit/>
          </a:bodyPr>
          <a:lstStyle/>
          <a:p>
            <a:pPr marL="0" lvl="0" indent="0" algn="l">
              <a:lnSpc>
                <a:spcPts val="2459"/>
              </a:lnSpc>
            </a:pPr>
            <a:r>
              <a:rPr lang="en-US" sz="2794" b="1" spc="-139">
                <a:solidFill>
                  <a:srgbClr val="FFFFFF"/>
                </a:solidFill>
                <a:latin typeface="Pragmatica Bold"/>
                <a:ea typeface="Pragmatica Bold"/>
                <a:cs typeface="Pragmatica Bold"/>
                <a:sym typeface="Pragmatica Bold"/>
              </a:rPr>
              <a:t>3C Electronics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AutoShape 3"/>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4" name="AutoShape 4"/>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p:cNvSpPr/>
          <p:nvPr/>
        </p:nvSpPr>
        <p:spPr>
          <a:xfrm>
            <a:off x="6075187"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AutoShape 7"/>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8" name="Freeform 8"/>
          <p:cNvSpPr/>
          <p:nvPr/>
        </p:nvSpPr>
        <p:spPr>
          <a:xfrm>
            <a:off x="14950017" y="-1114244"/>
            <a:ext cx="8534070" cy="11618164"/>
          </a:xfrm>
          <a:custGeom>
            <a:avLst/>
            <a:gdLst/>
            <a:ahLst/>
            <a:cxnLst/>
            <a:rect l="l" t="t" r="r" b="b"/>
            <a:pathLst>
              <a:path w="8534070" h="11618164">
                <a:moveTo>
                  <a:pt x="0" y="0"/>
                </a:moveTo>
                <a:lnTo>
                  <a:pt x="8534069" y="0"/>
                </a:lnTo>
                <a:lnTo>
                  <a:pt x="8534069" y="11618163"/>
                </a:lnTo>
                <a:lnTo>
                  <a:pt x="0" y="11618163"/>
                </a:lnTo>
                <a:lnTo>
                  <a:pt x="0" y="0"/>
                </a:lnTo>
                <a:close/>
              </a:path>
            </a:pathLst>
          </a:custGeom>
          <a:blipFill>
            <a:blip r:embed="rId2">
              <a:alphaModFix amt="50000"/>
            </a:blip>
            <a:stretch>
              <a:fillRect/>
            </a:stretch>
          </a:blipFill>
        </p:spPr>
        <p:txBody>
          <a:bodyPr/>
          <a:lstStyle/>
          <a:p>
            <a:endParaRPr lang="en-US"/>
          </a:p>
        </p:txBody>
      </p:sp>
      <p:grpSp>
        <p:nvGrpSpPr>
          <p:cNvPr id="9" name="Group 9"/>
          <p:cNvGrpSpPr/>
          <p:nvPr/>
        </p:nvGrpSpPr>
        <p:grpSpPr>
          <a:xfrm>
            <a:off x="1028700" y="654448"/>
            <a:ext cx="16230600" cy="748504"/>
            <a:chOff x="0" y="0"/>
            <a:chExt cx="4274726" cy="197137"/>
          </a:xfrm>
        </p:grpSpPr>
        <p:sp>
          <p:nvSpPr>
            <p:cNvPr id="10" name="Freeform 10"/>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1" name="TextBox 11"/>
            <p:cNvSpPr txBox="1"/>
            <p:nvPr/>
          </p:nvSpPr>
          <p:spPr>
            <a:xfrm>
              <a:off x="0" y="38100"/>
              <a:ext cx="4274726" cy="159037"/>
            </a:xfrm>
            <a:prstGeom prst="rect">
              <a:avLst/>
            </a:prstGeom>
          </p:spPr>
          <p:txBody>
            <a:bodyPr lIns="50800" tIns="50800" rIns="50800" bIns="50800" rtlCol="0" anchor="ctr"/>
            <a:lstStyle/>
            <a:p>
              <a:pPr marL="0" lvl="0" indent="0" algn="ctr">
                <a:lnSpc>
                  <a:spcPts val="1619"/>
                </a:lnSpc>
              </a:pPr>
              <a:endParaRPr/>
            </a:p>
          </p:txBody>
        </p:sp>
      </p:grpSp>
      <p:grpSp>
        <p:nvGrpSpPr>
          <p:cNvPr id="12" name="Group 12"/>
          <p:cNvGrpSpPr/>
          <p:nvPr/>
        </p:nvGrpSpPr>
        <p:grpSpPr>
          <a:xfrm>
            <a:off x="9570999" y="6100424"/>
            <a:ext cx="7688301" cy="2985427"/>
            <a:chOff x="0" y="0"/>
            <a:chExt cx="2024902" cy="786285"/>
          </a:xfrm>
        </p:grpSpPr>
        <p:sp>
          <p:nvSpPr>
            <p:cNvPr id="13" name="Freeform 13"/>
            <p:cNvSpPr/>
            <p:nvPr/>
          </p:nvSpPr>
          <p:spPr>
            <a:xfrm>
              <a:off x="0" y="0"/>
              <a:ext cx="2024902" cy="786285"/>
            </a:xfrm>
            <a:custGeom>
              <a:avLst/>
              <a:gdLst/>
              <a:ahLst/>
              <a:cxnLst/>
              <a:rect l="l" t="t" r="r" b="b"/>
              <a:pathLst>
                <a:path w="2024902" h="786285">
                  <a:moveTo>
                    <a:pt x="50349" y="0"/>
                  </a:moveTo>
                  <a:lnTo>
                    <a:pt x="1974554" y="0"/>
                  </a:lnTo>
                  <a:cubicBezTo>
                    <a:pt x="2002361" y="0"/>
                    <a:pt x="2024902" y="22542"/>
                    <a:pt x="2024902" y="50349"/>
                  </a:cubicBezTo>
                  <a:lnTo>
                    <a:pt x="2024902" y="735936"/>
                  </a:lnTo>
                  <a:cubicBezTo>
                    <a:pt x="2024902" y="749290"/>
                    <a:pt x="2019598" y="762096"/>
                    <a:pt x="2010156" y="771538"/>
                  </a:cubicBezTo>
                  <a:cubicBezTo>
                    <a:pt x="2000713" y="780981"/>
                    <a:pt x="1987907" y="786285"/>
                    <a:pt x="1974554" y="786285"/>
                  </a:cubicBezTo>
                  <a:lnTo>
                    <a:pt x="50349" y="786285"/>
                  </a:lnTo>
                  <a:cubicBezTo>
                    <a:pt x="36995" y="786285"/>
                    <a:pt x="24189" y="780981"/>
                    <a:pt x="14747" y="771538"/>
                  </a:cubicBezTo>
                  <a:cubicBezTo>
                    <a:pt x="5305" y="762096"/>
                    <a:pt x="0" y="749290"/>
                    <a:pt x="0" y="735936"/>
                  </a:cubicBezTo>
                  <a:lnTo>
                    <a:pt x="0" y="50349"/>
                  </a:lnTo>
                  <a:cubicBezTo>
                    <a:pt x="0" y="22542"/>
                    <a:pt x="22542" y="0"/>
                    <a:pt x="50349"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4" name="TextBox 14"/>
            <p:cNvSpPr txBox="1"/>
            <p:nvPr/>
          </p:nvSpPr>
          <p:spPr>
            <a:xfrm>
              <a:off x="0" y="38100"/>
              <a:ext cx="2024902" cy="748185"/>
            </a:xfrm>
            <a:prstGeom prst="rect">
              <a:avLst/>
            </a:prstGeom>
          </p:spPr>
          <p:txBody>
            <a:bodyPr lIns="50800" tIns="50800" rIns="50800" bIns="50800" rtlCol="0" anchor="ctr"/>
            <a:lstStyle/>
            <a:p>
              <a:pPr marL="0" lvl="0" indent="0" algn="ctr">
                <a:lnSpc>
                  <a:spcPts val="1619"/>
                </a:lnSpc>
              </a:pPr>
              <a:endParaRPr/>
            </a:p>
          </p:txBody>
        </p:sp>
      </p:grpSp>
      <p:grpSp>
        <p:nvGrpSpPr>
          <p:cNvPr id="15" name="Group 15"/>
          <p:cNvGrpSpPr/>
          <p:nvPr/>
        </p:nvGrpSpPr>
        <p:grpSpPr>
          <a:xfrm>
            <a:off x="4671168" y="2580285"/>
            <a:ext cx="3423456" cy="6383502"/>
            <a:chOff x="0" y="0"/>
            <a:chExt cx="901651" cy="1681252"/>
          </a:xfrm>
        </p:grpSpPr>
        <p:sp>
          <p:nvSpPr>
            <p:cNvPr id="16" name="Freeform 16"/>
            <p:cNvSpPr/>
            <p:nvPr/>
          </p:nvSpPr>
          <p:spPr>
            <a:xfrm>
              <a:off x="0" y="0"/>
              <a:ext cx="901651" cy="1681252"/>
            </a:xfrm>
            <a:custGeom>
              <a:avLst/>
              <a:gdLst/>
              <a:ahLst/>
              <a:cxnLst/>
              <a:rect l="l" t="t" r="r" b="b"/>
              <a:pathLst>
                <a:path w="901651" h="1681252">
                  <a:moveTo>
                    <a:pt x="113072" y="0"/>
                  </a:moveTo>
                  <a:lnTo>
                    <a:pt x="788579" y="0"/>
                  </a:lnTo>
                  <a:cubicBezTo>
                    <a:pt x="818568" y="0"/>
                    <a:pt x="847328" y="11913"/>
                    <a:pt x="868533" y="33118"/>
                  </a:cubicBezTo>
                  <a:cubicBezTo>
                    <a:pt x="889738" y="54323"/>
                    <a:pt x="901651" y="83083"/>
                    <a:pt x="901651" y="113072"/>
                  </a:cubicBezTo>
                  <a:lnTo>
                    <a:pt x="901651" y="1568180"/>
                  </a:lnTo>
                  <a:cubicBezTo>
                    <a:pt x="901651" y="1598168"/>
                    <a:pt x="889738" y="1626929"/>
                    <a:pt x="868533" y="1648134"/>
                  </a:cubicBezTo>
                  <a:cubicBezTo>
                    <a:pt x="847328" y="1669339"/>
                    <a:pt x="818568" y="1681252"/>
                    <a:pt x="788579" y="1681252"/>
                  </a:cubicBezTo>
                  <a:lnTo>
                    <a:pt x="113072" y="1681252"/>
                  </a:lnTo>
                  <a:cubicBezTo>
                    <a:pt x="83083" y="1681252"/>
                    <a:pt x="54323" y="1669339"/>
                    <a:pt x="33118" y="1648134"/>
                  </a:cubicBezTo>
                  <a:cubicBezTo>
                    <a:pt x="11913" y="1626929"/>
                    <a:pt x="0" y="1598168"/>
                    <a:pt x="0" y="1568180"/>
                  </a:cubicBezTo>
                  <a:lnTo>
                    <a:pt x="0" y="113072"/>
                  </a:lnTo>
                  <a:cubicBezTo>
                    <a:pt x="0" y="83083"/>
                    <a:pt x="11913" y="54323"/>
                    <a:pt x="33118" y="33118"/>
                  </a:cubicBezTo>
                  <a:cubicBezTo>
                    <a:pt x="54323" y="11913"/>
                    <a:pt x="83083" y="0"/>
                    <a:pt x="113072"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7" name="TextBox 17"/>
            <p:cNvSpPr txBox="1"/>
            <p:nvPr/>
          </p:nvSpPr>
          <p:spPr>
            <a:xfrm>
              <a:off x="0" y="38100"/>
              <a:ext cx="901651" cy="1643152"/>
            </a:xfrm>
            <a:prstGeom prst="rect">
              <a:avLst/>
            </a:prstGeom>
          </p:spPr>
          <p:txBody>
            <a:bodyPr lIns="50800" tIns="50800" rIns="50800" bIns="50800" rtlCol="0" anchor="ctr"/>
            <a:lstStyle/>
            <a:p>
              <a:pPr marL="0" lvl="0" indent="0" algn="ctr">
                <a:lnSpc>
                  <a:spcPts val="1619"/>
                </a:lnSpc>
              </a:pPr>
              <a:endParaRPr/>
            </a:p>
          </p:txBody>
        </p:sp>
      </p:grpSp>
      <p:pic>
        <p:nvPicPr>
          <p:cNvPr id="18" name="Picture 18"/>
          <p:cNvPicPr>
            <a:picLocks noChangeAspect="1"/>
          </p:cNvPicPr>
          <p:nvPr/>
        </p:nvPicPr>
        <p:blipFill>
          <a:blip r:embed="rId3"/>
          <a:stretch>
            <a:fillRect/>
          </a:stretch>
        </p:blipFill>
        <p:spPr>
          <a:xfrm>
            <a:off x="9605010" y="6351313"/>
            <a:ext cx="3651012" cy="2483648"/>
          </a:xfrm>
          <a:prstGeom prst="rect">
            <a:avLst/>
          </a:prstGeom>
        </p:spPr>
      </p:pic>
      <p:grpSp>
        <p:nvGrpSpPr>
          <p:cNvPr id="19" name="Group 19"/>
          <p:cNvGrpSpPr/>
          <p:nvPr/>
        </p:nvGrpSpPr>
        <p:grpSpPr>
          <a:xfrm>
            <a:off x="1028700" y="2580285"/>
            <a:ext cx="3471547" cy="6383502"/>
            <a:chOff x="0" y="0"/>
            <a:chExt cx="537833" cy="988972"/>
          </a:xfrm>
        </p:grpSpPr>
        <p:sp>
          <p:nvSpPr>
            <p:cNvPr id="20" name="Freeform 20"/>
            <p:cNvSpPr/>
            <p:nvPr/>
          </p:nvSpPr>
          <p:spPr>
            <a:xfrm>
              <a:off x="0" y="0"/>
              <a:ext cx="537833" cy="988972"/>
            </a:xfrm>
            <a:custGeom>
              <a:avLst/>
              <a:gdLst/>
              <a:ahLst/>
              <a:cxnLst/>
              <a:rect l="l" t="t" r="r" b="b"/>
              <a:pathLst>
                <a:path w="537833" h="988972">
                  <a:moveTo>
                    <a:pt x="71363" y="0"/>
                  </a:moveTo>
                  <a:lnTo>
                    <a:pt x="466470" y="0"/>
                  </a:lnTo>
                  <a:cubicBezTo>
                    <a:pt x="505883" y="0"/>
                    <a:pt x="537833" y="31950"/>
                    <a:pt x="537833" y="71363"/>
                  </a:cubicBezTo>
                  <a:lnTo>
                    <a:pt x="537833" y="917608"/>
                  </a:lnTo>
                  <a:cubicBezTo>
                    <a:pt x="537833" y="957021"/>
                    <a:pt x="505883" y="988972"/>
                    <a:pt x="466470" y="988972"/>
                  </a:cubicBezTo>
                  <a:lnTo>
                    <a:pt x="71363" y="988972"/>
                  </a:lnTo>
                  <a:cubicBezTo>
                    <a:pt x="31950" y="988972"/>
                    <a:pt x="0" y="957021"/>
                    <a:pt x="0" y="917608"/>
                  </a:cubicBezTo>
                  <a:lnTo>
                    <a:pt x="0" y="71363"/>
                  </a:lnTo>
                  <a:cubicBezTo>
                    <a:pt x="0" y="31950"/>
                    <a:pt x="31950" y="0"/>
                    <a:pt x="71363" y="0"/>
                  </a:cubicBezTo>
                  <a:close/>
                </a:path>
              </a:pathLst>
            </a:custGeom>
            <a:blipFill>
              <a:blip r:embed="rId4"/>
              <a:stretch>
                <a:fillRect l="-63038" r="-112532"/>
              </a:stretch>
            </a:blipFill>
          </p:spPr>
          <p:txBody>
            <a:bodyPr/>
            <a:lstStyle/>
            <a:p>
              <a:endParaRPr lang="en-US"/>
            </a:p>
          </p:txBody>
        </p:sp>
      </p:grpSp>
      <p:pic>
        <p:nvPicPr>
          <p:cNvPr id="21" name="Picture 21"/>
          <p:cNvPicPr>
            <a:picLocks noChangeAspect="1"/>
          </p:cNvPicPr>
          <p:nvPr/>
        </p:nvPicPr>
        <p:blipFill>
          <a:blip r:embed="rId5"/>
          <a:stretch>
            <a:fillRect/>
          </a:stretch>
        </p:blipFill>
        <p:spPr>
          <a:xfrm>
            <a:off x="4369572" y="2802343"/>
            <a:ext cx="3976236" cy="5939384"/>
          </a:xfrm>
          <a:prstGeom prst="rect">
            <a:avLst/>
          </a:prstGeom>
        </p:spPr>
      </p:pic>
      <p:sp>
        <p:nvSpPr>
          <p:cNvPr id="22" name="TextBox 22"/>
          <p:cNvSpPr txBox="1"/>
          <p:nvPr/>
        </p:nvSpPr>
        <p:spPr>
          <a:xfrm>
            <a:off x="1157857" y="895287"/>
            <a:ext cx="2498812" cy="238272"/>
          </a:xfrm>
          <a:prstGeom prst="rect">
            <a:avLst/>
          </a:prstGeom>
        </p:spPr>
        <p:txBody>
          <a:bodyPr lIns="0" tIns="0" rIns="0" bIns="0" rtlCol="0" anchor="t">
            <a:spAutoFit/>
          </a:bodyPr>
          <a:lstStyle/>
          <a:p>
            <a:pPr marL="0" lvl="0" indent="0" algn="ctr">
              <a:lnSpc>
                <a:spcPts val="1902"/>
              </a:lnSpc>
            </a:pPr>
            <a:r>
              <a:rPr lang="en-US" sz="1399" spc="-34">
                <a:solidFill>
                  <a:srgbClr val="FFFFFF"/>
                </a:solidFill>
                <a:latin typeface="Canva Sans"/>
                <a:ea typeface="Canva Sans"/>
                <a:cs typeface="Canva Sans"/>
                <a:sym typeface="Canva Sans"/>
              </a:rPr>
              <a:t>Cost Structure</a:t>
            </a:r>
          </a:p>
        </p:txBody>
      </p:sp>
      <p:sp>
        <p:nvSpPr>
          <p:cNvPr id="23" name="TextBox 23"/>
          <p:cNvSpPr txBox="1"/>
          <p:nvPr/>
        </p:nvSpPr>
        <p:spPr>
          <a:xfrm>
            <a:off x="3358755" y="895287"/>
            <a:ext cx="2498812" cy="238272"/>
          </a:xfrm>
          <a:prstGeom prst="rect">
            <a:avLst/>
          </a:prstGeom>
        </p:spPr>
        <p:txBody>
          <a:bodyPr lIns="0" tIns="0" rIns="0" bIns="0" rtlCol="0" anchor="t">
            <a:spAutoFit/>
          </a:bodyPr>
          <a:lstStyle/>
          <a:p>
            <a:pPr marL="0" lvl="0" indent="0" algn="ctr">
              <a:lnSpc>
                <a:spcPts val="1902"/>
              </a:lnSpc>
            </a:pPr>
            <a:r>
              <a:rPr lang="en-US" sz="1399" spc="-34">
                <a:solidFill>
                  <a:srgbClr val="FFFFFF"/>
                </a:solidFill>
                <a:latin typeface="Canva Sans"/>
                <a:ea typeface="Canva Sans"/>
                <a:cs typeface="Canva Sans"/>
                <a:sym typeface="Canva Sans"/>
              </a:rPr>
              <a:t>Pricing Strategy</a:t>
            </a:r>
          </a:p>
        </p:txBody>
      </p:sp>
      <p:sp>
        <p:nvSpPr>
          <p:cNvPr id="24" name="TextBox 24"/>
          <p:cNvSpPr txBox="1"/>
          <p:nvPr/>
        </p:nvSpPr>
        <p:spPr>
          <a:xfrm>
            <a:off x="5108285" y="895287"/>
            <a:ext cx="2498812" cy="238272"/>
          </a:xfrm>
          <a:prstGeom prst="rect">
            <a:avLst/>
          </a:prstGeom>
        </p:spPr>
        <p:txBody>
          <a:bodyPr lIns="0" tIns="0" rIns="0" bIns="0" rtlCol="0" anchor="t">
            <a:spAutoFit/>
          </a:bodyPr>
          <a:lstStyle/>
          <a:p>
            <a:pPr marL="0" lvl="0" indent="0" algn="ctr">
              <a:lnSpc>
                <a:spcPts val="1902"/>
              </a:lnSpc>
            </a:pPr>
            <a:r>
              <a:rPr lang="en-US" sz="1399" spc="-34">
                <a:solidFill>
                  <a:srgbClr val="FFFFFF"/>
                </a:solidFill>
                <a:latin typeface="Canva Sans"/>
                <a:ea typeface="Canva Sans"/>
                <a:cs typeface="Canva Sans"/>
                <a:sym typeface="Canva Sans"/>
              </a:rPr>
              <a:t>Financials</a:t>
            </a:r>
          </a:p>
        </p:txBody>
      </p:sp>
      <p:sp>
        <p:nvSpPr>
          <p:cNvPr id="25" name="TextBox 25"/>
          <p:cNvSpPr txBox="1"/>
          <p:nvPr/>
        </p:nvSpPr>
        <p:spPr>
          <a:xfrm>
            <a:off x="6552810" y="895287"/>
            <a:ext cx="2498812" cy="238272"/>
          </a:xfrm>
          <a:prstGeom prst="rect">
            <a:avLst/>
          </a:prstGeom>
        </p:spPr>
        <p:txBody>
          <a:bodyPr lIns="0" tIns="0" rIns="0" bIns="0" rtlCol="0" anchor="t">
            <a:spAutoFit/>
          </a:bodyPr>
          <a:lstStyle/>
          <a:p>
            <a:pPr marL="0" lvl="0" indent="0" algn="ctr">
              <a:lnSpc>
                <a:spcPts val="1902"/>
              </a:lnSpc>
            </a:pPr>
            <a:r>
              <a:rPr lang="en-US" sz="1399" spc="-34">
                <a:solidFill>
                  <a:srgbClr val="FFFFFF"/>
                </a:solidFill>
                <a:latin typeface="Canva Sans"/>
                <a:ea typeface="Canva Sans"/>
                <a:cs typeface="Canva Sans"/>
                <a:sym typeface="Canva Sans"/>
              </a:rPr>
              <a:t>Commercialization</a:t>
            </a:r>
          </a:p>
        </p:txBody>
      </p:sp>
      <p:sp>
        <p:nvSpPr>
          <p:cNvPr id="26" name="TextBox 26"/>
          <p:cNvSpPr txBox="1"/>
          <p:nvPr/>
        </p:nvSpPr>
        <p:spPr>
          <a:xfrm>
            <a:off x="14585765" y="904812"/>
            <a:ext cx="2498812" cy="287300"/>
          </a:xfrm>
          <a:prstGeom prst="rect">
            <a:avLst/>
          </a:prstGeom>
        </p:spPr>
        <p:txBody>
          <a:bodyPr lIns="0" tIns="0" rIns="0" bIns="0" rtlCol="0" anchor="t">
            <a:spAutoFit/>
          </a:bodyPr>
          <a:lstStyle/>
          <a:p>
            <a:pPr marL="0" lvl="0" indent="0" algn="r">
              <a:lnSpc>
                <a:spcPts val="2446"/>
              </a:lnSpc>
            </a:pPr>
            <a:r>
              <a:rPr lang="en-US" sz="1798" b="1" spc="-44">
                <a:solidFill>
                  <a:srgbClr val="FFFFFF"/>
                </a:solidFill>
                <a:latin typeface="Canva Sans Bold"/>
                <a:ea typeface="Canva Sans Bold"/>
                <a:cs typeface="Canva Sans Bold"/>
                <a:sym typeface="Canva Sans Bold"/>
              </a:rPr>
              <a:t>HUST Research</a:t>
            </a:r>
          </a:p>
        </p:txBody>
      </p:sp>
      <p:sp>
        <p:nvSpPr>
          <p:cNvPr id="27" name="TextBox 27"/>
          <p:cNvSpPr txBox="1"/>
          <p:nvPr/>
        </p:nvSpPr>
        <p:spPr>
          <a:xfrm>
            <a:off x="9570999" y="2098277"/>
            <a:ext cx="8466330" cy="2111655"/>
          </a:xfrm>
          <a:prstGeom prst="rect">
            <a:avLst/>
          </a:prstGeom>
        </p:spPr>
        <p:txBody>
          <a:bodyPr lIns="0" tIns="0" rIns="0" bIns="0" rtlCol="0" anchor="t">
            <a:spAutoFit/>
          </a:bodyPr>
          <a:lstStyle/>
          <a:p>
            <a:pPr marL="0" lvl="0" indent="0" algn="l">
              <a:lnSpc>
                <a:spcPts val="8019"/>
              </a:lnSpc>
              <a:spcBef>
                <a:spcPct val="0"/>
              </a:spcBef>
            </a:pPr>
            <a:r>
              <a:rPr lang="en-US" sz="8911" b="1" spc="-356">
                <a:solidFill>
                  <a:srgbClr val="FFFFFF"/>
                </a:solidFill>
                <a:latin typeface="Pragmatica Bold"/>
                <a:ea typeface="Pragmatica Bold"/>
                <a:cs typeface="Pragmatica Bold"/>
                <a:sym typeface="Pragmatica Bold"/>
              </a:rPr>
              <a:t>Production Cost</a:t>
            </a:r>
          </a:p>
          <a:p>
            <a:pPr marL="0" lvl="0" indent="0" algn="l">
              <a:lnSpc>
                <a:spcPts val="8019"/>
              </a:lnSpc>
              <a:spcBef>
                <a:spcPct val="0"/>
              </a:spcBef>
            </a:pPr>
            <a:r>
              <a:rPr lang="en-US" sz="8911" b="1" spc="-356">
                <a:solidFill>
                  <a:srgbClr val="FFFFFF"/>
                </a:solidFill>
                <a:latin typeface="Pragmatica Bold"/>
                <a:ea typeface="Pragmatica Bold"/>
                <a:cs typeface="Pragmatica Bold"/>
                <a:sym typeface="Pragmatica Bold"/>
              </a:rPr>
              <a:t>&amp; Pricing</a:t>
            </a:r>
          </a:p>
        </p:txBody>
      </p:sp>
      <p:sp>
        <p:nvSpPr>
          <p:cNvPr id="28" name="TextBox 28"/>
          <p:cNvSpPr txBox="1"/>
          <p:nvPr/>
        </p:nvSpPr>
        <p:spPr>
          <a:xfrm>
            <a:off x="9570999" y="4448633"/>
            <a:ext cx="6761545" cy="1053361"/>
          </a:xfrm>
          <a:prstGeom prst="rect">
            <a:avLst/>
          </a:prstGeom>
        </p:spPr>
        <p:txBody>
          <a:bodyPr lIns="0" tIns="0" rIns="0" bIns="0" rtlCol="0" anchor="t">
            <a:spAutoFit/>
          </a:bodyPr>
          <a:lstStyle/>
          <a:p>
            <a:pPr marL="0" lvl="0" indent="0" algn="l">
              <a:lnSpc>
                <a:spcPts val="2174"/>
              </a:lnSpc>
            </a:pPr>
            <a:r>
              <a:rPr lang="en-US" sz="1598" spc="-39">
                <a:solidFill>
                  <a:srgbClr val="FFFFFF"/>
                </a:solidFill>
                <a:latin typeface="Canva Sans"/>
                <a:ea typeface="Canva Sans"/>
                <a:cs typeface="Canva Sans"/>
                <a:sym typeface="Canva Sans"/>
              </a:rPr>
              <a:t>Pilot production at 10 tons/year scale. Production cost is $75/kg, with a proposed selling price of $85/kg — delivering a strong profit margin of 35.3%. This positions the project competitively against imported silicon anode materials priced at $90–$130/kg.</a:t>
            </a:r>
          </a:p>
        </p:txBody>
      </p:sp>
      <p:sp>
        <p:nvSpPr>
          <p:cNvPr id="29" name="TextBox 29"/>
          <p:cNvSpPr txBox="1"/>
          <p:nvPr/>
        </p:nvSpPr>
        <p:spPr>
          <a:xfrm>
            <a:off x="13415149" y="7364841"/>
            <a:ext cx="3185367" cy="714522"/>
          </a:xfrm>
          <a:prstGeom prst="rect">
            <a:avLst/>
          </a:prstGeom>
        </p:spPr>
        <p:txBody>
          <a:bodyPr lIns="0" tIns="0" rIns="0" bIns="0" rtlCol="0" anchor="t">
            <a:spAutoFit/>
          </a:bodyPr>
          <a:lstStyle/>
          <a:p>
            <a:pPr marL="0" lvl="0" indent="0" algn="l">
              <a:lnSpc>
                <a:spcPts val="1902"/>
              </a:lnSpc>
            </a:pPr>
            <a:r>
              <a:rPr lang="en-US" sz="1399" spc="-34">
                <a:solidFill>
                  <a:srgbClr val="FFFFFF"/>
                </a:solidFill>
                <a:latin typeface="Canva Sans"/>
                <a:ea typeface="Canva Sans"/>
                <a:cs typeface="Canva Sans"/>
                <a:sym typeface="Canva Sans"/>
              </a:rPr>
              <a:t>Profit margin vs. imported silicon at $90–$130/kg. Project cost: $75/kg. Sell price: $85/kg.</a:t>
            </a:r>
          </a:p>
        </p:txBody>
      </p:sp>
      <p:sp>
        <p:nvSpPr>
          <p:cNvPr id="30" name="TextBox 30"/>
          <p:cNvSpPr txBox="1"/>
          <p:nvPr/>
        </p:nvSpPr>
        <p:spPr>
          <a:xfrm>
            <a:off x="13415149" y="6544956"/>
            <a:ext cx="3844151" cy="585083"/>
          </a:xfrm>
          <a:prstGeom prst="rect">
            <a:avLst/>
          </a:prstGeom>
        </p:spPr>
        <p:txBody>
          <a:bodyPr lIns="0" tIns="0" rIns="0" bIns="0" rtlCol="0" anchor="t">
            <a:spAutoFit/>
          </a:bodyPr>
          <a:lstStyle/>
          <a:p>
            <a:pPr marL="0" lvl="0" indent="0" algn="l">
              <a:lnSpc>
                <a:spcPts val="4304"/>
              </a:lnSpc>
            </a:pPr>
            <a:r>
              <a:rPr lang="en-US" sz="4891" b="1" spc="-244">
                <a:solidFill>
                  <a:srgbClr val="FFFFFF"/>
                </a:solidFill>
                <a:latin typeface="Pragmatica Bold"/>
                <a:ea typeface="Pragmatica Bold"/>
                <a:cs typeface="Pragmatica Bold"/>
                <a:sym typeface="Pragmatica Bold"/>
              </a:rPr>
              <a:t>35.3%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AutoShape 3"/>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4" name="AutoShape 4"/>
          <p:cNvSpPr/>
          <p:nvPr/>
        </p:nvSpPr>
        <p:spPr>
          <a:xfrm>
            <a:off x="6075187"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AutoShape 7"/>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8" name="AutoShape 8"/>
          <p:cNvSpPr/>
          <p:nvPr/>
        </p:nvSpPr>
        <p:spPr>
          <a:xfrm>
            <a:off x="-417053" y="5579695"/>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grpSp>
        <p:nvGrpSpPr>
          <p:cNvPr id="9" name="Group 9"/>
          <p:cNvGrpSpPr/>
          <p:nvPr/>
        </p:nvGrpSpPr>
        <p:grpSpPr>
          <a:xfrm>
            <a:off x="1028700" y="654448"/>
            <a:ext cx="16230600" cy="748504"/>
            <a:chOff x="0" y="0"/>
            <a:chExt cx="4274726" cy="197137"/>
          </a:xfrm>
        </p:grpSpPr>
        <p:sp>
          <p:nvSpPr>
            <p:cNvPr id="10" name="Freeform 10"/>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1" name="TextBox 11"/>
            <p:cNvSpPr txBox="1"/>
            <p:nvPr/>
          </p:nvSpPr>
          <p:spPr>
            <a:xfrm>
              <a:off x="0" y="38100"/>
              <a:ext cx="4274726" cy="159037"/>
            </a:xfrm>
            <a:prstGeom prst="rect">
              <a:avLst/>
            </a:prstGeom>
          </p:spPr>
          <p:txBody>
            <a:bodyPr lIns="50800" tIns="50800" rIns="50800" bIns="50800" rtlCol="0" anchor="ctr"/>
            <a:lstStyle/>
            <a:p>
              <a:pPr marL="0" lvl="0" indent="0" algn="ctr">
                <a:lnSpc>
                  <a:spcPts val="1619"/>
                </a:lnSpc>
              </a:pPr>
              <a:endParaRPr/>
            </a:p>
          </p:txBody>
        </p:sp>
      </p:grpSp>
      <p:grpSp>
        <p:nvGrpSpPr>
          <p:cNvPr id="12" name="Group 12"/>
          <p:cNvGrpSpPr/>
          <p:nvPr/>
        </p:nvGrpSpPr>
        <p:grpSpPr>
          <a:xfrm>
            <a:off x="1157857" y="6965313"/>
            <a:ext cx="7730034" cy="2292987"/>
            <a:chOff x="0" y="0"/>
            <a:chExt cx="2035894" cy="603914"/>
          </a:xfrm>
        </p:grpSpPr>
        <p:sp>
          <p:nvSpPr>
            <p:cNvPr id="13" name="Freeform 13"/>
            <p:cNvSpPr/>
            <p:nvPr/>
          </p:nvSpPr>
          <p:spPr>
            <a:xfrm>
              <a:off x="0" y="0"/>
              <a:ext cx="2035894" cy="603914"/>
            </a:xfrm>
            <a:custGeom>
              <a:avLst/>
              <a:gdLst/>
              <a:ahLst/>
              <a:cxnLst/>
              <a:rect l="l" t="t" r="r" b="b"/>
              <a:pathLst>
                <a:path w="2035894" h="603914">
                  <a:moveTo>
                    <a:pt x="32049" y="0"/>
                  </a:moveTo>
                  <a:lnTo>
                    <a:pt x="2003845" y="0"/>
                  </a:lnTo>
                  <a:cubicBezTo>
                    <a:pt x="2012345" y="0"/>
                    <a:pt x="2020496" y="3377"/>
                    <a:pt x="2026507" y="9387"/>
                  </a:cubicBezTo>
                  <a:cubicBezTo>
                    <a:pt x="2032517" y="15397"/>
                    <a:pt x="2035894" y="23549"/>
                    <a:pt x="2035894" y="32049"/>
                  </a:cubicBezTo>
                  <a:lnTo>
                    <a:pt x="2035894" y="571865"/>
                  </a:lnTo>
                  <a:cubicBezTo>
                    <a:pt x="2035894" y="589565"/>
                    <a:pt x="2021545" y="603914"/>
                    <a:pt x="2003845" y="603914"/>
                  </a:cubicBezTo>
                  <a:lnTo>
                    <a:pt x="32049" y="603914"/>
                  </a:lnTo>
                  <a:cubicBezTo>
                    <a:pt x="23549" y="603914"/>
                    <a:pt x="15397" y="600538"/>
                    <a:pt x="9387" y="594527"/>
                  </a:cubicBezTo>
                  <a:cubicBezTo>
                    <a:pt x="3377" y="588517"/>
                    <a:pt x="0" y="580365"/>
                    <a:pt x="0" y="571865"/>
                  </a:cubicBezTo>
                  <a:lnTo>
                    <a:pt x="0" y="32049"/>
                  </a:lnTo>
                  <a:cubicBezTo>
                    <a:pt x="0" y="23549"/>
                    <a:pt x="3377" y="15397"/>
                    <a:pt x="9387" y="9387"/>
                  </a:cubicBezTo>
                  <a:cubicBezTo>
                    <a:pt x="15397" y="3377"/>
                    <a:pt x="23549" y="0"/>
                    <a:pt x="32049"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4" name="TextBox 14"/>
            <p:cNvSpPr txBox="1"/>
            <p:nvPr/>
          </p:nvSpPr>
          <p:spPr>
            <a:xfrm>
              <a:off x="0" y="38100"/>
              <a:ext cx="2035894" cy="565814"/>
            </a:xfrm>
            <a:prstGeom prst="rect">
              <a:avLst/>
            </a:prstGeom>
          </p:spPr>
          <p:txBody>
            <a:bodyPr lIns="50800" tIns="50800" rIns="50800" bIns="50800" rtlCol="0" anchor="ctr"/>
            <a:lstStyle/>
            <a:p>
              <a:pPr marL="0" lvl="0" indent="0" algn="ctr">
                <a:lnSpc>
                  <a:spcPts val="1619"/>
                </a:lnSpc>
              </a:pPr>
              <a:endParaRPr/>
            </a:p>
          </p:txBody>
        </p:sp>
      </p:grpSp>
      <p:grpSp>
        <p:nvGrpSpPr>
          <p:cNvPr id="15" name="Group 15"/>
          <p:cNvGrpSpPr/>
          <p:nvPr/>
        </p:nvGrpSpPr>
        <p:grpSpPr>
          <a:xfrm>
            <a:off x="1551780" y="7256324"/>
            <a:ext cx="1710965" cy="1710965"/>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a:stretch>
            </a:blipFill>
            <a:ln w="19050" cap="sq">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miter/>
            </a:ln>
          </p:spPr>
          <p:txBody>
            <a:bodyPr/>
            <a:lstStyle/>
            <a:p>
              <a:endParaRPr lang="en-US"/>
            </a:p>
          </p:txBody>
        </p:sp>
      </p:grpSp>
      <p:sp>
        <p:nvSpPr>
          <p:cNvPr id="17" name="TextBox 17"/>
          <p:cNvSpPr txBox="1"/>
          <p:nvPr/>
        </p:nvSpPr>
        <p:spPr>
          <a:xfrm>
            <a:off x="1157857" y="3446631"/>
            <a:ext cx="16844184" cy="2687309"/>
          </a:xfrm>
          <a:prstGeom prst="rect">
            <a:avLst/>
          </a:prstGeom>
        </p:spPr>
        <p:txBody>
          <a:bodyPr lIns="0" tIns="0" rIns="0" bIns="0" rtlCol="0" anchor="t">
            <a:spAutoFit/>
          </a:bodyPr>
          <a:lstStyle/>
          <a:p>
            <a:pPr marL="0" lvl="0" indent="0" algn="l">
              <a:lnSpc>
                <a:spcPts val="19675"/>
              </a:lnSpc>
            </a:pPr>
            <a:r>
              <a:rPr lang="en-US" sz="21861" b="1" spc="-874">
                <a:solidFill>
                  <a:srgbClr val="FFFFFF"/>
                </a:solidFill>
                <a:latin typeface="Pragmatica Bold"/>
                <a:ea typeface="Pragmatica Bold"/>
                <a:cs typeface="Pragmatica Bold"/>
                <a:sym typeface="Pragmatica Bold"/>
              </a:rPr>
              <a:t>$500M USD</a:t>
            </a:r>
          </a:p>
        </p:txBody>
      </p:sp>
      <p:sp>
        <p:nvSpPr>
          <p:cNvPr id="18" name="TextBox 18"/>
          <p:cNvSpPr txBox="1"/>
          <p:nvPr/>
        </p:nvSpPr>
        <p:spPr>
          <a:xfrm>
            <a:off x="4028952" y="7325090"/>
            <a:ext cx="4366232" cy="603848"/>
          </a:xfrm>
          <a:prstGeom prst="rect">
            <a:avLst/>
          </a:prstGeom>
        </p:spPr>
        <p:txBody>
          <a:bodyPr lIns="0" tIns="0" rIns="0" bIns="0" rtlCol="0" anchor="t">
            <a:spAutoFit/>
          </a:bodyPr>
          <a:lstStyle/>
          <a:p>
            <a:pPr marL="0" lvl="0" indent="0" algn="l">
              <a:lnSpc>
                <a:spcPts val="4430"/>
              </a:lnSpc>
            </a:pPr>
            <a:r>
              <a:rPr lang="en-US" sz="4923" b="1" spc="-196">
                <a:solidFill>
                  <a:srgbClr val="FFFFFF"/>
                </a:solidFill>
                <a:latin typeface="Pragmatica Bold"/>
                <a:ea typeface="Pragmatica Bold"/>
                <a:cs typeface="Pragmatica Bold"/>
                <a:sym typeface="Pragmatica Bold"/>
              </a:rPr>
              <a:t>By 2030</a:t>
            </a:r>
          </a:p>
        </p:txBody>
      </p:sp>
      <p:sp>
        <p:nvSpPr>
          <p:cNvPr id="19" name="TextBox 19"/>
          <p:cNvSpPr txBox="1"/>
          <p:nvPr/>
        </p:nvSpPr>
        <p:spPr>
          <a:xfrm>
            <a:off x="1157857"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Market Overview</a:t>
            </a:r>
          </a:p>
        </p:txBody>
      </p:sp>
      <p:sp>
        <p:nvSpPr>
          <p:cNvPr id="20" name="TextBox 20"/>
          <p:cNvSpPr txBox="1"/>
          <p:nvPr/>
        </p:nvSpPr>
        <p:spPr>
          <a:xfrm>
            <a:off x="4028952" y="8020685"/>
            <a:ext cx="4366232" cy="794766"/>
          </a:xfrm>
          <a:prstGeom prst="rect">
            <a:avLst/>
          </a:prstGeom>
        </p:spPr>
        <p:txBody>
          <a:bodyPr lIns="0" tIns="0" rIns="0" bIns="0" rtlCol="0" anchor="t">
            <a:spAutoFit/>
          </a:bodyPr>
          <a:lstStyle/>
          <a:p>
            <a:pPr marL="0" lvl="0" indent="0" algn="l">
              <a:lnSpc>
                <a:spcPts val="1632"/>
              </a:lnSpc>
            </a:pPr>
            <a:r>
              <a:rPr lang="en-US" sz="1200" spc="-30">
                <a:solidFill>
                  <a:srgbClr val="FFFFFF"/>
                </a:solidFill>
                <a:latin typeface="Canva Sans"/>
                <a:ea typeface="Canva Sans"/>
                <a:cs typeface="Canva Sans"/>
                <a:sym typeface="Canva Sans"/>
              </a:rPr>
              <a:t>Vietnam's battery material market is projected to exceed $500 million USD by 2030, driven by rapid EV adoption, energy storage expansion, and localization of Lithium-ion battery supply chains across Southeast Asia.</a:t>
            </a:r>
          </a:p>
        </p:txBody>
      </p:sp>
      <p:sp>
        <p:nvSpPr>
          <p:cNvPr id="21" name="TextBox 21"/>
          <p:cNvSpPr txBox="1"/>
          <p:nvPr/>
        </p:nvSpPr>
        <p:spPr>
          <a:xfrm>
            <a:off x="3358755"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Growth Drivers</a:t>
            </a:r>
          </a:p>
        </p:txBody>
      </p:sp>
      <p:sp>
        <p:nvSpPr>
          <p:cNvPr id="22" name="TextBox 22"/>
          <p:cNvSpPr txBox="1"/>
          <p:nvPr/>
        </p:nvSpPr>
        <p:spPr>
          <a:xfrm>
            <a:off x="5108285"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EV Adoption</a:t>
            </a:r>
          </a:p>
        </p:txBody>
      </p:sp>
      <p:sp>
        <p:nvSpPr>
          <p:cNvPr id="23" name="TextBox 23"/>
          <p:cNvSpPr txBox="1"/>
          <p:nvPr/>
        </p:nvSpPr>
        <p:spPr>
          <a:xfrm>
            <a:off x="6552810"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Forecast 2030</a:t>
            </a:r>
          </a:p>
        </p:txBody>
      </p:sp>
      <p:sp>
        <p:nvSpPr>
          <p:cNvPr id="24" name="TextBox 24"/>
          <p:cNvSpPr txBox="1"/>
          <p:nvPr/>
        </p:nvSpPr>
        <p:spPr>
          <a:xfrm>
            <a:off x="14585765" y="8944737"/>
            <a:ext cx="2673535" cy="448383"/>
          </a:xfrm>
          <a:prstGeom prst="rect">
            <a:avLst/>
          </a:prstGeom>
        </p:spPr>
        <p:txBody>
          <a:bodyPr lIns="0" tIns="0" rIns="0" bIns="0" rtlCol="0" anchor="t">
            <a:spAutoFit/>
          </a:bodyPr>
          <a:lstStyle/>
          <a:p>
            <a:pPr marL="0" lvl="0" indent="0" algn="r">
              <a:lnSpc>
                <a:spcPts val="1865"/>
              </a:lnSpc>
            </a:pPr>
            <a:r>
              <a:rPr lang="en-US" sz="1371" spc="-34">
                <a:solidFill>
                  <a:srgbClr val="FFFFFF"/>
                </a:solidFill>
                <a:latin typeface="Canva Sans"/>
                <a:ea typeface="Canva Sans"/>
                <a:cs typeface="Canva Sans"/>
                <a:sym typeface="Canva Sans"/>
              </a:rPr>
              <a:t>Presented By:</a:t>
            </a:r>
          </a:p>
          <a:p>
            <a:pPr marL="0" lvl="0" indent="0" algn="r">
              <a:lnSpc>
                <a:spcPts val="1865"/>
              </a:lnSpc>
            </a:pPr>
            <a:r>
              <a:rPr lang="en-US" sz="1371" spc="-34">
                <a:solidFill>
                  <a:srgbClr val="FFFFFF"/>
                </a:solidFill>
                <a:latin typeface="Canva Sans"/>
                <a:ea typeface="Canva Sans"/>
                <a:cs typeface="Canva Sans"/>
                <a:sym typeface="Canva Sans"/>
              </a:rPr>
              <a:t>Assoc. Prof. Dr. Nguyen Van A</a:t>
            </a:r>
          </a:p>
        </p:txBody>
      </p:sp>
      <p:sp>
        <p:nvSpPr>
          <p:cNvPr id="25" name="TextBox 25"/>
          <p:cNvSpPr txBox="1"/>
          <p:nvPr/>
        </p:nvSpPr>
        <p:spPr>
          <a:xfrm>
            <a:off x="14585765" y="904812"/>
            <a:ext cx="2498812" cy="502049"/>
          </a:xfrm>
          <a:prstGeom prst="rect">
            <a:avLst/>
          </a:prstGeom>
        </p:spPr>
        <p:txBody>
          <a:bodyPr lIns="0" tIns="0" rIns="0" bIns="0" rtlCol="0" anchor="t">
            <a:spAutoFit/>
          </a:bodyPr>
          <a:lstStyle/>
          <a:p>
            <a:pPr marL="0" lvl="0" indent="0" algn="r">
              <a:lnSpc>
                <a:spcPts val="2098"/>
              </a:lnSpc>
            </a:pPr>
            <a:r>
              <a:rPr lang="en-US" sz="1542" b="1" spc="-38">
                <a:solidFill>
                  <a:srgbClr val="FFFFFF"/>
                </a:solidFill>
                <a:latin typeface="Canva Sans Bold"/>
                <a:ea typeface="Canva Sans Bold"/>
                <a:cs typeface="Canva Sans Bold"/>
                <a:sym typeface="Canva Sans Bold"/>
              </a:rPr>
              <a:t>Hanoi University of Science and Technology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AutoShape 3"/>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4" name="AutoShape 4"/>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p:cNvSpPr/>
          <p:nvPr/>
        </p:nvSpPr>
        <p:spPr>
          <a:xfrm>
            <a:off x="6075187"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AutoShape 7"/>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8" name="Freeform 8"/>
          <p:cNvSpPr/>
          <p:nvPr/>
        </p:nvSpPr>
        <p:spPr>
          <a:xfrm>
            <a:off x="14950017" y="-1114244"/>
            <a:ext cx="8534070" cy="11618164"/>
          </a:xfrm>
          <a:custGeom>
            <a:avLst/>
            <a:gdLst/>
            <a:ahLst/>
            <a:cxnLst/>
            <a:rect l="l" t="t" r="r" b="b"/>
            <a:pathLst>
              <a:path w="8534070" h="11618164">
                <a:moveTo>
                  <a:pt x="0" y="0"/>
                </a:moveTo>
                <a:lnTo>
                  <a:pt x="8534069" y="0"/>
                </a:lnTo>
                <a:lnTo>
                  <a:pt x="8534069" y="11618163"/>
                </a:lnTo>
                <a:lnTo>
                  <a:pt x="0" y="11618163"/>
                </a:lnTo>
                <a:lnTo>
                  <a:pt x="0" y="0"/>
                </a:lnTo>
                <a:close/>
              </a:path>
            </a:pathLst>
          </a:custGeom>
          <a:blipFill>
            <a:blip r:embed="rId2">
              <a:alphaModFix amt="50000"/>
            </a:blip>
            <a:stretch>
              <a:fillRect/>
            </a:stretch>
          </a:blipFill>
        </p:spPr>
        <p:txBody>
          <a:bodyPr/>
          <a:lstStyle/>
          <a:p>
            <a:endParaRPr lang="en-US"/>
          </a:p>
        </p:txBody>
      </p:sp>
      <p:grpSp>
        <p:nvGrpSpPr>
          <p:cNvPr id="9" name="Group 9"/>
          <p:cNvGrpSpPr/>
          <p:nvPr/>
        </p:nvGrpSpPr>
        <p:grpSpPr>
          <a:xfrm>
            <a:off x="1028700" y="654448"/>
            <a:ext cx="16230600" cy="748504"/>
            <a:chOff x="0" y="0"/>
            <a:chExt cx="4274726" cy="197137"/>
          </a:xfrm>
        </p:grpSpPr>
        <p:sp>
          <p:nvSpPr>
            <p:cNvPr id="10" name="Freeform 10"/>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1" name="TextBox 11"/>
            <p:cNvSpPr txBox="1"/>
            <p:nvPr/>
          </p:nvSpPr>
          <p:spPr>
            <a:xfrm>
              <a:off x="0" y="38100"/>
              <a:ext cx="4274726" cy="159037"/>
            </a:xfrm>
            <a:prstGeom prst="rect">
              <a:avLst/>
            </a:prstGeom>
          </p:spPr>
          <p:txBody>
            <a:bodyPr lIns="50800" tIns="50800" rIns="50800" bIns="50800" rtlCol="0" anchor="ctr"/>
            <a:lstStyle/>
            <a:p>
              <a:pPr marL="0" lvl="0" indent="0" algn="ctr">
                <a:lnSpc>
                  <a:spcPts val="1619"/>
                </a:lnSpc>
              </a:pPr>
              <a:endParaRPr/>
            </a:p>
          </p:txBody>
        </p:sp>
      </p:grpSp>
      <p:sp>
        <p:nvSpPr>
          <p:cNvPr id="12" name="TextBox 12"/>
          <p:cNvSpPr txBox="1"/>
          <p:nvPr/>
        </p:nvSpPr>
        <p:spPr>
          <a:xfrm>
            <a:off x="1157857" y="895287"/>
            <a:ext cx="2498812" cy="238272"/>
          </a:xfrm>
          <a:prstGeom prst="rect">
            <a:avLst/>
          </a:prstGeom>
        </p:spPr>
        <p:txBody>
          <a:bodyPr lIns="0" tIns="0" rIns="0" bIns="0" rtlCol="0" anchor="t">
            <a:spAutoFit/>
          </a:bodyPr>
          <a:lstStyle/>
          <a:p>
            <a:pPr marL="0" lvl="0" indent="0" algn="ctr">
              <a:lnSpc>
                <a:spcPts val="1902"/>
              </a:lnSpc>
            </a:pPr>
            <a:r>
              <a:rPr lang="en-US" sz="1399" spc="-34">
                <a:solidFill>
                  <a:srgbClr val="FFFFFF"/>
                </a:solidFill>
                <a:latin typeface="Canva Sans"/>
                <a:ea typeface="Canva Sans"/>
                <a:cs typeface="Canva Sans"/>
                <a:sym typeface="Canva Sans"/>
              </a:rPr>
              <a:t>Background of the study</a:t>
            </a:r>
          </a:p>
        </p:txBody>
      </p:sp>
      <p:sp>
        <p:nvSpPr>
          <p:cNvPr id="13" name="TextBox 13"/>
          <p:cNvSpPr txBox="1"/>
          <p:nvPr/>
        </p:nvSpPr>
        <p:spPr>
          <a:xfrm>
            <a:off x="3358755" y="895287"/>
            <a:ext cx="2498812" cy="238272"/>
          </a:xfrm>
          <a:prstGeom prst="rect">
            <a:avLst/>
          </a:prstGeom>
        </p:spPr>
        <p:txBody>
          <a:bodyPr lIns="0" tIns="0" rIns="0" bIns="0" rtlCol="0" anchor="t">
            <a:spAutoFit/>
          </a:bodyPr>
          <a:lstStyle/>
          <a:p>
            <a:pPr marL="0" lvl="0" indent="0" algn="ctr">
              <a:lnSpc>
                <a:spcPts val="1902"/>
              </a:lnSpc>
            </a:pPr>
            <a:r>
              <a:rPr lang="en-US" sz="1399" spc="-34">
                <a:solidFill>
                  <a:srgbClr val="FFFFFF"/>
                </a:solidFill>
                <a:latin typeface="Canva Sans"/>
                <a:ea typeface="Canva Sans"/>
                <a:cs typeface="Canva Sans"/>
                <a:sym typeface="Canva Sans"/>
              </a:rPr>
              <a:t>Problem Statement</a:t>
            </a:r>
          </a:p>
        </p:txBody>
      </p:sp>
      <p:sp>
        <p:nvSpPr>
          <p:cNvPr id="14" name="TextBox 14"/>
          <p:cNvSpPr txBox="1"/>
          <p:nvPr/>
        </p:nvSpPr>
        <p:spPr>
          <a:xfrm>
            <a:off x="5108285" y="895287"/>
            <a:ext cx="2498812" cy="238272"/>
          </a:xfrm>
          <a:prstGeom prst="rect">
            <a:avLst/>
          </a:prstGeom>
        </p:spPr>
        <p:txBody>
          <a:bodyPr lIns="0" tIns="0" rIns="0" bIns="0" rtlCol="0" anchor="t">
            <a:spAutoFit/>
          </a:bodyPr>
          <a:lstStyle/>
          <a:p>
            <a:pPr marL="0" lvl="0" indent="0" algn="ctr">
              <a:lnSpc>
                <a:spcPts val="1902"/>
              </a:lnSpc>
            </a:pPr>
            <a:r>
              <a:rPr lang="en-US" sz="1399" spc="-34">
                <a:solidFill>
                  <a:srgbClr val="FFFFFF"/>
                </a:solidFill>
                <a:latin typeface="Canva Sans"/>
                <a:ea typeface="Canva Sans"/>
                <a:cs typeface="Canva Sans"/>
                <a:sym typeface="Canva Sans"/>
              </a:rPr>
              <a:t>Framework</a:t>
            </a:r>
          </a:p>
        </p:txBody>
      </p:sp>
      <p:sp>
        <p:nvSpPr>
          <p:cNvPr id="15" name="TextBox 15"/>
          <p:cNvSpPr txBox="1"/>
          <p:nvPr/>
        </p:nvSpPr>
        <p:spPr>
          <a:xfrm>
            <a:off x="6552810" y="895287"/>
            <a:ext cx="2498812" cy="238272"/>
          </a:xfrm>
          <a:prstGeom prst="rect">
            <a:avLst/>
          </a:prstGeom>
        </p:spPr>
        <p:txBody>
          <a:bodyPr lIns="0" tIns="0" rIns="0" bIns="0" rtlCol="0" anchor="t">
            <a:spAutoFit/>
          </a:bodyPr>
          <a:lstStyle/>
          <a:p>
            <a:pPr marL="0" lvl="0" indent="0" algn="ctr">
              <a:lnSpc>
                <a:spcPts val="1902"/>
              </a:lnSpc>
            </a:pPr>
            <a:r>
              <a:rPr lang="en-US" sz="1399" spc="-34">
                <a:solidFill>
                  <a:srgbClr val="FFFFFF"/>
                </a:solidFill>
                <a:latin typeface="Canva Sans"/>
                <a:ea typeface="Canva Sans"/>
                <a:cs typeface="Canva Sans"/>
                <a:sym typeface="Canva Sans"/>
              </a:rPr>
              <a:t>Methodology</a:t>
            </a:r>
          </a:p>
        </p:txBody>
      </p:sp>
      <p:sp>
        <p:nvSpPr>
          <p:cNvPr id="16" name="TextBox 16"/>
          <p:cNvSpPr txBox="1"/>
          <p:nvPr/>
        </p:nvSpPr>
        <p:spPr>
          <a:xfrm>
            <a:off x="14585765" y="904812"/>
            <a:ext cx="2498812" cy="287300"/>
          </a:xfrm>
          <a:prstGeom prst="rect">
            <a:avLst/>
          </a:prstGeom>
        </p:spPr>
        <p:txBody>
          <a:bodyPr lIns="0" tIns="0" rIns="0" bIns="0" rtlCol="0" anchor="t">
            <a:spAutoFit/>
          </a:bodyPr>
          <a:lstStyle/>
          <a:p>
            <a:pPr marL="0" lvl="0" indent="0" algn="r">
              <a:lnSpc>
                <a:spcPts val="2446"/>
              </a:lnSpc>
            </a:pPr>
            <a:r>
              <a:rPr lang="en-US" sz="1798" b="1" spc="-44">
                <a:solidFill>
                  <a:srgbClr val="FFFFFF"/>
                </a:solidFill>
                <a:latin typeface="Canva Sans Bold"/>
                <a:ea typeface="Canva Sans Bold"/>
                <a:cs typeface="Canva Sans Bold"/>
                <a:sym typeface="Canva Sans Bold"/>
              </a:rPr>
              <a:t>Larana Company</a:t>
            </a:r>
          </a:p>
        </p:txBody>
      </p:sp>
      <p:sp>
        <p:nvSpPr>
          <p:cNvPr id="17" name="TextBox 17"/>
          <p:cNvSpPr txBox="1"/>
          <p:nvPr/>
        </p:nvSpPr>
        <p:spPr>
          <a:xfrm>
            <a:off x="1157857" y="2473197"/>
            <a:ext cx="10069193" cy="707139"/>
          </a:xfrm>
          <a:prstGeom prst="rect">
            <a:avLst/>
          </a:prstGeom>
        </p:spPr>
        <p:txBody>
          <a:bodyPr lIns="0" tIns="0" rIns="0" bIns="0" rtlCol="0" anchor="t">
            <a:spAutoFit/>
          </a:bodyPr>
          <a:lstStyle/>
          <a:p>
            <a:pPr marL="0" lvl="0" indent="0" algn="l">
              <a:lnSpc>
                <a:spcPts val="5229"/>
              </a:lnSpc>
              <a:spcBef>
                <a:spcPct val="0"/>
              </a:spcBef>
            </a:pPr>
            <a:r>
              <a:rPr lang="en-US" sz="5810" b="1" spc="-232">
                <a:solidFill>
                  <a:srgbClr val="FFFFFF"/>
                </a:solidFill>
                <a:latin typeface="Pragmatica Bold"/>
                <a:ea typeface="Pragmatica Bold"/>
                <a:cs typeface="Pragmatica Bold"/>
                <a:sym typeface="Pragmatica Bold"/>
              </a:rPr>
              <a:t>Three-Year Financial Forecast</a:t>
            </a:r>
          </a:p>
        </p:txBody>
      </p:sp>
      <p:sp>
        <p:nvSpPr>
          <p:cNvPr id="18" name="TextBox 18"/>
          <p:cNvSpPr txBox="1"/>
          <p:nvPr/>
        </p:nvSpPr>
        <p:spPr>
          <a:xfrm>
            <a:off x="1157857" y="4052062"/>
            <a:ext cx="6761545" cy="1053361"/>
          </a:xfrm>
          <a:prstGeom prst="rect">
            <a:avLst/>
          </a:prstGeom>
        </p:spPr>
        <p:txBody>
          <a:bodyPr lIns="0" tIns="0" rIns="0" bIns="0" rtlCol="0" anchor="t">
            <a:spAutoFit/>
          </a:bodyPr>
          <a:lstStyle/>
          <a:p>
            <a:pPr marL="0" lvl="0" indent="0" algn="l">
              <a:lnSpc>
                <a:spcPts val="2174"/>
              </a:lnSpc>
            </a:pPr>
            <a:r>
              <a:rPr lang="en-US" sz="1598" spc="-39">
                <a:solidFill>
                  <a:srgbClr val="FFFFFF"/>
                </a:solidFill>
                <a:latin typeface="Canva Sans"/>
                <a:ea typeface="Canva Sans"/>
                <a:cs typeface="Canva Sans"/>
                <a:sym typeface="Canva Sans"/>
              </a:rPr>
              <a:t>Production scales from 2 tons (Year 1) to 12 tons (Year 3), with revenue growing from 4.2B to 25.2B VND. Profit margin improves significantly as operations scale, reaching 5.92B VND by Year 3 — demonstrating strong commercial viability.</a:t>
            </a:r>
          </a:p>
        </p:txBody>
      </p:sp>
      <p:grpSp>
        <p:nvGrpSpPr>
          <p:cNvPr id="19" name="Group 19"/>
          <p:cNvGrpSpPr/>
          <p:nvPr/>
        </p:nvGrpSpPr>
        <p:grpSpPr>
          <a:xfrm>
            <a:off x="1157857" y="5881069"/>
            <a:ext cx="7688301" cy="3204781"/>
            <a:chOff x="0" y="0"/>
            <a:chExt cx="2024902" cy="844058"/>
          </a:xfrm>
        </p:grpSpPr>
        <p:sp>
          <p:nvSpPr>
            <p:cNvPr id="20" name="Freeform 20"/>
            <p:cNvSpPr/>
            <p:nvPr/>
          </p:nvSpPr>
          <p:spPr>
            <a:xfrm>
              <a:off x="0" y="0"/>
              <a:ext cx="2024902" cy="844058"/>
            </a:xfrm>
            <a:custGeom>
              <a:avLst/>
              <a:gdLst/>
              <a:ahLst/>
              <a:cxnLst/>
              <a:rect l="l" t="t" r="r" b="b"/>
              <a:pathLst>
                <a:path w="2024902" h="844058">
                  <a:moveTo>
                    <a:pt x="50349" y="0"/>
                  </a:moveTo>
                  <a:lnTo>
                    <a:pt x="1974554" y="0"/>
                  </a:lnTo>
                  <a:cubicBezTo>
                    <a:pt x="2002361" y="0"/>
                    <a:pt x="2024902" y="22542"/>
                    <a:pt x="2024902" y="50349"/>
                  </a:cubicBezTo>
                  <a:lnTo>
                    <a:pt x="2024902" y="793709"/>
                  </a:lnTo>
                  <a:cubicBezTo>
                    <a:pt x="2024902" y="807062"/>
                    <a:pt x="2019598" y="819869"/>
                    <a:pt x="2010156" y="829311"/>
                  </a:cubicBezTo>
                  <a:cubicBezTo>
                    <a:pt x="2000713" y="838753"/>
                    <a:pt x="1987907" y="844058"/>
                    <a:pt x="1974554" y="844058"/>
                  </a:cubicBezTo>
                  <a:lnTo>
                    <a:pt x="50349" y="844058"/>
                  </a:lnTo>
                  <a:cubicBezTo>
                    <a:pt x="22542" y="844058"/>
                    <a:pt x="0" y="821516"/>
                    <a:pt x="0" y="793709"/>
                  </a:cubicBezTo>
                  <a:lnTo>
                    <a:pt x="0" y="50349"/>
                  </a:lnTo>
                  <a:cubicBezTo>
                    <a:pt x="0" y="22542"/>
                    <a:pt x="22542" y="0"/>
                    <a:pt x="50349"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21" name="TextBox 21"/>
            <p:cNvSpPr txBox="1"/>
            <p:nvPr/>
          </p:nvSpPr>
          <p:spPr>
            <a:xfrm>
              <a:off x="0" y="38100"/>
              <a:ext cx="2024902" cy="805958"/>
            </a:xfrm>
            <a:prstGeom prst="rect">
              <a:avLst/>
            </a:prstGeom>
          </p:spPr>
          <p:txBody>
            <a:bodyPr lIns="50800" tIns="50800" rIns="50800" bIns="50800" rtlCol="0" anchor="ctr"/>
            <a:lstStyle/>
            <a:p>
              <a:pPr marL="0" lvl="0" indent="0" algn="ctr">
                <a:lnSpc>
                  <a:spcPts val="1619"/>
                </a:lnSpc>
              </a:pPr>
              <a:endParaRPr/>
            </a:p>
          </p:txBody>
        </p:sp>
      </p:grpSp>
      <p:pic>
        <p:nvPicPr>
          <p:cNvPr id="22" name="Picture 22"/>
          <p:cNvPicPr>
            <a:picLocks noChangeAspect="1"/>
          </p:cNvPicPr>
          <p:nvPr/>
        </p:nvPicPr>
        <p:blipFill>
          <a:blip r:embed="rId3"/>
          <a:stretch>
            <a:fillRect/>
          </a:stretch>
        </p:blipFill>
        <p:spPr>
          <a:xfrm>
            <a:off x="714736" y="5433870"/>
            <a:ext cx="8574545" cy="4099180"/>
          </a:xfrm>
          <a:prstGeom prst="rect">
            <a:avLst/>
          </a:prstGeom>
        </p:spPr>
      </p:pic>
      <p:pic>
        <p:nvPicPr>
          <p:cNvPr id="23" name="Picture 23"/>
          <p:cNvPicPr>
            <a:picLocks noChangeAspect="1"/>
          </p:cNvPicPr>
          <p:nvPr/>
        </p:nvPicPr>
        <p:blipFill>
          <a:blip r:embed="rId4"/>
          <a:stretch>
            <a:fillRect/>
          </a:stretch>
        </p:blipFill>
        <p:spPr>
          <a:xfrm>
            <a:off x="9252454" y="1717872"/>
            <a:ext cx="8734741" cy="784910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AutoShape 3"/>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4" name="AutoShape 4"/>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p:cNvSpPr/>
          <p:nvPr/>
        </p:nvSpPr>
        <p:spPr>
          <a:xfrm>
            <a:off x="6075187"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AutoShape 7"/>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8" name="Freeform 8"/>
          <p:cNvSpPr/>
          <p:nvPr/>
        </p:nvSpPr>
        <p:spPr>
          <a:xfrm>
            <a:off x="14950017" y="-1114244"/>
            <a:ext cx="8534070" cy="11618164"/>
          </a:xfrm>
          <a:custGeom>
            <a:avLst/>
            <a:gdLst/>
            <a:ahLst/>
            <a:cxnLst/>
            <a:rect l="l" t="t" r="r" b="b"/>
            <a:pathLst>
              <a:path w="8534070" h="11618164">
                <a:moveTo>
                  <a:pt x="0" y="0"/>
                </a:moveTo>
                <a:lnTo>
                  <a:pt x="8534069" y="0"/>
                </a:lnTo>
                <a:lnTo>
                  <a:pt x="8534069" y="11618163"/>
                </a:lnTo>
                <a:lnTo>
                  <a:pt x="0" y="11618163"/>
                </a:lnTo>
                <a:lnTo>
                  <a:pt x="0" y="0"/>
                </a:lnTo>
                <a:close/>
              </a:path>
            </a:pathLst>
          </a:custGeom>
          <a:blipFill>
            <a:blip r:embed="rId2">
              <a:alphaModFix amt="50000"/>
            </a:blip>
            <a:stretch>
              <a:fillRect/>
            </a:stretch>
          </a:blipFill>
        </p:spPr>
        <p:txBody>
          <a:bodyPr/>
          <a:lstStyle/>
          <a:p>
            <a:endParaRPr lang="en-US"/>
          </a:p>
        </p:txBody>
      </p:sp>
      <p:grpSp>
        <p:nvGrpSpPr>
          <p:cNvPr id="9" name="Group 9"/>
          <p:cNvGrpSpPr/>
          <p:nvPr/>
        </p:nvGrpSpPr>
        <p:grpSpPr>
          <a:xfrm>
            <a:off x="1028700" y="654448"/>
            <a:ext cx="16230600" cy="748504"/>
            <a:chOff x="0" y="0"/>
            <a:chExt cx="4274726" cy="197137"/>
          </a:xfrm>
        </p:grpSpPr>
        <p:sp>
          <p:nvSpPr>
            <p:cNvPr id="10" name="Freeform 10"/>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1" name="TextBox 11"/>
            <p:cNvSpPr txBox="1"/>
            <p:nvPr/>
          </p:nvSpPr>
          <p:spPr>
            <a:xfrm>
              <a:off x="0" y="38100"/>
              <a:ext cx="4274726" cy="159037"/>
            </a:xfrm>
            <a:prstGeom prst="rect">
              <a:avLst/>
            </a:prstGeom>
          </p:spPr>
          <p:txBody>
            <a:bodyPr lIns="50800" tIns="50800" rIns="50800" bIns="50800" rtlCol="0" anchor="ctr"/>
            <a:lstStyle/>
            <a:p>
              <a:pPr marL="0" lvl="0" indent="0" algn="ctr">
                <a:lnSpc>
                  <a:spcPts val="1619"/>
                </a:lnSpc>
              </a:pPr>
              <a:endParaRPr/>
            </a:p>
          </p:txBody>
        </p:sp>
      </p:grpSp>
      <p:sp>
        <p:nvSpPr>
          <p:cNvPr id="12" name="TextBox 12"/>
          <p:cNvSpPr txBox="1"/>
          <p:nvPr/>
        </p:nvSpPr>
        <p:spPr>
          <a:xfrm>
            <a:off x="1157857"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Background of the study</a:t>
            </a:r>
          </a:p>
        </p:txBody>
      </p:sp>
      <p:sp>
        <p:nvSpPr>
          <p:cNvPr id="13" name="TextBox 13"/>
          <p:cNvSpPr txBox="1"/>
          <p:nvPr/>
        </p:nvSpPr>
        <p:spPr>
          <a:xfrm>
            <a:off x="3358755"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Problem Statement</a:t>
            </a:r>
          </a:p>
        </p:txBody>
      </p:sp>
      <p:sp>
        <p:nvSpPr>
          <p:cNvPr id="14" name="TextBox 14"/>
          <p:cNvSpPr txBox="1"/>
          <p:nvPr/>
        </p:nvSpPr>
        <p:spPr>
          <a:xfrm>
            <a:off x="5108285"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Framework</a:t>
            </a:r>
          </a:p>
        </p:txBody>
      </p:sp>
      <p:sp>
        <p:nvSpPr>
          <p:cNvPr id="15" name="TextBox 15"/>
          <p:cNvSpPr txBox="1"/>
          <p:nvPr/>
        </p:nvSpPr>
        <p:spPr>
          <a:xfrm>
            <a:off x="6552810"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Methodology</a:t>
            </a:r>
          </a:p>
        </p:txBody>
      </p:sp>
      <p:sp>
        <p:nvSpPr>
          <p:cNvPr id="16" name="TextBox 16"/>
          <p:cNvSpPr txBox="1"/>
          <p:nvPr/>
        </p:nvSpPr>
        <p:spPr>
          <a:xfrm>
            <a:off x="14585765" y="904812"/>
            <a:ext cx="2498812" cy="194691"/>
          </a:xfrm>
          <a:prstGeom prst="rect">
            <a:avLst/>
          </a:prstGeom>
        </p:spPr>
        <p:txBody>
          <a:bodyPr lIns="0" tIns="0" rIns="0" bIns="0" rtlCol="0" anchor="t">
            <a:spAutoFit/>
          </a:bodyPr>
          <a:lstStyle/>
          <a:p>
            <a:pPr marL="0" lvl="0" indent="0" algn="r">
              <a:lnSpc>
                <a:spcPts val="1632"/>
              </a:lnSpc>
            </a:pPr>
            <a:r>
              <a:rPr lang="en-US" sz="1200" b="1" spc="-30">
                <a:solidFill>
                  <a:srgbClr val="FFFFFF"/>
                </a:solidFill>
                <a:latin typeface="Canva Sans Bold"/>
                <a:ea typeface="Canva Sans Bold"/>
                <a:cs typeface="Canva Sans Bold"/>
                <a:sym typeface="Canva Sans Bold"/>
              </a:rPr>
              <a:t>Larana Company</a:t>
            </a:r>
          </a:p>
        </p:txBody>
      </p:sp>
      <p:grpSp>
        <p:nvGrpSpPr>
          <p:cNvPr id="17" name="Group 17"/>
          <p:cNvGrpSpPr/>
          <p:nvPr/>
        </p:nvGrpSpPr>
        <p:grpSpPr>
          <a:xfrm>
            <a:off x="1157857" y="2743404"/>
            <a:ext cx="4906026" cy="1417263"/>
            <a:chOff x="0" y="0"/>
            <a:chExt cx="1495831" cy="432119"/>
          </a:xfrm>
        </p:grpSpPr>
        <p:sp>
          <p:nvSpPr>
            <p:cNvPr id="18" name="Freeform 18"/>
            <p:cNvSpPr/>
            <p:nvPr/>
          </p:nvSpPr>
          <p:spPr>
            <a:xfrm>
              <a:off x="0" y="0"/>
              <a:ext cx="1495831" cy="432119"/>
            </a:xfrm>
            <a:custGeom>
              <a:avLst/>
              <a:gdLst/>
              <a:ahLst/>
              <a:cxnLst/>
              <a:rect l="l" t="t" r="r" b="b"/>
              <a:pathLst>
                <a:path w="1495831" h="432119">
                  <a:moveTo>
                    <a:pt x="157804" y="0"/>
                  </a:moveTo>
                  <a:lnTo>
                    <a:pt x="1338026" y="0"/>
                  </a:lnTo>
                  <a:cubicBezTo>
                    <a:pt x="1425179" y="0"/>
                    <a:pt x="1495831" y="70651"/>
                    <a:pt x="1495831" y="157804"/>
                  </a:cubicBezTo>
                  <a:lnTo>
                    <a:pt x="1495831" y="274314"/>
                  </a:lnTo>
                  <a:cubicBezTo>
                    <a:pt x="1495831" y="361467"/>
                    <a:pt x="1425179" y="432119"/>
                    <a:pt x="1338026" y="432119"/>
                  </a:cubicBezTo>
                  <a:lnTo>
                    <a:pt x="157804" y="432119"/>
                  </a:lnTo>
                  <a:cubicBezTo>
                    <a:pt x="70651" y="432119"/>
                    <a:pt x="0" y="361467"/>
                    <a:pt x="0" y="274314"/>
                  </a:cubicBezTo>
                  <a:lnTo>
                    <a:pt x="0" y="157804"/>
                  </a:lnTo>
                  <a:cubicBezTo>
                    <a:pt x="0" y="70651"/>
                    <a:pt x="70651" y="0"/>
                    <a:pt x="157804" y="0"/>
                  </a:cubicBezTo>
                  <a:close/>
                </a:path>
              </a:pathLst>
            </a:custGeom>
            <a:gradFill rotWithShape="1">
              <a:gsLst>
                <a:gs pos="0">
                  <a:srgbClr val="FFFFFF">
                    <a:alpha val="10000"/>
                  </a:srgbClr>
                </a:gs>
                <a:gs pos="100000">
                  <a:srgbClr val="FFFFFF">
                    <a:alpha val="10500"/>
                  </a:srgbClr>
                </a:gs>
              </a:gsLst>
              <a:lin ang="0"/>
            </a:gradFill>
            <a:ln w="19050" cap="rnd">
              <a:solidFill>
                <a:srgbClr val="F9F9F9"/>
              </a:solidFill>
              <a:prstDash val="solid"/>
              <a:round/>
            </a:ln>
          </p:spPr>
          <p:txBody>
            <a:bodyPr/>
            <a:lstStyle/>
            <a:p>
              <a:endParaRPr lang="en-US"/>
            </a:p>
          </p:txBody>
        </p:sp>
        <p:sp>
          <p:nvSpPr>
            <p:cNvPr id="19" name="TextBox 19"/>
            <p:cNvSpPr txBox="1"/>
            <p:nvPr/>
          </p:nvSpPr>
          <p:spPr>
            <a:xfrm>
              <a:off x="0" y="-38100"/>
              <a:ext cx="1495831" cy="470219"/>
            </a:xfrm>
            <a:prstGeom prst="rect">
              <a:avLst/>
            </a:prstGeom>
          </p:spPr>
          <p:txBody>
            <a:bodyPr lIns="50800" tIns="50800" rIns="50800" bIns="50800" rtlCol="0" anchor="ctr"/>
            <a:lstStyle/>
            <a:p>
              <a:pPr marL="0" lvl="0" indent="0" algn="ctr">
                <a:lnSpc>
                  <a:spcPts val="2659"/>
                </a:lnSpc>
              </a:pPr>
              <a:endParaRPr/>
            </a:p>
          </p:txBody>
        </p:sp>
      </p:grpSp>
      <p:grpSp>
        <p:nvGrpSpPr>
          <p:cNvPr id="20" name="Group 20"/>
          <p:cNvGrpSpPr/>
          <p:nvPr/>
        </p:nvGrpSpPr>
        <p:grpSpPr>
          <a:xfrm>
            <a:off x="7257875" y="6204780"/>
            <a:ext cx="4906026" cy="1417263"/>
            <a:chOff x="0" y="0"/>
            <a:chExt cx="1495831" cy="432119"/>
          </a:xfrm>
        </p:grpSpPr>
        <p:sp>
          <p:nvSpPr>
            <p:cNvPr id="21" name="Freeform 21"/>
            <p:cNvSpPr/>
            <p:nvPr/>
          </p:nvSpPr>
          <p:spPr>
            <a:xfrm>
              <a:off x="0" y="0"/>
              <a:ext cx="1495831" cy="432119"/>
            </a:xfrm>
            <a:custGeom>
              <a:avLst/>
              <a:gdLst/>
              <a:ahLst/>
              <a:cxnLst/>
              <a:rect l="l" t="t" r="r" b="b"/>
              <a:pathLst>
                <a:path w="1495831" h="432119">
                  <a:moveTo>
                    <a:pt x="157804" y="0"/>
                  </a:moveTo>
                  <a:lnTo>
                    <a:pt x="1338026" y="0"/>
                  </a:lnTo>
                  <a:cubicBezTo>
                    <a:pt x="1425179" y="0"/>
                    <a:pt x="1495831" y="70651"/>
                    <a:pt x="1495831" y="157804"/>
                  </a:cubicBezTo>
                  <a:lnTo>
                    <a:pt x="1495831" y="274314"/>
                  </a:lnTo>
                  <a:cubicBezTo>
                    <a:pt x="1495831" y="361467"/>
                    <a:pt x="1425179" y="432119"/>
                    <a:pt x="1338026" y="432119"/>
                  </a:cubicBezTo>
                  <a:lnTo>
                    <a:pt x="157804" y="432119"/>
                  </a:lnTo>
                  <a:cubicBezTo>
                    <a:pt x="70651" y="432119"/>
                    <a:pt x="0" y="361467"/>
                    <a:pt x="0" y="274314"/>
                  </a:cubicBezTo>
                  <a:lnTo>
                    <a:pt x="0" y="157804"/>
                  </a:lnTo>
                  <a:cubicBezTo>
                    <a:pt x="0" y="70651"/>
                    <a:pt x="70651" y="0"/>
                    <a:pt x="157804" y="0"/>
                  </a:cubicBezTo>
                  <a:close/>
                </a:path>
              </a:pathLst>
            </a:custGeom>
            <a:gradFill rotWithShape="1">
              <a:gsLst>
                <a:gs pos="0">
                  <a:srgbClr val="FFFFFF">
                    <a:alpha val="10000"/>
                  </a:srgbClr>
                </a:gs>
                <a:gs pos="100000">
                  <a:srgbClr val="FFFFFF">
                    <a:alpha val="10500"/>
                  </a:srgbClr>
                </a:gs>
              </a:gsLst>
              <a:lin ang="0"/>
            </a:gradFill>
            <a:ln w="19050" cap="rnd">
              <a:solidFill>
                <a:srgbClr val="F9F9F9"/>
              </a:solidFill>
              <a:prstDash val="solid"/>
              <a:round/>
            </a:ln>
          </p:spPr>
          <p:txBody>
            <a:bodyPr/>
            <a:lstStyle/>
            <a:p>
              <a:endParaRPr lang="en-US"/>
            </a:p>
          </p:txBody>
        </p:sp>
        <p:sp>
          <p:nvSpPr>
            <p:cNvPr id="22" name="TextBox 22"/>
            <p:cNvSpPr txBox="1"/>
            <p:nvPr/>
          </p:nvSpPr>
          <p:spPr>
            <a:xfrm>
              <a:off x="0" y="-38100"/>
              <a:ext cx="1495831" cy="47021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3" name="Group 23"/>
          <p:cNvGrpSpPr/>
          <p:nvPr/>
        </p:nvGrpSpPr>
        <p:grpSpPr>
          <a:xfrm>
            <a:off x="1157857" y="4396992"/>
            <a:ext cx="4906026" cy="1417263"/>
            <a:chOff x="0" y="0"/>
            <a:chExt cx="1495831" cy="432119"/>
          </a:xfrm>
        </p:grpSpPr>
        <p:sp>
          <p:nvSpPr>
            <p:cNvPr id="24" name="Freeform 24"/>
            <p:cNvSpPr/>
            <p:nvPr/>
          </p:nvSpPr>
          <p:spPr>
            <a:xfrm>
              <a:off x="0" y="0"/>
              <a:ext cx="1495831" cy="432119"/>
            </a:xfrm>
            <a:custGeom>
              <a:avLst/>
              <a:gdLst/>
              <a:ahLst/>
              <a:cxnLst/>
              <a:rect l="l" t="t" r="r" b="b"/>
              <a:pathLst>
                <a:path w="1495831" h="432119">
                  <a:moveTo>
                    <a:pt x="157804" y="0"/>
                  </a:moveTo>
                  <a:lnTo>
                    <a:pt x="1338026" y="0"/>
                  </a:lnTo>
                  <a:cubicBezTo>
                    <a:pt x="1425179" y="0"/>
                    <a:pt x="1495831" y="70651"/>
                    <a:pt x="1495831" y="157804"/>
                  </a:cubicBezTo>
                  <a:lnTo>
                    <a:pt x="1495831" y="274314"/>
                  </a:lnTo>
                  <a:cubicBezTo>
                    <a:pt x="1495831" y="361467"/>
                    <a:pt x="1425179" y="432119"/>
                    <a:pt x="1338026" y="432119"/>
                  </a:cubicBezTo>
                  <a:lnTo>
                    <a:pt x="157804" y="432119"/>
                  </a:lnTo>
                  <a:cubicBezTo>
                    <a:pt x="70651" y="432119"/>
                    <a:pt x="0" y="361467"/>
                    <a:pt x="0" y="274314"/>
                  </a:cubicBezTo>
                  <a:lnTo>
                    <a:pt x="0" y="157804"/>
                  </a:lnTo>
                  <a:cubicBezTo>
                    <a:pt x="0" y="70651"/>
                    <a:pt x="70651" y="0"/>
                    <a:pt x="157804" y="0"/>
                  </a:cubicBezTo>
                  <a:close/>
                </a:path>
              </a:pathLst>
            </a:custGeom>
            <a:gradFill rotWithShape="1">
              <a:gsLst>
                <a:gs pos="0">
                  <a:srgbClr val="FFFFFF">
                    <a:alpha val="10000"/>
                  </a:srgbClr>
                </a:gs>
                <a:gs pos="100000">
                  <a:srgbClr val="FFFFFF">
                    <a:alpha val="10500"/>
                  </a:srgbClr>
                </a:gs>
              </a:gsLst>
              <a:lin ang="0"/>
            </a:gradFill>
            <a:ln w="19050" cap="rnd">
              <a:solidFill>
                <a:srgbClr val="F9F9F9"/>
              </a:solidFill>
              <a:prstDash val="solid"/>
              <a:round/>
            </a:ln>
          </p:spPr>
          <p:txBody>
            <a:bodyPr/>
            <a:lstStyle/>
            <a:p>
              <a:endParaRPr lang="en-US"/>
            </a:p>
          </p:txBody>
        </p:sp>
        <p:sp>
          <p:nvSpPr>
            <p:cNvPr id="25" name="TextBox 25"/>
            <p:cNvSpPr txBox="1"/>
            <p:nvPr/>
          </p:nvSpPr>
          <p:spPr>
            <a:xfrm>
              <a:off x="0" y="-38100"/>
              <a:ext cx="1495831" cy="47021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6" name="Group 26"/>
          <p:cNvGrpSpPr/>
          <p:nvPr/>
        </p:nvGrpSpPr>
        <p:grpSpPr>
          <a:xfrm>
            <a:off x="7257875" y="7858368"/>
            <a:ext cx="4906026" cy="1417263"/>
            <a:chOff x="0" y="0"/>
            <a:chExt cx="1495831" cy="432119"/>
          </a:xfrm>
        </p:grpSpPr>
        <p:sp>
          <p:nvSpPr>
            <p:cNvPr id="27" name="Freeform 27"/>
            <p:cNvSpPr/>
            <p:nvPr/>
          </p:nvSpPr>
          <p:spPr>
            <a:xfrm>
              <a:off x="0" y="0"/>
              <a:ext cx="1495831" cy="432119"/>
            </a:xfrm>
            <a:custGeom>
              <a:avLst/>
              <a:gdLst/>
              <a:ahLst/>
              <a:cxnLst/>
              <a:rect l="l" t="t" r="r" b="b"/>
              <a:pathLst>
                <a:path w="1495831" h="432119">
                  <a:moveTo>
                    <a:pt x="157804" y="0"/>
                  </a:moveTo>
                  <a:lnTo>
                    <a:pt x="1338026" y="0"/>
                  </a:lnTo>
                  <a:cubicBezTo>
                    <a:pt x="1425179" y="0"/>
                    <a:pt x="1495831" y="70651"/>
                    <a:pt x="1495831" y="157804"/>
                  </a:cubicBezTo>
                  <a:lnTo>
                    <a:pt x="1495831" y="274314"/>
                  </a:lnTo>
                  <a:cubicBezTo>
                    <a:pt x="1495831" y="361467"/>
                    <a:pt x="1425179" y="432119"/>
                    <a:pt x="1338026" y="432119"/>
                  </a:cubicBezTo>
                  <a:lnTo>
                    <a:pt x="157804" y="432119"/>
                  </a:lnTo>
                  <a:cubicBezTo>
                    <a:pt x="70651" y="432119"/>
                    <a:pt x="0" y="361467"/>
                    <a:pt x="0" y="274314"/>
                  </a:cubicBezTo>
                  <a:lnTo>
                    <a:pt x="0" y="157804"/>
                  </a:lnTo>
                  <a:cubicBezTo>
                    <a:pt x="0" y="70651"/>
                    <a:pt x="70651" y="0"/>
                    <a:pt x="157804" y="0"/>
                  </a:cubicBezTo>
                  <a:close/>
                </a:path>
              </a:pathLst>
            </a:custGeom>
            <a:gradFill rotWithShape="1">
              <a:gsLst>
                <a:gs pos="0">
                  <a:srgbClr val="FFFFFF">
                    <a:alpha val="10000"/>
                  </a:srgbClr>
                </a:gs>
                <a:gs pos="100000">
                  <a:srgbClr val="FFFFFF">
                    <a:alpha val="10500"/>
                  </a:srgbClr>
                </a:gs>
              </a:gsLst>
              <a:lin ang="0"/>
            </a:gradFill>
            <a:ln w="19050" cap="rnd">
              <a:solidFill>
                <a:srgbClr val="F9F9F9"/>
              </a:solidFill>
              <a:prstDash val="solid"/>
              <a:round/>
            </a:ln>
          </p:spPr>
          <p:txBody>
            <a:bodyPr/>
            <a:lstStyle/>
            <a:p>
              <a:endParaRPr lang="en-US"/>
            </a:p>
          </p:txBody>
        </p:sp>
        <p:sp>
          <p:nvSpPr>
            <p:cNvPr id="28" name="TextBox 28"/>
            <p:cNvSpPr txBox="1"/>
            <p:nvPr/>
          </p:nvSpPr>
          <p:spPr>
            <a:xfrm>
              <a:off x="0" y="-38100"/>
              <a:ext cx="1495831" cy="47021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9" name="Group 29"/>
          <p:cNvGrpSpPr/>
          <p:nvPr/>
        </p:nvGrpSpPr>
        <p:grpSpPr>
          <a:xfrm>
            <a:off x="1289438" y="2869907"/>
            <a:ext cx="1148073" cy="1137933"/>
            <a:chOff x="0" y="0"/>
            <a:chExt cx="997623" cy="988812"/>
          </a:xfrm>
        </p:grpSpPr>
        <p:sp>
          <p:nvSpPr>
            <p:cNvPr id="30" name="Freeform 30"/>
            <p:cNvSpPr/>
            <p:nvPr/>
          </p:nvSpPr>
          <p:spPr>
            <a:xfrm>
              <a:off x="0" y="0"/>
              <a:ext cx="997623" cy="988812"/>
            </a:xfrm>
            <a:custGeom>
              <a:avLst/>
              <a:gdLst/>
              <a:ahLst/>
              <a:cxnLst/>
              <a:rect l="l" t="t" r="r" b="b"/>
              <a:pathLst>
                <a:path w="997623" h="988812">
                  <a:moveTo>
                    <a:pt x="494406" y="0"/>
                  </a:moveTo>
                  <a:lnTo>
                    <a:pt x="503217" y="0"/>
                  </a:lnTo>
                  <a:cubicBezTo>
                    <a:pt x="776270" y="0"/>
                    <a:pt x="997623" y="221353"/>
                    <a:pt x="997623" y="494406"/>
                  </a:cubicBezTo>
                  <a:lnTo>
                    <a:pt x="997623" y="494406"/>
                  </a:lnTo>
                  <a:cubicBezTo>
                    <a:pt x="997623" y="625531"/>
                    <a:pt x="945534" y="751285"/>
                    <a:pt x="852815" y="844004"/>
                  </a:cubicBezTo>
                  <a:cubicBezTo>
                    <a:pt x="760096" y="936723"/>
                    <a:pt x="634342" y="988812"/>
                    <a:pt x="503217" y="988812"/>
                  </a:cubicBezTo>
                  <a:lnTo>
                    <a:pt x="494406" y="988812"/>
                  </a:lnTo>
                  <a:cubicBezTo>
                    <a:pt x="363281" y="988812"/>
                    <a:pt x="237527" y="936723"/>
                    <a:pt x="144808" y="844004"/>
                  </a:cubicBezTo>
                  <a:cubicBezTo>
                    <a:pt x="52089" y="751285"/>
                    <a:pt x="0" y="625531"/>
                    <a:pt x="0" y="494406"/>
                  </a:cubicBezTo>
                  <a:lnTo>
                    <a:pt x="0" y="494406"/>
                  </a:lnTo>
                  <a:cubicBezTo>
                    <a:pt x="0" y="363281"/>
                    <a:pt x="52089" y="237527"/>
                    <a:pt x="144808" y="144808"/>
                  </a:cubicBezTo>
                  <a:cubicBezTo>
                    <a:pt x="237527" y="52089"/>
                    <a:pt x="363281" y="0"/>
                    <a:pt x="494406" y="0"/>
                  </a:cubicBezTo>
                  <a:close/>
                </a:path>
              </a:pathLst>
            </a:custGeom>
            <a:solidFill>
              <a:srgbClr val="2ABF00"/>
            </a:solidFill>
            <a:ln w="19050" cap="rnd">
              <a:solidFill>
                <a:srgbClr val="F9F9F9"/>
              </a:solidFill>
              <a:prstDash val="solid"/>
              <a:round/>
            </a:ln>
          </p:spPr>
          <p:txBody>
            <a:bodyPr/>
            <a:lstStyle/>
            <a:p>
              <a:endParaRPr lang="en-US"/>
            </a:p>
          </p:txBody>
        </p:sp>
        <p:sp>
          <p:nvSpPr>
            <p:cNvPr id="31" name="TextBox 31"/>
            <p:cNvSpPr txBox="1"/>
            <p:nvPr/>
          </p:nvSpPr>
          <p:spPr>
            <a:xfrm>
              <a:off x="0" y="-38100"/>
              <a:ext cx="997623" cy="102691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32" name="Group 32"/>
          <p:cNvGrpSpPr/>
          <p:nvPr/>
        </p:nvGrpSpPr>
        <p:grpSpPr>
          <a:xfrm>
            <a:off x="7389456" y="6331283"/>
            <a:ext cx="1148073" cy="1137933"/>
            <a:chOff x="0" y="0"/>
            <a:chExt cx="997623" cy="988812"/>
          </a:xfrm>
        </p:grpSpPr>
        <p:sp>
          <p:nvSpPr>
            <p:cNvPr id="33" name="Freeform 33"/>
            <p:cNvSpPr/>
            <p:nvPr/>
          </p:nvSpPr>
          <p:spPr>
            <a:xfrm>
              <a:off x="0" y="0"/>
              <a:ext cx="997623" cy="988812"/>
            </a:xfrm>
            <a:custGeom>
              <a:avLst/>
              <a:gdLst/>
              <a:ahLst/>
              <a:cxnLst/>
              <a:rect l="l" t="t" r="r" b="b"/>
              <a:pathLst>
                <a:path w="997623" h="988812">
                  <a:moveTo>
                    <a:pt x="494406" y="0"/>
                  </a:moveTo>
                  <a:lnTo>
                    <a:pt x="503217" y="0"/>
                  </a:lnTo>
                  <a:cubicBezTo>
                    <a:pt x="776270" y="0"/>
                    <a:pt x="997623" y="221353"/>
                    <a:pt x="997623" y="494406"/>
                  </a:cubicBezTo>
                  <a:lnTo>
                    <a:pt x="997623" y="494406"/>
                  </a:lnTo>
                  <a:cubicBezTo>
                    <a:pt x="997623" y="625531"/>
                    <a:pt x="945534" y="751285"/>
                    <a:pt x="852815" y="844004"/>
                  </a:cubicBezTo>
                  <a:cubicBezTo>
                    <a:pt x="760096" y="936723"/>
                    <a:pt x="634342" y="988812"/>
                    <a:pt x="503217" y="988812"/>
                  </a:cubicBezTo>
                  <a:lnTo>
                    <a:pt x="494406" y="988812"/>
                  </a:lnTo>
                  <a:cubicBezTo>
                    <a:pt x="363281" y="988812"/>
                    <a:pt x="237527" y="936723"/>
                    <a:pt x="144808" y="844004"/>
                  </a:cubicBezTo>
                  <a:cubicBezTo>
                    <a:pt x="52089" y="751285"/>
                    <a:pt x="0" y="625531"/>
                    <a:pt x="0" y="494406"/>
                  </a:cubicBezTo>
                  <a:lnTo>
                    <a:pt x="0" y="494406"/>
                  </a:lnTo>
                  <a:cubicBezTo>
                    <a:pt x="0" y="363281"/>
                    <a:pt x="52089" y="237527"/>
                    <a:pt x="144808" y="144808"/>
                  </a:cubicBezTo>
                  <a:cubicBezTo>
                    <a:pt x="237527" y="52089"/>
                    <a:pt x="363281" y="0"/>
                    <a:pt x="494406" y="0"/>
                  </a:cubicBezTo>
                  <a:close/>
                </a:path>
              </a:pathLst>
            </a:custGeom>
            <a:solidFill>
              <a:srgbClr val="2ABF00"/>
            </a:solidFill>
            <a:ln w="19050" cap="rnd">
              <a:solidFill>
                <a:srgbClr val="F9F9F9"/>
              </a:solidFill>
              <a:prstDash val="solid"/>
              <a:round/>
            </a:ln>
          </p:spPr>
          <p:txBody>
            <a:bodyPr/>
            <a:lstStyle/>
            <a:p>
              <a:endParaRPr lang="en-US"/>
            </a:p>
          </p:txBody>
        </p:sp>
        <p:sp>
          <p:nvSpPr>
            <p:cNvPr id="34" name="TextBox 34"/>
            <p:cNvSpPr txBox="1"/>
            <p:nvPr/>
          </p:nvSpPr>
          <p:spPr>
            <a:xfrm>
              <a:off x="0" y="-38100"/>
              <a:ext cx="997623" cy="102691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35" name="Group 35"/>
          <p:cNvGrpSpPr/>
          <p:nvPr/>
        </p:nvGrpSpPr>
        <p:grpSpPr>
          <a:xfrm>
            <a:off x="1289438" y="4523495"/>
            <a:ext cx="1148073" cy="1137933"/>
            <a:chOff x="0" y="0"/>
            <a:chExt cx="997623" cy="988812"/>
          </a:xfrm>
        </p:grpSpPr>
        <p:sp>
          <p:nvSpPr>
            <p:cNvPr id="36" name="Freeform 36"/>
            <p:cNvSpPr/>
            <p:nvPr/>
          </p:nvSpPr>
          <p:spPr>
            <a:xfrm>
              <a:off x="0" y="0"/>
              <a:ext cx="997623" cy="988812"/>
            </a:xfrm>
            <a:custGeom>
              <a:avLst/>
              <a:gdLst/>
              <a:ahLst/>
              <a:cxnLst/>
              <a:rect l="l" t="t" r="r" b="b"/>
              <a:pathLst>
                <a:path w="997623" h="988812">
                  <a:moveTo>
                    <a:pt x="494406" y="0"/>
                  </a:moveTo>
                  <a:lnTo>
                    <a:pt x="503217" y="0"/>
                  </a:lnTo>
                  <a:cubicBezTo>
                    <a:pt x="776270" y="0"/>
                    <a:pt x="997623" y="221353"/>
                    <a:pt x="997623" y="494406"/>
                  </a:cubicBezTo>
                  <a:lnTo>
                    <a:pt x="997623" y="494406"/>
                  </a:lnTo>
                  <a:cubicBezTo>
                    <a:pt x="997623" y="625531"/>
                    <a:pt x="945534" y="751285"/>
                    <a:pt x="852815" y="844004"/>
                  </a:cubicBezTo>
                  <a:cubicBezTo>
                    <a:pt x="760096" y="936723"/>
                    <a:pt x="634342" y="988812"/>
                    <a:pt x="503217" y="988812"/>
                  </a:cubicBezTo>
                  <a:lnTo>
                    <a:pt x="494406" y="988812"/>
                  </a:lnTo>
                  <a:cubicBezTo>
                    <a:pt x="363281" y="988812"/>
                    <a:pt x="237527" y="936723"/>
                    <a:pt x="144808" y="844004"/>
                  </a:cubicBezTo>
                  <a:cubicBezTo>
                    <a:pt x="52089" y="751285"/>
                    <a:pt x="0" y="625531"/>
                    <a:pt x="0" y="494406"/>
                  </a:cubicBezTo>
                  <a:lnTo>
                    <a:pt x="0" y="494406"/>
                  </a:lnTo>
                  <a:cubicBezTo>
                    <a:pt x="0" y="363281"/>
                    <a:pt x="52089" y="237527"/>
                    <a:pt x="144808" y="144808"/>
                  </a:cubicBezTo>
                  <a:cubicBezTo>
                    <a:pt x="237527" y="52089"/>
                    <a:pt x="363281" y="0"/>
                    <a:pt x="494406" y="0"/>
                  </a:cubicBezTo>
                  <a:close/>
                </a:path>
              </a:pathLst>
            </a:custGeom>
            <a:solidFill>
              <a:srgbClr val="FFFFFF"/>
            </a:solidFill>
            <a:ln w="19050" cap="rnd">
              <a:solidFill>
                <a:srgbClr val="F9F9F9"/>
              </a:solidFill>
              <a:prstDash val="solid"/>
              <a:round/>
            </a:ln>
          </p:spPr>
          <p:txBody>
            <a:bodyPr/>
            <a:lstStyle/>
            <a:p>
              <a:endParaRPr lang="en-US"/>
            </a:p>
          </p:txBody>
        </p:sp>
        <p:sp>
          <p:nvSpPr>
            <p:cNvPr id="37" name="TextBox 37"/>
            <p:cNvSpPr txBox="1"/>
            <p:nvPr/>
          </p:nvSpPr>
          <p:spPr>
            <a:xfrm>
              <a:off x="0" y="-38100"/>
              <a:ext cx="997623" cy="102691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38" name="Group 38"/>
          <p:cNvGrpSpPr/>
          <p:nvPr/>
        </p:nvGrpSpPr>
        <p:grpSpPr>
          <a:xfrm>
            <a:off x="7389456" y="7984871"/>
            <a:ext cx="1148073" cy="1137933"/>
            <a:chOff x="0" y="0"/>
            <a:chExt cx="997623" cy="988812"/>
          </a:xfrm>
        </p:grpSpPr>
        <p:sp>
          <p:nvSpPr>
            <p:cNvPr id="39" name="Freeform 39"/>
            <p:cNvSpPr/>
            <p:nvPr/>
          </p:nvSpPr>
          <p:spPr>
            <a:xfrm>
              <a:off x="0" y="0"/>
              <a:ext cx="997623" cy="988812"/>
            </a:xfrm>
            <a:custGeom>
              <a:avLst/>
              <a:gdLst/>
              <a:ahLst/>
              <a:cxnLst/>
              <a:rect l="l" t="t" r="r" b="b"/>
              <a:pathLst>
                <a:path w="997623" h="988812">
                  <a:moveTo>
                    <a:pt x="494406" y="0"/>
                  </a:moveTo>
                  <a:lnTo>
                    <a:pt x="503217" y="0"/>
                  </a:lnTo>
                  <a:cubicBezTo>
                    <a:pt x="776270" y="0"/>
                    <a:pt x="997623" y="221353"/>
                    <a:pt x="997623" y="494406"/>
                  </a:cubicBezTo>
                  <a:lnTo>
                    <a:pt x="997623" y="494406"/>
                  </a:lnTo>
                  <a:cubicBezTo>
                    <a:pt x="997623" y="625531"/>
                    <a:pt x="945534" y="751285"/>
                    <a:pt x="852815" y="844004"/>
                  </a:cubicBezTo>
                  <a:cubicBezTo>
                    <a:pt x="760096" y="936723"/>
                    <a:pt x="634342" y="988812"/>
                    <a:pt x="503217" y="988812"/>
                  </a:cubicBezTo>
                  <a:lnTo>
                    <a:pt x="494406" y="988812"/>
                  </a:lnTo>
                  <a:cubicBezTo>
                    <a:pt x="363281" y="988812"/>
                    <a:pt x="237527" y="936723"/>
                    <a:pt x="144808" y="844004"/>
                  </a:cubicBezTo>
                  <a:cubicBezTo>
                    <a:pt x="52089" y="751285"/>
                    <a:pt x="0" y="625531"/>
                    <a:pt x="0" y="494406"/>
                  </a:cubicBezTo>
                  <a:lnTo>
                    <a:pt x="0" y="494406"/>
                  </a:lnTo>
                  <a:cubicBezTo>
                    <a:pt x="0" y="363281"/>
                    <a:pt x="52089" y="237527"/>
                    <a:pt x="144808" y="144808"/>
                  </a:cubicBezTo>
                  <a:cubicBezTo>
                    <a:pt x="237527" y="52089"/>
                    <a:pt x="363281" y="0"/>
                    <a:pt x="494406" y="0"/>
                  </a:cubicBezTo>
                  <a:close/>
                </a:path>
              </a:pathLst>
            </a:custGeom>
            <a:solidFill>
              <a:srgbClr val="FFFFFF"/>
            </a:solidFill>
            <a:ln w="19050" cap="rnd">
              <a:solidFill>
                <a:srgbClr val="F9F9F9"/>
              </a:solidFill>
              <a:prstDash val="solid"/>
              <a:round/>
            </a:ln>
          </p:spPr>
          <p:txBody>
            <a:bodyPr/>
            <a:lstStyle/>
            <a:p>
              <a:endParaRPr lang="en-US"/>
            </a:p>
          </p:txBody>
        </p:sp>
        <p:sp>
          <p:nvSpPr>
            <p:cNvPr id="40" name="TextBox 40"/>
            <p:cNvSpPr txBox="1"/>
            <p:nvPr/>
          </p:nvSpPr>
          <p:spPr>
            <a:xfrm>
              <a:off x="0" y="-38100"/>
              <a:ext cx="997623" cy="102691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41" name="TextBox 41"/>
          <p:cNvSpPr txBox="1"/>
          <p:nvPr/>
        </p:nvSpPr>
        <p:spPr>
          <a:xfrm>
            <a:off x="2914691" y="3175639"/>
            <a:ext cx="2438347" cy="368545"/>
          </a:xfrm>
          <a:prstGeom prst="rect">
            <a:avLst/>
          </a:prstGeom>
        </p:spPr>
        <p:txBody>
          <a:bodyPr lIns="0" tIns="0" rIns="0" bIns="0" rtlCol="0" anchor="t">
            <a:spAutoFit/>
          </a:bodyPr>
          <a:lstStyle/>
          <a:p>
            <a:pPr marL="0" lvl="0" indent="0" algn="l">
              <a:lnSpc>
                <a:spcPts val="1406"/>
              </a:lnSpc>
            </a:pPr>
            <a:r>
              <a:rPr lang="en-US" sz="1597" spc="-79">
                <a:solidFill>
                  <a:srgbClr val="FFFFFF"/>
                </a:solidFill>
                <a:latin typeface="Pragmatica"/>
                <a:ea typeface="Pragmatica"/>
                <a:cs typeface="Pragmatica"/>
                <a:sym typeface="Pragmatica"/>
              </a:rPr>
              <a:t>Proprietary</a:t>
            </a:r>
          </a:p>
          <a:p>
            <a:pPr marL="0" lvl="0" indent="0" algn="l">
              <a:lnSpc>
                <a:spcPts val="1406"/>
              </a:lnSpc>
            </a:pPr>
            <a:r>
              <a:rPr lang="en-US" sz="1597" spc="-79">
                <a:solidFill>
                  <a:srgbClr val="FFFFFF"/>
                </a:solidFill>
                <a:latin typeface="Pragmatica"/>
                <a:ea typeface="Pragmatica"/>
                <a:cs typeface="Pragmatica"/>
                <a:sym typeface="Pragmatica"/>
              </a:rPr>
              <a:t>Heterostructure</a:t>
            </a:r>
          </a:p>
        </p:txBody>
      </p:sp>
      <p:sp>
        <p:nvSpPr>
          <p:cNvPr id="42" name="TextBox 42"/>
          <p:cNvSpPr txBox="1"/>
          <p:nvPr/>
        </p:nvSpPr>
        <p:spPr>
          <a:xfrm>
            <a:off x="9014709" y="6764391"/>
            <a:ext cx="2438347" cy="368545"/>
          </a:xfrm>
          <a:prstGeom prst="rect">
            <a:avLst/>
          </a:prstGeom>
        </p:spPr>
        <p:txBody>
          <a:bodyPr lIns="0" tIns="0" rIns="0" bIns="0" rtlCol="0" anchor="t">
            <a:spAutoFit/>
          </a:bodyPr>
          <a:lstStyle/>
          <a:p>
            <a:pPr marL="0" lvl="0" indent="0" algn="l">
              <a:lnSpc>
                <a:spcPts val="1406"/>
              </a:lnSpc>
            </a:pPr>
            <a:r>
              <a:rPr lang="en-US" sz="1597" spc="-79">
                <a:solidFill>
                  <a:srgbClr val="FFFFFF"/>
                </a:solidFill>
                <a:latin typeface="Pragmatica"/>
                <a:ea typeface="Pragmatica"/>
                <a:cs typeface="Pragmatica"/>
                <a:sym typeface="Pragmatica"/>
              </a:rPr>
              <a:t>Scalable Pilot</a:t>
            </a:r>
          </a:p>
          <a:p>
            <a:pPr marL="0" lvl="0" indent="0" algn="l">
              <a:lnSpc>
                <a:spcPts val="1406"/>
              </a:lnSpc>
            </a:pPr>
            <a:r>
              <a:rPr lang="en-US" sz="1597" spc="-79">
                <a:solidFill>
                  <a:srgbClr val="FFFFFF"/>
                </a:solidFill>
                <a:latin typeface="Pragmatica"/>
                <a:ea typeface="Pragmatica"/>
                <a:cs typeface="Pragmatica"/>
                <a:sym typeface="Pragmatica"/>
              </a:rPr>
              <a:t>Production</a:t>
            </a:r>
          </a:p>
        </p:txBody>
      </p:sp>
      <p:sp>
        <p:nvSpPr>
          <p:cNvPr id="43" name="TextBox 43"/>
          <p:cNvSpPr txBox="1"/>
          <p:nvPr/>
        </p:nvSpPr>
        <p:spPr>
          <a:xfrm>
            <a:off x="2914691" y="4956603"/>
            <a:ext cx="2942876" cy="368545"/>
          </a:xfrm>
          <a:prstGeom prst="rect">
            <a:avLst/>
          </a:prstGeom>
        </p:spPr>
        <p:txBody>
          <a:bodyPr lIns="0" tIns="0" rIns="0" bIns="0" rtlCol="0" anchor="t">
            <a:spAutoFit/>
          </a:bodyPr>
          <a:lstStyle/>
          <a:p>
            <a:pPr marL="0" lvl="0" indent="0" algn="l">
              <a:lnSpc>
                <a:spcPts val="1406"/>
              </a:lnSpc>
            </a:pPr>
            <a:r>
              <a:rPr lang="en-US" sz="1597" spc="-79">
                <a:solidFill>
                  <a:srgbClr val="FFFFFF"/>
                </a:solidFill>
                <a:latin typeface="Pragmatica"/>
                <a:ea typeface="Pragmatica"/>
                <a:cs typeface="Pragmatica"/>
                <a:sym typeface="Pragmatica"/>
              </a:rPr>
              <a:t>AI Co-Scientist</a:t>
            </a:r>
          </a:p>
          <a:p>
            <a:pPr marL="0" lvl="0" indent="0" algn="l">
              <a:lnSpc>
                <a:spcPts val="1406"/>
              </a:lnSpc>
            </a:pPr>
            <a:r>
              <a:rPr lang="en-US" sz="1597" spc="-79">
                <a:solidFill>
                  <a:srgbClr val="FFFFFF"/>
                </a:solidFill>
                <a:latin typeface="Pragmatica"/>
                <a:ea typeface="Pragmatica"/>
                <a:cs typeface="Pragmatica"/>
                <a:sym typeface="Pragmatica"/>
              </a:rPr>
              <a:t>Workflow</a:t>
            </a:r>
          </a:p>
        </p:txBody>
      </p:sp>
      <p:sp>
        <p:nvSpPr>
          <p:cNvPr id="44" name="TextBox 44"/>
          <p:cNvSpPr txBox="1"/>
          <p:nvPr/>
        </p:nvSpPr>
        <p:spPr>
          <a:xfrm>
            <a:off x="9014709" y="8417979"/>
            <a:ext cx="2438347" cy="368545"/>
          </a:xfrm>
          <a:prstGeom prst="rect">
            <a:avLst/>
          </a:prstGeom>
        </p:spPr>
        <p:txBody>
          <a:bodyPr lIns="0" tIns="0" rIns="0" bIns="0" rtlCol="0" anchor="t">
            <a:spAutoFit/>
          </a:bodyPr>
          <a:lstStyle/>
          <a:p>
            <a:pPr marL="0" lvl="0" indent="0" algn="l">
              <a:lnSpc>
                <a:spcPts val="1406"/>
              </a:lnSpc>
            </a:pPr>
            <a:r>
              <a:rPr lang="en-US" sz="1597" spc="-79">
                <a:solidFill>
                  <a:srgbClr val="FFFFFF"/>
                </a:solidFill>
                <a:latin typeface="Pragmatica"/>
                <a:ea typeface="Pragmatica"/>
                <a:cs typeface="Pragmatica"/>
                <a:sym typeface="Pragmatica"/>
              </a:rPr>
              <a:t>Eco-Friendly</a:t>
            </a:r>
          </a:p>
          <a:p>
            <a:pPr marL="0" lvl="0" indent="0" algn="l">
              <a:lnSpc>
                <a:spcPts val="1406"/>
              </a:lnSpc>
            </a:pPr>
            <a:r>
              <a:rPr lang="en-US" sz="1597" spc="-79">
                <a:solidFill>
                  <a:srgbClr val="FFFFFF"/>
                </a:solidFill>
                <a:latin typeface="Pragmatica"/>
                <a:ea typeface="Pragmatica"/>
                <a:cs typeface="Pragmatica"/>
                <a:sym typeface="Pragmatica"/>
              </a:rPr>
              <a:t>Manufacturing</a:t>
            </a:r>
          </a:p>
        </p:txBody>
      </p:sp>
      <p:grpSp>
        <p:nvGrpSpPr>
          <p:cNvPr id="45" name="Group 45"/>
          <p:cNvGrpSpPr/>
          <p:nvPr/>
        </p:nvGrpSpPr>
        <p:grpSpPr>
          <a:xfrm>
            <a:off x="6167469" y="2726074"/>
            <a:ext cx="4906026" cy="1417263"/>
            <a:chOff x="0" y="0"/>
            <a:chExt cx="1495831" cy="432119"/>
          </a:xfrm>
        </p:grpSpPr>
        <p:sp>
          <p:nvSpPr>
            <p:cNvPr id="46" name="Freeform 46"/>
            <p:cNvSpPr/>
            <p:nvPr/>
          </p:nvSpPr>
          <p:spPr>
            <a:xfrm>
              <a:off x="0" y="0"/>
              <a:ext cx="1495831" cy="432119"/>
            </a:xfrm>
            <a:custGeom>
              <a:avLst/>
              <a:gdLst/>
              <a:ahLst/>
              <a:cxnLst/>
              <a:rect l="l" t="t" r="r" b="b"/>
              <a:pathLst>
                <a:path w="1495831" h="432119">
                  <a:moveTo>
                    <a:pt x="157804" y="0"/>
                  </a:moveTo>
                  <a:lnTo>
                    <a:pt x="1338026" y="0"/>
                  </a:lnTo>
                  <a:cubicBezTo>
                    <a:pt x="1425179" y="0"/>
                    <a:pt x="1495831" y="70651"/>
                    <a:pt x="1495831" y="157804"/>
                  </a:cubicBezTo>
                  <a:lnTo>
                    <a:pt x="1495831" y="274314"/>
                  </a:lnTo>
                  <a:cubicBezTo>
                    <a:pt x="1495831" y="361467"/>
                    <a:pt x="1425179" y="432119"/>
                    <a:pt x="1338026" y="432119"/>
                  </a:cubicBezTo>
                  <a:lnTo>
                    <a:pt x="157804" y="432119"/>
                  </a:lnTo>
                  <a:cubicBezTo>
                    <a:pt x="70651" y="432119"/>
                    <a:pt x="0" y="361467"/>
                    <a:pt x="0" y="274314"/>
                  </a:cubicBezTo>
                  <a:lnTo>
                    <a:pt x="0" y="157804"/>
                  </a:lnTo>
                  <a:cubicBezTo>
                    <a:pt x="0" y="70651"/>
                    <a:pt x="70651" y="0"/>
                    <a:pt x="157804" y="0"/>
                  </a:cubicBezTo>
                  <a:close/>
                </a:path>
              </a:pathLst>
            </a:custGeom>
            <a:gradFill rotWithShape="1">
              <a:gsLst>
                <a:gs pos="0">
                  <a:srgbClr val="FFFFFF">
                    <a:alpha val="10000"/>
                  </a:srgbClr>
                </a:gs>
                <a:gs pos="100000">
                  <a:srgbClr val="FFFFFF">
                    <a:alpha val="10500"/>
                  </a:srgbClr>
                </a:gs>
              </a:gsLst>
              <a:lin ang="0"/>
            </a:gradFill>
            <a:ln w="19050" cap="rnd">
              <a:solidFill>
                <a:srgbClr val="F9F9F9"/>
              </a:solidFill>
              <a:prstDash val="solid"/>
              <a:round/>
            </a:ln>
          </p:spPr>
          <p:txBody>
            <a:bodyPr/>
            <a:lstStyle/>
            <a:p>
              <a:endParaRPr lang="en-US"/>
            </a:p>
          </p:txBody>
        </p:sp>
        <p:sp>
          <p:nvSpPr>
            <p:cNvPr id="47" name="TextBox 47"/>
            <p:cNvSpPr txBox="1"/>
            <p:nvPr/>
          </p:nvSpPr>
          <p:spPr>
            <a:xfrm>
              <a:off x="0" y="-38100"/>
              <a:ext cx="1495831" cy="47021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48" name="Group 48"/>
          <p:cNvGrpSpPr/>
          <p:nvPr/>
        </p:nvGrpSpPr>
        <p:grpSpPr>
          <a:xfrm>
            <a:off x="12353274" y="6187449"/>
            <a:ext cx="4906026" cy="1417263"/>
            <a:chOff x="0" y="0"/>
            <a:chExt cx="1495831" cy="432119"/>
          </a:xfrm>
        </p:grpSpPr>
        <p:sp>
          <p:nvSpPr>
            <p:cNvPr id="49" name="Freeform 49"/>
            <p:cNvSpPr/>
            <p:nvPr/>
          </p:nvSpPr>
          <p:spPr>
            <a:xfrm>
              <a:off x="0" y="0"/>
              <a:ext cx="1495831" cy="432119"/>
            </a:xfrm>
            <a:custGeom>
              <a:avLst/>
              <a:gdLst/>
              <a:ahLst/>
              <a:cxnLst/>
              <a:rect l="l" t="t" r="r" b="b"/>
              <a:pathLst>
                <a:path w="1495831" h="432119">
                  <a:moveTo>
                    <a:pt x="157804" y="0"/>
                  </a:moveTo>
                  <a:lnTo>
                    <a:pt x="1338026" y="0"/>
                  </a:lnTo>
                  <a:cubicBezTo>
                    <a:pt x="1425179" y="0"/>
                    <a:pt x="1495831" y="70651"/>
                    <a:pt x="1495831" y="157804"/>
                  </a:cubicBezTo>
                  <a:lnTo>
                    <a:pt x="1495831" y="274314"/>
                  </a:lnTo>
                  <a:cubicBezTo>
                    <a:pt x="1495831" y="361467"/>
                    <a:pt x="1425179" y="432119"/>
                    <a:pt x="1338026" y="432119"/>
                  </a:cubicBezTo>
                  <a:lnTo>
                    <a:pt x="157804" y="432119"/>
                  </a:lnTo>
                  <a:cubicBezTo>
                    <a:pt x="70651" y="432119"/>
                    <a:pt x="0" y="361467"/>
                    <a:pt x="0" y="274314"/>
                  </a:cubicBezTo>
                  <a:lnTo>
                    <a:pt x="0" y="157804"/>
                  </a:lnTo>
                  <a:cubicBezTo>
                    <a:pt x="0" y="70651"/>
                    <a:pt x="70651" y="0"/>
                    <a:pt x="157804" y="0"/>
                  </a:cubicBezTo>
                  <a:close/>
                </a:path>
              </a:pathLst>
            </a:custGeom>
            <a:gradFill rotWithShape="1">
              <a:gsLst>
                <a:gs pos="0">
                  <a:srgbClr val="FFFFFF">
                    <a:alpha val="10000"/>
                  </a:srgbClr>
                </a:gs>
                <a:gs pos="100000">
                  <a:srgbClr val="FFFFFF">
                    <a:alpha val="10500"/>
                  </a:srgbClr>
                </a:gs>
              </a:gsLst>
              <a:lin ang="0"/>
            </a:gradFill>
            <a:ln w="19050" cap="rnd">
              <a:solidFill>
                <a:srgbClr val="F9F9F9"/>
              </a:solidFill>
              <a:prstDash val="solid"/>
              <a:round/>
            </a:ln>
          </p:spPr>
          <p:txBody>
            <a:bodyPr/>
            <a:lstStyle/>
            <a:p>
              <a:endParaRPr lang="en-US"/>
            </a:p>
          </p:txBody>
        </p:sp>
        <p:sp>
          <p:nvSpPr>
            <p:cNvPr id="50" name="TextBox 50"/>
            <p:cNvSpPr txBox="1"/>
            <p:nvPr/>
          </p:nvSpPr>
          <p:spPr>
            <a:xfrm>
              <a:off x="0" y="-38100"/>
              <a:ext cx="1495831" cy="47021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1" name="Group 51"/>
          <p:cNvGrpSpPr/>
          <p:nvPr/>
        </p:nvGrpSpPr>
        <p:grpSpPr>
          <a:xfrm>
            <a:off x="6299049" y="2852577"/>
            <a:ext cx="1148073" cy="1137933"/>
            <a:chOff x="0" y="0"/>
            <a:chExt cx="997623" cy="988812"/>
          </a:xfrm>
        </p:grpSpPr>
        <p:sp>
          <p:nvSpPr>
            <p:cNvPr id="52" name="Freeform 52"/>
            <p:cNvSpPr/>
            <p:nvPr/>
          </p:nvSpPr>
          <p:spPr>
            <a:xfrm>
              <a:off x="0" y="0"/>
              <a:ext cx="997623" cy="988812"/>
            </a:xfrm>
            <a:custGeom>
              <a:avLst/>
              <a:gdLst/>
              <a:ahLst/>
              <a:cxnLst/>
              <a:rect l="l" t="t" r="r" b="b"/>
              <a:pathLst>
                <a:path w="997623" h="988812">
                  <a:moveTo>
                    <a:pt x="494406" y="0"/>
                  </a:moveTo>
                  <a:lnTo>
                    <a:pt x="503217" y="0"/>
                  </a:lnTo>
                  <a:cubicBezTo>
                    <a:pt x="776270" y="0"/>
                    <a:pt x="997623" y="221353"/>
                    <a:pt x="997623" y="494406"/>
                  </a:cubicBezTo>
                  <a:lnTo>
                    <a:pt x="997623" y="494406"/>
                  </a:lnTo>
                  <a:cubicBezTo>
                    <a:pt x="997623" y="625531"/>
                    <a:pt x="945534" y="751285"/>
                    <a:pt x="852815" y="844004"/>
                  </a:cubicBezTo>
                  <a:cubicBezTo>
                    <a:pt x="760096" y="936723"/>
                    <a:pt x="634342" y="988812"/>
                    <a:pt x="503217" y="988812"/>
                  </a:cubicBezTo>
                  <a:lnTo>
                    <a:pt x="494406" y="988812"/>
                  </a:lnTo>
                  <a:cubicBezTo>
                    <a:pt x="363281" y="988812"/>
                    <a:pt x="237527" y="936723"/>
                    <a:pt x="144808" y="844004"/>
                  </a:cubicBezTo>
                  <a:cubicBezTo>
                    <a:pt x="52089" y="751285"/>
                    <a:pt x="0" y="625531"/>
                    <a:pt x="0" y="494406"/>
                  </a:cubicBezTo>
                  <a:lnTo>
                    <a:pt x="0" y="494406"/>
                  </a:lnTo>
                  <a:cubicBezTo>
                    <a:pt x="0" y="363281"/>
                    <a:pt x="52089" y="237527"/>
                    <a:pt x="144808" y="144808"/>
                  </a:cubicBezTo>
                  <a:cubicBezTo>
                    <a:pt x="237527" y="52089"/>
                    <a:pt x="363281" y="0"/>
                    <a:pt x="494406" y="0"/>
                  </a:cubicBezTo>
                  <a:close/>
                </a:path>
              </a:pathLst>
            </a:custGeom>
            <a:solidFill>
              <a:srgbClr val="2ABF00"/>
            </a:solidFill>
            <a:ln w="19050" cap="rnd">
              <a:solidFill>
                <a:srgbClr val="F9F9F9"/>
              </a:solidFill>
              <a:prstDash val="solid"/>
              <a:round/>
            </a:ln>
          </p:spPr>
          <p:txBody>
            <a:bodyPr/>
            <a:lstStyle/>
            <a:p>
              <a:endParaRPr lang="en-US"/>
            </a:p>
          </p:txBody>
        </p:sp>
        <p:sp>
          <p:nvSpPr>
            <p:cNvPr id="53" name="TextBox 53"/>
            <p:cNvSpPr txBox="1"/>
            <p:nvPr/>
          </p:nvSpPr>
          <p:spPr>
            <a:xfrm>
              <a:off x="0" y="-38100"/>
              <a:ext cx="997623" cy="102691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4" name="Group 54"/>
          <p:cNvGrpSpPr/>
          <p:nvPr/>
        </p:nvGrpSpPr>
        <p:grpSpPr>
          <a:xfrm>
            <a:off x="12484855" y="6313952"/>
            <a:ext cx="1148073" cy="1137933"/>
            <a:chOff x="0" y="0"/>
            <a:chExt cx="997623" cy="988812"/>
          </a:xfrm>
        </p:grpSpPr>
        <p:sp>
          <p:nvSpPr>
            <p:cNvPr id="55" name="Freeform 55"/>
            <p:cNvSpPr/>
            <p:nvPr/>
          </p:nvSpPr>
          <p:spPr>
            <a:xfrm>
              <a:off x="0" y="0"/>
              <a:ext cx="997623" cy="988812"/>
            </a:xfrm>
            <a:custGeom>
              <a:avLst/>
              <a:gdLst/>
              <a:ahLst/>
              <a:cxnLst/>
              <a:rect l="l" t="t" r="r" b="b"/>
              <a:pathLst>
                <a:path w="997623" h="988812">
                  <a:moveTo>
                    <a:pt x="494406" y="0"/>
                  </a:moveTo>
                  <a:lnTo>
                    <a:pt x="503217" y="0"/>
                  </a:lnTo>
                  <a:cubicBezTo>
                    <a:pt x="776270" y="0"/>
                    <a:pt x="997623" y="221353"/>
                    <a:pt x="997623" y="494406"/>
                  </a:cubicBezTo>
                  <a:lnTo>
                    <a:pt x="997623" y="494406"/>
                  </a:lnTo>
                  <a:cubicBezTo>
                    <a:pt x="997623" y="625531"/>
                    <a:pt x="945534" y="751285"/>
                    <a:pt x="852815" y="844004"/>
                  </a:cubicBezTo>
                  <a:cubicBezTo>
                    <a:pt x="760096" y="936723"/>
                    <a:pt x="634342" y="988812"/>
                    <a:pt x="503217" y="988812"/>
                  </a:cubicBezTo>
                  <a:lnTo>
                    <a:pt x="494406" y="988812"/>
                  </a:lnTo>
                  <a:cubicBezTo>
                    <a:pt x="363281" y="988812"/>
                    <a:pt x="237527" y="936723"/>
                    <a:pt x="144808" y="844004"/>
                  </a:cubicBezTo>
                  <a:cubicBezTo>
                    <a:pt x="52089" y="751285"/>
                    <a:pt x="0" y="625531"/>
                    <a:pt x="0" y="494406"/>
                  </a:cubicBezTo>
                  <a:lnTo>
                    <a:pt x="0" y="494406"/>
                  </a:lnTo>
                  <a:cubicBezTo>
                    <a:pt x="0" y="363281"/>
                    <a:pt x="52089" y="237527"/>
                    <a:pt x="144808" y="144808"/>
                  </a:cubicBezTo>
                  <a:cubicBezTo>
                    <a:pt x="237527" y="52089"/>
                    <a:pt x="363281" y="0"/>
                    <a:pt x="494406" y="0"/>
                  </a:cubicBezTo>
                  <a:close/>
                </a:path>
              </a:pathLst>
            </a:custGeom>
            <a:solidFill>
              <a:srgbClr val="2ABF00"/>
            </a:solidFill>
            <a:ln w="19050" cap="rnd">
              <a:solidFill>
                <a:srgbClr val="F9F9F9"/>
              </a:solidFill>
              <a:prstDash val="solid"/>
              <a:round/>
            </a:ln>
          </p:spPr>
          <p:txBody>
            <a:bodyPr/>
            <a:lstStyle/>
            <a:p>
              <a:endParaRPr lang="en-US"/>
            </a:p>
          </p:txBody>
        </p:sp>
        <p:sp>
          <p:nvSpPr>
            <p:cNvPr id="56" name="TextBox 56"/>
            <p:cNvSpPr txBox="1"/>
            <p:nvPr/>
          </p:nvSpPr>
          <p:spPr>
            <a:xfrm>
              <a:off x="0" y="-38100"/>
              <a:ext cx="997623" cy="102691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7" name="TextBox 57"/>
          <p:cNvSpPr txBox="1"/>
          <p:nvPr/>
        </p:nvSpPr>
        <p:spPr>
          <a:xfrm>
            <a:off x="7924302" y="3272030"/>
            <a:ext cx="2857844" cy="474163"/>
          </a:xfrm>
          <a:prstGeom prst="rect">
            <a:avLst/>
          </a:prstGeom>
        </p:spPr>
        <p:txBody>
          <a:bodyPr lIns="0" tIns="0" rIns="0" bIns="0" rtlCol="0" anchor="t">
            <a:spAutoFit/>
          </a:bodyPr>
          <a:lstStyle/>
          <a:p>
            <a:pPr marL="0" lvl="0" indent="0" algn="l">
              <a:lnSpc>
                <a:spcPts val="1917"/>
              </a:lnSpc>
            </a:pPr>
            <a:r>
              <a:rPr lang="en-US" sz="1597" spc="-79">
                <a:solidFill>
                  <a:srgbClr val="FFFFFF"/>
                </a:solidFill>
                <a:latin typeface="Pragmatica"/>
                <a:ea typeface="Pragmatica"/>
                <a:cs typeface="Pragmatica"/>
                <a:sym typeface="Pragmatica"/>
              </a:rPr>
              <a:t>Lower Cost vs.</a:t>
            </a:r>
          </a:p>
          <a:p>
            <a:pPr marL="0" lvl="0" indent="0" algn="l">
              <a:lnSpc>
                <a:spcPts val="1917"/>
              </a:lnSpc>
            </a:pPr>
            <a:r>
              <a:rPr lang="en-US" sz="1597" spc="-79">
                <a:solidFill>
                  <a:srgbClr val="FFFFFF"/>
                </a:solidFill>
                <a:latin typeface="Pragmatica"/>
                <a:ea typeface="Pragmatica"/>
                <a:cs typeface="Pragmatica"/>
                <a:sym typeface="Pragmatica"/>
              </a:rPr>
              <a:t>Imported Silicon</a:t>
            </a:r>
          </a:p>
        </p:txBody>
      </p:sp>
      <p:sp>
        <p:nvSpPr>
          <p:cNvPr id="58" name="TextBox 58"/>
          <p:cNvSpPr txBox="1"/>
          <p:nvPr/>
        </p:nvSpPr>
        <p:spPr>
          <a:xfrm>
            <a:off x="14110108" y="6747060"/>
            <a:ext cx="2672968" cy="368545"/>
          </a:xfrm>
          <a:prstGeom prst="rect">
            <a:avLst/>
          </a:prstGeom>
        </p:spPr>
        <p:txBody>
          <a:bodyPr lIns="0" tIns="0" rIns="0" bIns="0" rtlCol="0" anchor="t">
            <a:spAutoFit/>
          </a:bodyPr>
          <a:lstStyle/>
          <a:p>
            <a:pPr marL="0" lvl="0" indent="0" algn="l">
              <a:lnSpc>
                <a:spcPts val="1406"/>
              </a:lnSpc>
            </a:pPr>
            <a:r>
              <a:rPr lang="en-US" sz="1597" spc="-79">
                <a:solidFill>
                  <a:srgbClr val="FFFFFF"/>
                </a:solidFill>
                <a:latin typeface="Pragmatica"/>
                <a:ea typeface="Pragmatica"/>
                <a:cs typeface="Pragmatica"/>
                <a:sym typeface="Pragmatica"/>
              </a:rPr>
              <a:t>Local Market</a:t>
            </a:r>
          </a:p>
          <a:p>
            <a:pPr marL="0" lvl="0" indent="0" algn="l">
              <a:lnSpc>
                <a:spcPts val="1406"/>
              </a:lnSpc>
            </a:pPr>
            <a:r>
              <a:rPr lang="en-US" sz="1597" spc="-79">
                <a:solidFill>
                  <a:srgbClr val="FFFFFF"/>
                </a:solidFill>
                <a:latin typeface="Pragmatica"/>
                <a:ea typeface="Pragmatica"/>
                <a:cs typeface="Pragmatica"/>
                <a:sym typeface="Pragmatica"/>
              </a:rPr>
              <a:t>Leadership</a:t>
            </a:r>
          </a:p>
        </p:txBody>
      </p:sp>
      <p:grpSp>
        <p:nvGrpSpPr>
          <p:cNvPr id="59" name="Group 59"/>
          <p:cNvGrpSpPr/>
          <p:nvPr/>
        </p:nvGrpSpPr>
        <p:grpSpPr>
          <a:xfrm>
            <a:off x="6167469" y="4379662"/>
            <a:ext cx="4906026" cy="1417263"/>
            <a:chOff x="0" y="0"/>
            <a:chExt cx="1495831" cy="432119"/>
          </a:xfrm>
        </p:grpSpPr>
        <p:sp>
          <p:nvSpPr>
            <p:cNvPr id="60" name="Freeform 60"/>
            <p:cNvSpPr/>
            <p:nvPr/>
          </p:nvSpPr>
          <p:spPr>
            <a:xfrm>
              <a:off x="0" y="0"/>
              <a:ext cx="1495831" cy="432119"/>
            </a:xfrm>
            <a:custGeom>
              <a:avLst/>
              <a:gdLst/>
              <a:ahLst/>
              <a:cxnLst/>
              <a:rect l="l" t="t" r="r" b="b"/>
              <a:pathLst>
                <a:path w="1495831" h="432119">
                  <a:moveTo>
                    <a:pt x="157804" y="0"/>
                  </a:moveTo>
                  <a:lnTo>
                    <a:pt x="1338026" y="0"/>
                  </a:lnTo>
                  <a:cubicBezTo>
                    <a:pt x="1425179" y="0"/>
                    <a:pt x="1495831" y="70651"/>
                    <a:pt x="1495831" y="157804"/>
                  </a:cubicBezTo>
                  <a:lnTo>
                    <a:pt x="1495831" y="274314"/>
                  </a:lnTo>
                  <a:cubicBezTo>
                    <a:pt x="1495831" y="361467"/>
                    <a:pt x="1425179" y="432119"/>
                    <a:pt x="1338026" y="432119"/>
                  </a:cubicBezTo>
                  <a:lnTo>
                    <a:pt x="157804" y="432119"/>
                  </a:lnTo>
                  <a:cubicBezTo>
                    <a:pt x="70651" y="432119"/>
                    <a:pt x="0" y="361467"/>
                    <a:pt x="0" y="274314"/>
                  </a:cubicBezTo>
                  <a:lnTo>
                    <a:pt x="0" y="157804"/>
                  </a:lnTo>
                  <a:cubicBezTo>
                    <a:pt x="0" y="70651"/>
                    <a:pt x="70651" y="0"/>
                    <a:pt x="157804" y="0"/>
                  </a:cubicBezTo>
                  <a:close/>
                </a:path>
              </a:pathLst>
            </a:custGeom>
            <a:gradFill rotWithShape="1">
              <a:gsLst>
                <a:gs pos="0">
                  <a:srgbClr val="FFFFFF">
                    <a:alpha val="10000"/>
                  </a:srgbClr>
                </a:gs>
                <a:gs pos="100000">
                  <a:srgbClr val="FFFFFF">
                    <a:alpha val="10500"/>
                  </a:srgbClr>
                </a:gs>
              </a:gsLst>
              <a:lin ang="0"/>
            </a:gradFill>
            <a:ln w="19050" cap="rnd">
              <a:solidFill>
                <a:srgbClr val="F9F9F9"/>
              </a:solidFill>
              <a:prstDash val="solid"/>
              <a:round/>
            </a:ln>
          </p:spPr>
          <p:txBody>
            <a:bodyPr/>
            <a:lstStyle/>
            <a:p>
              <a:endParaRPr lang="en-US"/>
            </a:p>
          </p:txBody>
        </p:sp>
        <p:sp>
          <p:nvSpPr>
            <p:cNvPr id="61" name="TextBox 61"/>
            <p:cNvSpPr txBox="1"/>
            <p:nvPr/>
          </p:nvSpPr>
          <p:spPr>
            <a:xfrm>
              <a:off x="0" y="-38100"/>
              <a:ext cx="1495831" cy="47021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2" name="Group 62"/>
          <p:cNvGrpSpPr/>
          <p:nvPr/>
        </p:nvGrpSpPr>
        <p:grpSpPr>
          <a:xfrm>
            <a:off x="12353274" y="7841037"/>
            <a:ext cx="4906026" cy="1417263"/>
            <a:chOff x="0" y="0"/>
            <a:chExt cx="1495831" cy="432119"/>
          </a:xfrm>
        </p:grpSpPr>
        <p:sp>
          <p:nvSpPr>
            <p:cNvPr id="63" name="Freeform 63"/>
            <p:cNvSpPr/>
            <p:nvPr/>
          </p:nvSpPr>
          <p:spPr>
            <a:xfrm>
              <a:off x="0" y="0"/>
              <a:ext cx="1495831" cy="432119"/>
            </a:xfrm>
            <a:custGeom>
              <a:avLst/>
              <a:gdLst/>
              <a:ahLst/>
              <a:cxnLst/>
              <a:rect l="l" t="t" r="r" b="b"/>
              <a:pathLst>
                <a:path w="1495831" h="432119">
                  <a:moveTo>
                    <a:pt x="157804" y="0"/>
                  </a:moveTo>
                  <a:lnTo>
                    <a:pt x="1338026" y="0"/>
                  </a:lnTo>
                  <a:cubicBezTo>
                    <a:pt x="1425179" y="0"/>
                    <a:pt x="1495831" y="70651"/>
                    <a:pt x="1495831" y="157804"/>
                  </a:cubicBezTo>
                  <a:lnTo>
                    <a:pt x="1495831" y="274314"/>
                  </a:lnTo>
                  <a:cubicBezTo>
                    <a:pt x="1495831" y="361467"/>
                    <a:pt x="1425179" y="432119"/>
                    <a:pt x="1338026" y="432119"/>
                  </a:cubicBezTo>
                  <a:lnTo>
                    <a:pt x="157804" y="432119"/>
                  </a:lnTo>
                  <a:cubicBezTo>
                    <a:pt x="70651" y="432119"/>
                    <a:pt x="0" y="361467"/>
                    <a:pt x="0" y="274314"/>
                  </a:cubicBezTo>
                  <a:lnTo>
                    <a:pt x="0" y="157804"/>
                  </a:lnTo>
                  <a:cubicBezTo>
                    <a:pt x="0" y="70651"/>
                    <a:pt x="70651" y="0"/>
                    <a:pt x="157804" y="0"/>
                  </a:cubicBezTo>
                  <a:close/>
                </a:path>
              </a:pathLst>
            </a:custGeom>
            <a:gradFill rotWithShape="1">
              <a:gsLst>
                <a:gs pos="0">
                  <a:srgbClr val="FFFFFF">
                    <a:alpha val="10000"/>
                  </a:srgbClr>
                </a:gs>
                <a:gs pos="100000">
                  <a:srgbClr val="FFFFFF">
                    <a:alpha val="10500"/>
                  </a:srgbClr>
                </a:gs>
              </a:gsLst>
              <a:lin ang="0"/>
            </a:gradFill>
            <a:ln w="19050" cap="rnd">
              <a:solidFill>
                <a:srgbClr val="F9F9F9"/>
              </a:solidFill>
              <a:prstDash val="solid"/>
              <a:round/>
            </a:ln>
          </p:spPr>
          <p:txBody>
            <a:bodyPr/>
            <a:lstStyle/>
            <a:p>
              <a:endParaRPr lang="en-US"/>
            </a:p>
          </p:txBody>
        </p:sp>
        <p:sp>
          <p:nvSpPr>
            <p:cNvPr id="64" name="TextBox 64"/>
            <p:cNvSpPr txBox="1"/>
            <p:nvPr/>
          </p:nvSpPr>
          <p:spPr>
            <a:xfrm>
              <a:off x="0" y="-38100"/>
              <a:ext cx="1495831" cy="47021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5" name="Group 65"/>
          <p:cNvGrpSpPr/>
          <p:nvPr/>
        </p:nvGrpSpPr>
        <p:grpSpPr>
          <a:xfrm>
            <a:off x="6299049" y="4506165"/>
            <a:ext cx="1148073" cy="1137933"/>
            <a:chOff x="0" y="0"/>
            <a:chExt cx="997623" cy="988812"/>
          </a:xfrm>
        </p:grpSpPr>
        <p:sp>
          <p:nvSpPr>
            <p:cNvPr id="66" name="Freeform 66"/>
            <p:cNvSpPr/>
            <p:nvPr/>
          </p:nvSpPr>
          <p:spPr>
            <a:xfrm>
              <a:off x="0" y="0"/>
              <a:ext cx="997623" cy="988812"/>
            </a:xfrm>
            <a:custGeom>
              <a:avLst/>
              <a:gdLst/>
              <a:ahLst/>
              <a:cxnLst/>
              <a:rect l="l" t="t" r="r" b="b"/>
              <a:pathLst>
                <a:path w="997623" h="988812">
                  <a:moveTo>
                    <a:pt x="494406" y="0"/>
                  </a:moveTo>
                  <a:lnTo>
                    <a:pt x="503217" y="0"/>
                  </a:lnTo>
                  <a:cubicBezTo>
                    <a:pt x="776270" y="0"/>
                    <a:pt x="997623" y="221353"/>
                    <a:pt x="997623" y="494406"/>
                  </a:cubicBezTo>
                  <a:lnTo>
                    <a:pt x="997623" y="494406"/>
                  </a:lnTo>
                  <a:cubicBezTo>
                    <a:pt x="997623" y="625531"/>
                    <a:pt x="945534" y="751285"/>
                    <a:pt x="852815" y="844004"/>
                  </a:cubicBezTo>
                  <a:cubicBezTo>
                    <a:pt x="760096" y="936723"/>
                    <a:pt x="634342" y="988812"/>
                    <a:pt x="503217" y="988812"/>
                  </a:cubicBezTo>
                  <a:lnTo>
                    <a:pt x="494406" y="988812"/>
                  </a:lnTo>
                  <a:cubicBezTo>
                    <a:pt x="363281" y="988812"/>
                    <a:pt x="237527" y="936723"/>
                    <a:pt x="144808" y="844004"/>
                  </a:cubicBezTo>
                  <a:cubicBezTo>
                    <a:pt x="52089" y="751285"/>
                    <a:pt x="0" y="625531"/>
                    <a:pt x="0" y="494406"/>
                  </a:cubicBezTo>
                  <a:lnTo>
                    <a:pt x="0" y="494406"/>
                  </a:lnTo>
                  <a:cubicBezTo>
                    <a:pt x="0" y="363281"/>
                    <a:pt x="52089" y="237527"/>
                    <a:pt x="144808" y="144808"/>
                  </a:cubicBezTo>
                  <a:cubicBezTo>
                    <a:pt x="237527" y="52089"/>
                    <a:pt x="363281" y="0"/>
                    <a:pt x="494406" y="0"/>
                  </a:cubicBezTo>
                  <a:close/>
                </a:path>
              </a:pathLst>
            </a:custGeom>
            <a:solidFill>
              <a:srgbClr val="FFFFFF"/>
            </a:solidFill>
            <a:ln w="19050" cap="rnd">
              <a:solidFill>
                <a:srgbClr val="F9F9F9"/>
              </a:solidFill>
              <a:prstDash val="solid"/>
              <a:round/>
            </a:ln>
          </p:spPr>
          <p:txBody>
            <a:bodyPr/>
            <a:lstStyle/>
            <a:p>
              <a:endParaRPr lang="en-US"/>
            </a:p>
          </p:txBody>
        </p:sp>
        <p:sp>
          <p:nvSpPr>
            <p:cNvPr id="67" name="TextBox 67"/>
            <p:cNvSpPr txBox="1"/>
            <p:nvPr/>
          </p:nvSpPr>
          <p:spPr>
            <a:xfrm>
              <a:off x="0" y="-38100"/>
              <a:ext cx="997623" cy="102691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8" name="Group 68"/>
          <p:cNvGrpSpPr/>
          <p:nvPr/>
        </p:nvGrpSpPr>
        <p:grpSpPr>
          <a:xfrm>
            <a:off x="12484855" y="7980702"/>
            <a:ext cx="1148073" cy="1137933"/>
            <a:chOff x="0" y="0"/>
            <a:chExt cx="997623" cy="988812"/>
          </a:xfrm>
        </p:grpSpPr>
        <p:sp>
          <p:nvSpPr>
            <p:cNvPr id="69" name="Freeform 69"/>
            <p:cNvSpPr/>
            <p:nvPr/>
          </p:nvSpPr>
          <p:spPr>
            <a:xfrm>
              <a:off x="0" y="0"/>
              <a:ext cx="997623" cy="988812"/>
            </a:xfrm>
            <a:custGeom>
              <a:avLst/>
              <a:gdLst/>
              <a:ahLst/>
              <a:cxnLst/>
              <a:rect l="l" t="t" r="r" b="b"/>
              <a:pathLst>
                <a:path w="997623" h="988812">
                  <a:moveTo>
                    <a:pt x="494406" y="0"/>
                  </a:moveTo>
                  <a:lnTo>
                    <a:pt x="503217" y="0"/>
                  </a:lnTo>
                  <a:cubicBezTo>
                    <a:pt x="776270" y="0"/>
                    <a:pt x="997623" y="221353"/>
                    <a:pt x="997623" y="494406"/>
                  </a:cubicBezTo>
                  <a:lnTo>
                    <a:pt x="997623" y="494406"/>
                  </a:lnTo>
                  <a:cubicBezTo>
                    <a:pt x="997623" y="625531"/>
                    <a:pt x="945534" y="751285"/>
                    <a:pt x="852815" y="844004"/>
                  </a:cubicBezTo>
                  <a:cubicBezTo>
                    <a:pt x="760096" y="936723"/>
                    <a:pt x="634342" y="988812"/>
                    <a:pt x="503217" y="988812"/>
                  </a:cubicBezTo>
                  <a:lnTo>
                    <a:pt x="494406" y="988812"/>
                  </a:lnTo>
                  <a:cubicBezTo>
                    <a:pt x="363281" y="988812"/>
                    <a:pt x="237527" y="936723"/>
                    <a:pt x="144808" y="844004"/>
                  </a:cubicBezTo>
                  <a:cubicBezTo>
                    <a:pt x="52089" y="751285"/>
                    <a:pt x="0" y="625531"/>
                    <a:pt x="0" y="494406"/>
                  </a:cubicBezTo>
                  <a:lnTo>
                    <a:pt x="0" y="494406"/>
                  </a:lnTo>
                  <a:cubicBezTo>
                    <a:pt x="0" y="363281"/>
                    <a:pt x="52089" y="237527"/>
                    <a:pt x="144808" y="144808"/>
                  </a:cubicBezTo>
                  <a:cubicBezTo>
                    <a:pt x="237527" y="52089"/>
                    <a:pt x="363281" y="0"/>
                    <a:pt x="494406" y="0"/>
                  </a:cubicBezTo>
                  <a:close/>
                </a:path>
              </a:pathLst>
            </a:custGeom>
            <a:solidFill>
              <a:srgbClr val="FFFFFF"/>
            </a:solidFill>
            <a:ln w="19050" cap="rnd">
              <a:solidFill>
                <a:srgbClr val="F9F9F9"/>
              </a:solidFill>
              <a:prstDash val="solid"/>
              <a:round/>
            </a:ln>
          </p:spPr>
          <p:txBody>
            <a:bodyPr/>
            <a:lstStyle/>
            <a:p>
              <a:endParaRPr lang="en-US"/>
            </a:p>
          </p:txBody>
        </p:sp>
        <p:sp>
          <p:nvSpPr>
            <p:cNvPr id="70" name="TextBox 70"/>
            <p:cNvSpPr txBox="1"/>
            <p:nvPr/>
          </p:nvSpPr>
          <p:spPr>
            <a:xfrm>
              <a:off x="0" y="-38100"/>
              <a:ext cx="997623" cy="102691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71" name="TextBox 71"/>
          <p:cNvSpPr txBox="1"/>
          <p:nvPr/>
        </p:nvSpPr>
        <p:spPr>
          <a:xfrm>
            <a:off x="7924302" y="4939273"/>
            <a:ext cx="2696346" cy="368545"/>
          </a:xfrm>
          <a:prstGeom prst="rect">
            <a:avLst/>
          </a:prstGeom>
        </p:spPr>
        <p:txBody>
          <a:bodyPr lIns="0" tIns="0" rIns="0" bIns="0" rtlCol="0" anchor="t">
            <a:spAutoFit/>
          </a:bodyPr>
          <a:lstStyle/>
          <a:p>
            <a:pPr marL="0" lvl="0" indent="0" algn="l">
              <a:lnSpc>
                <a:spcPts val="1406"/>
              </a:lnSpc>
            </a:pPr>
            <a:r>
              <a:rPr lang="en-US" sz="1597" spc="-79">
                <a:solidFill>
                  <a:srgbClr val="FFFFFF"/>
                </a:solidFill>
                <a:latin typeface="Pragmatica"/>
                <a:ea typeface="Pragmatica"/>
                <a:cs typeface="Pragmatica"/>
                <a:sym typeface="Pragmatica"/>
              </a:rPr>
              <a:t>Superior Battery</a:t>
            </a:r>
          </a:p>
          <a:p>
            <a:pPr marL="0" lvl="0" indent="0" algn="l">
              <a:lnSpc>
                <a:spcPts val="1406"/>
              </a:lnSpc>
            </a:pPr>
            <a:r>
              <a:rPr lang="en-US" sz="1597" spc="-79">
                <a:solidFill>
                  <a:srgbClr val="FFFFFF"/>
                </a:solidFill>
                <a:latin typeface="Pragmatica"/>
                <a:ea typeface="Pragmatica"/>
                <a:cs typeface="Pragmatica"/>
                <a:sym typeface="Pragmatica"/>
              </a:rPr>
              <a:t>Performance</a:t>
            </a:r>
          </a:p>
        </p:txBody>
      </p:sp>
      <p:sp>
        <p:nvSpPr>
          <p:cNvPr id="72" name="TextBox 72"/>
          <p:cNvSpPr txBox="1"/>
          <p:nvPr/>
        </p:nvSpPr>
        <p:spPr>
          <a:xfrm>
            <a:off x="14110108" y="8369662"/>
            <a:ext cx="2974469" cy="474163"/>
          </a:xfrm>
          <a:prstGeom prst="rect">
            <a:avLst/>
          </a:prstGeom>
        </p:spPr>
        <p:txBody>
          <a:bodyPr lIns="0" tIns="0" rIns="0" bIns="0" rtlCol="0" anchor="t">
            <a:spAutoFit/>
          </a:bodyPr>
          <a:lstStyle/>
          <a:p>
            <a:pPr marL="0" lvl="0" indent="0" algn="l">
              <a:lnSpc>
                <a:spcPts val="1917"/>
              </a:lnSpc>
            </a:pPr>
            <a:r>
              <a:rPr lang="en-US" sz="1597" spc="-79">
                <a:solidFill>
                  <a:srgbClr val="FFFFFF"/>
                </a:solidFill>
                <a:latin typeface="Pragmatica"/>
                <a:ea typeface="Pragmatica"/>
                <a:cs typeface="Pragmatica"/>
                <a:sym typeface="Pragmatica"/>
              </a:rPr>
              <a:t>Strong R&amp;D</a:t>
            </a:r>
          </a:p>
          <a:p>
            <a:pPr marL="0" lvl="0" indent="0" algn="l">
              <a:lnSpc>
                <a:spcPts val="1917"/>
              </a:lnSpc>
            </a:pPr>
            <a:r>
              <a:rPr lang="en-US" sz="1597" spc="-79">
                <a:solidFill>
                  <a:srgbClr val="FFFFFF"/>
                </a:solidFill>
                <a:latin typeface="Pragmatica"/>
                <a:ea typeface="Pragmatica"/>
                <a:cs typeface="Pragmatica"/>
                <a:sym typeface="Pragmatica"/>
              </a:rPr>
              <a:t>Foundation</a:t>
            </a:r>
          </a:p>
        </p:txBody>
      </p:sp>
      <p:sp>
        <p:nvSpPr>
          <p:cNvPr id="73" name="TextBox 73"/>
          <p:cNvSpPr txBox="1"/>
          <p:nvPr/>
        </p:nvSpPr>
        <p:spPr>
          <a:xfrm>
            <a:off x="1289438" y="3022431"/>
            <a:ext cx="1148073" cy="531549"/>
          </a:xfrm>
          <a:prstGeom prst="rect">
            <a:avLst/>
          </a:prstGeom>
        </p:spPr>
        <p:txBody>
          <a:bodyPr lIns="0" tIns="0" rIns="0" bIns="0" rtlCol="0" anchor="t">
            <a:spAutoFit/>
          </a:bodyPr>
          <a:lstStyle/>
          <a:p>
            <a:pPr marL="0" lvl="0" indent="0" algn="ctr">
              <a:lnSpc>
                <a:spcPts val="4302"/>
              </a:lnSpc>
            </a:pPr>
            <a:r>
              <a:rPr lang="en-US" sz="3072" b="1" spc="-122">
                <a:solidFill>
                  <a:srgbClr val="FFFFFF"/>
                </a:solidFill>
                <a:latin typeface="Pragmatica Bold"/>
                <a:ea typeface="Pragmatica Bold"/>
                <a:cs typeface="Pragmatica Bold"/>
                <a:sym typeface="Pragmatica Bold"/>
              </a:rPr>
              <a:t>01</a:t>
            </a:r>
          </a:p>
        </p:txBody>
      </p:sp>
      <p:sp>
        <p:nvSpPr>
          <p:cNvPr id="74" name="TextBox 74"/>
          <p:cNvSpPr txBox="1"/>
          <p:nvPr/>
        </p:nvSpPr>
        <p:spPr>
          <a:xfrm>
            <a:off x="7389456" y="6483806"/>
            <a:ext cx="1148073" cy="533032"/>
          </a:xfrm>
          <a:prstGeom prst="rect">
            <a:avLst/>
          </a:prstGeom>
        </p:spPr>
        <p:txBody>
          <a:bodyPr lIns="0" tIns="0" rIns="0" bIns="0" rtlCol="0" anchor="t">
            <a:spAutoFit/>
          </a:bodyPr>
          <a:lstStyle/>
          <a:p>
            <a:pPr marL="0" lvl="0" indent="0" algn="ctr">
              <a:lnSpc>
                <a:spcPts val="4302"/>
              </a:lnSpc>
            </a:pPr>
            <a:r>
              <a:rPr lang="en-US" sz="3072" b="1" spc="-122">
                <a:solidFill>
                  <a:srgbClr val="FFFFFF"/>
                </a:solidFill>
                <a:latin typeface="Pragmatica Bold"/>
                <a:ea typeface="Pragmatica Bold"/>
                <a:cs typeface="Pragmatica Bold"/>
                <a:sym typeface="Pragmatica Bold"/>
              </a:rPr>
              <a:t>05</a:t>
            </a:r>
          </a:p>
        </p:txBody>
      </p:sp>
      <p:sp>
        <p:nvSpPr>
          <p:cNvPr id="75" name="TextBox 75"/>
          <p:cNvSpPr txBox="1"/>
          <p:nvPr/>
        </p:nvSpPr>
        <p:spPr>
          <a:xfrm>
            <a:off x="1289438" y="4676018"/>
            <a:ext cx="1148073" cy="533032"/>
          </a:xfrm>
          <a:prstGeom prst="rect">
            <a:avLst/>
          </a:prstGeom>
        </p:spPr>
        <p:txBody>
          <a:bodyPr lIns="0" tIns="0" rIns="0" bIns="0" rtlCol="0" anchor="t">
            <a:spAutoFit/>
          </a:bodyPr>
          <a:lstStyle/>
          <a:p>
            <a:pPr marL="0" lvl="0" indent="0" algn="ctr">
              <a:lnSpc>
                <a:spcPts val="4302"/>
              </a:lnSpc>
            </a:pPr>
            <a:r>
              <a:rPr lang="en-US" sz="3072" b="1" spc="-122">
                <a:solidFill>
                  <a:srgbClr val="262626"/>
                </a:solidFill>
                <a:latin typeface="Pragmatica Bold"/>
                <a:ea typeface="Pragmatica Bold"/>
                <a:cs typeface="Pragmatica Bold"/>
                <a:sym typeface="Pragmatica Bold"/>
              </a:rPr>
              <a:t>02</a:t>
            </a:r>
          </a:p>
        </p:txBody>
      </p:sp>
      <p:sp>
        <p:nvSpPr>
          <p:cNvPr id="76" name="TextBox 76"/>
          <p:cNvSpPr txBox="1"/>
          <p:nvPr/>
        </p:nvSpPr>
        <p:spPr>
          <a:xfrm>
            <a:off x="7389456" y="8150556"/>
            <a:ext cx="1148073" cy="533032"/>
          </a:xfrm>
          <a:prstGeom prst="rect">
            <a:avLst/>
          </a:prstGeom>
        </p:spPr>
        <p:txBody>
          <a:bodyPr lIns="0" tIns="0" rIns="0" bIns="0" rtlCol="0" anchor="t">
            <a:spAutoFit/>
          </a:bodyPr>
          <a:lstStyle/>
          <a:p>
            <a:pPr marL="0" lvl="0" indent="0" algn="ctr">
              <a:lnSpc>
                <a:spcPts val="4302"/>
              </a:lnSpc>
            </a:pPr>
            <a:r>
              <a:rPr lang="en-US" sz="3072" b="1" spc="-122">
                <a:solidFill>
                  <a:srgbClr val="262626"/>
                </a:solidFill>
                <a:latin typeface="Pragmatica Bold"/>
                <a:ea typeface="Pragmatica Bold"/>
                <a:cs typeface="Pragmatica Bold"/>
                <a:sym typeface="Pragmatica Bold"/>
              </a:rPr>
              <a:t>06</a:t>
            </a:r>
          </a:p>
        </p:txBody>
      </p:sp>
      <p:sp>
        <p:nvSpPr>
          <p:cNvPr id="77" name="TextBox 77"/>
          <p:cNvSpPr txBox="1"/>
          <p:nvPr/>
        </p:nvSpPr>
        <p:spPr>
          <a:xfrm>
            <a:off x="6299049" y="3005100"/>
            <a:ext cx="1148073" cy="533032"/>
          </a:xfrm>
          <a:prstGeom prst="rect">
            <a:avLst/>
          </a:prstGeom>
        </p:spPr>
        <p:txBody>
          <a:bodyPr lIns="0" tIns="0" rIns="0" bIns="0" rtlCol="0" anchor="t">
            <a:spAutoFit/>
          </a:bodyPr>
          <a:lstStyle/>
          <a:p>
            <a:pPr marL="0" lvl="0" indent="0" algn="ctr">
              <a:lnSpc>
                <a:spcPts val="4302"/>
              </a:lnSpc>
            </a:pPr>
            <a:r>
              <a:rPr lang="en-US" sz="3072" b="1" spc="-122">
                <a:solidFill>
                  <a:srgbClr val="FFFFFF"/>
                </a:solidFill>
                <a:latin typeface="Pragmatica Bold"/>
                <a:ea typeface="Pragmatica Bold"/>
                <a:cs typeface="Pragmatica Bold"/>
                <a:sym typeface="Pragmatica Bold"/>
              </a:rPr>
              <a:t>03</a:t>
            </a:r>
          </a:p>
        </p:txBody>
      </p:sp>
      <p:sp>
        <p:nvSpPr>
          <p:cNvPr id="78" name="TextBox 78"/>
          <p:cNvSpPr txBox="1"/>
          <p:nvPr/>
        </p:nvSpPr>
        <p:spPr>
          <a:xfrm>
            <a:off x="12484855" y="6466476"/>
            <a:ext cx="1148073" cy="533032"/>
          </a:xfrm>
          <a:prstGeom prst="rect">
            <a:avLst/>
          </a:prstGeom>
        </p:spPr>
        <p:txBody>
          <a:bodyPr lIns="0" tIns="0" rIns="0" bIns="0" rtlCol="0" anchor="t">
            <a:spAutoFit/>
          </a:bodyPr>
          <a:lstStyle/>
          <a:p>
            <a:pPr marL="0" lvl="0" indent="0" algn="ctr">
              <a:lnSpc>
                <a:spcPts val="4302"/>
              </a:lnSpc>
            </a:pPr>
            <a:r>
              <a:rPr lang="en-US" sz="3072" b="1" spc="-122">
                <a:solidFill>
                  <a:srgbClr val="FFFFFF"/>
                </a:solidFill>
                <a:latin typeface="Pragmatica Bold"/>
                <a:ea typeface="Pragmatica Bold"/>
                <a:cs typeface="Pragmatica Bold"/>
                <a:sym typeface="Pragmatica Bold"/>
              </a:rPr>
              <a:t>07</a:t>
            </a:r>
          </a:p>
        </p:txBody>
      </p:sp>
      <p:sp>
        <p:nvSpPr>
          <p:cNvPr id="79" name="TextBox 79"/>
          <p:cNvSpPr txBox="1"/>
          <p:nvPr/>
        </p:nvSpPr>
        <p:spPr>
          <a:xfrm>
            <a:off x="6299049" y="4658688"/>
            <a:ext cx="1151090" cy="533032"/>
          </a:xfrm>
          <a:prstGeom prst="rect">
            <a:avLst/>
          </a:prstGeom>
        </p:spPr>
        <p:txBody>
          <a:bodyPr lIns="0" tIns="0" rIns="0" bIns="0" rtlCol="0" anchor="t">
            <a:spAutoFit/>
          </a:bodyPr>
          <a:lstStyle/>
          <a:p>
            <a:pPr marL="0" lvl="0" indent="0" algn="ctr">
              <a:lnSpc>
                <a:spcPts val="4302"/>
              </a:lnSpc>
            </a:pPr>
            <a:r>
              <a:rPr lang="en-US" sz="3072" b="1" spc="-122">
                <a:solidFill>
                  <a:srgbClr val="262626"/>
                </a:solidFill>
                <a:latin typeface="Pragmatica Bold"/>
                <a:ea typeface="Pragmatica Bold"/>
                <a:cs typeface="Pragmatica Bold"/>
                <a:sym typeface="Pragmatica Bold"/>
              </a:rPr>
              <a:t>04</a:t>
            </a:r>
          </a:p>
        </p:txBody>
      </p:sp>
      <p:sp>
        <p:nvSpPr>
          <p:cNvPr id="80" name="TextBox 80"/>
          <p:cNvSpPr txBox="1"/>
          <p:nvPr/>
        </p:nvSpPr>
        <p:spPr>
          <a:xfrm>
            <a:off x="12484855" y="8119200"/>
            <a:ext cx="1148073" cy="533032"/>
          </a:xfrm>
          <a:prstGeom prst="rect">
            <a:avLst/>
          </a:prstGeom>
        </p:spPr>
        <p:txBody>
          <a:bodyPr lIns="0" tIns="0" rIns="0" bIns="0" rtlCol="0" anchor="t">
            <a:spAutoFit/>
          </a:bodyPr>
          <a:lstStyle/>
          <a:p>
            <a:pPr marL="0" lvl="0" indent="0" algn="ctr">
              <a:lnSpc>
                <a:spcPts val="4302"/>
              </a:lnSpc>
            </a:pPr>
            <a:r>
              <a:rPr lang="en-US" sz="3072" b="1" spc="-122">
                <a:solidFill>
                  <a:srgbClr val="262626"/>
                </a:solidFill>
                <a:latin typeface="Pragmatica Bold"/>
                <a:ea typeface="Pragmatica Bold"/>
                <a:cs typeface="Pragmatica Bold"/>
                <a:sym typeface="Pragmatica Bold"/>
              </a:rPr>
              <a:t>20</a:t>
            </a:r>
          </a:p>
        </p:txBody>
      </p:sp>
      <p:sp>
        <p:nvSpPr>
          <p:cNvPr id="81" name="TextBox 81"/>
          <p:cNvSpPr txBox="1"/>
          <p:nvPr/>
        </p:nvSpPr>
        <p:spPr>
          <a:xfrm>
            <a:off x="11787869" y="3098734"/>
            <a:ext cx="6340597" cy="1447251"/>
          </a:xfrm>
          <a:prstGeom prst="rect">
            <a:avLst/>
          </a:prstGeom>
        </p:spPr>
        <p:txBody>
          <a:bodyPr lIns="0" tIns="0" rIns="0" bIns="0" rtlCol="0" anchor="t">
            <a:spAutoFit/>
          </a:bodyPr>
          <a:lstStyle/>
          <a:p>
            <a:pPr marL="0" lvl="0" indent="0" algn="l">
              <a:lnSpc>
                <a:spcPts val="5554"/>
              </a:lnSpc>
            </a:pPr>
            <a:r>
              <a:rPr lang="en-US" sz="6171" b="1" spc="-246">
                <a:solidFill>
                  <a:srgbClr val="FFFFFF"/>
                </a:solidFill>
                <a:latin typeface="Pragmatica Bold"/>
                <a:ea typeface="Pragmatica Bold"/>
                <a:cs typeface="Pragmatica Bold"/>
                <a:sym typeface="Pragmatica Bold"/>
              </a:rPr>
              <a:t>Competitive</a:t>
            </a:r>
          </a:p>
          <a:p>
            <a:pPr marL="0" lvl="0" indent="0" algn="l">
              <a:lnSpc>
                <a:spcPts val="5554"/>
              </a:lnSpc>
            </a:pPr>
            <a:r>
              <a:rPr lang="en-US" sz="6171" b="1" spc="-246">
                <a:solidFill>
                  <a:srgbClr val="FFFFFF"/>
                </a:solidFill>
                <a:latin typeface="Pragmatica Bold"/>
                <a:ea typeface="Pragmatica Bold"/>
                <a:cs typeface="Pragmatica Bold"/>
                <a:sym typeface="Pragmatica Bold"/>
              </a:rPr>
              <a:t>Advantages</a:t>
            </a:r>
          </a:p>
        </p:txBody>
      </p:sp>
      <p:sp>
        <p:nvSpPr>
          <p:cNvPr id="82" name="TextBox 82"/>
          <p:cNvSpPr txBox="1"/>
          <p:nvPr/>
        </p:nvSpPr>
        <p:spPr>
          <a:xfrm>
            <a:off x="1157857" y="7026899"/>
            <a:ext cx="4750642" cy="1362783"/>
          </a:xfrm>
          <a:prstGeom prst="rect">
            <a:avLst/>
          </a:prstGeom>
        </p:spPr>
        <p:txBody>
          <a:bodyPr lIns="0" tIns="0" rIns="0" bIns="0" rtlCol="0" anchor="t">
            <a:spAutoFit/>
          </a:bodyPr>
          <a:lstStyle/>
          <a:p>
            <a:pPr marL="0" lvl="0" indent="0" algn="l">
              <a:lnSpc>
                <a:spcPts val="1865"/>
              </a:lnSpc>
            </a:pPr>
            <a:r>
              <a:rPr lang="en-US" sz="1371" spc="-34">
                <a:solidFill>
                  <a:srgbClr val="FFFFFF"/>
                </a:solidFill>
                <a:latin typeface="Canva Sans"/>
                <a:ea typeface="Canva Sans"/>
                <a:cs typeface="Canva Sans"/>
                <a:sym typeface="Canva Sans"/>
              </a:rPr>
              <a:t>MSxOySez/SiOx heterostructured composites deliver a unique combination of high capacity (≥1450 mAh/g), structural stability, and cost efficiency — positioning this project as a leading domestic alternative to expensive imported silicon anode materials for next-generation Lithium-ion batteries.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AutoShape 3"/>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4" name="AutoShape 4"/>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p:cNvSpPr/>
          <p:nvPr/>
        </p:nvSpPr>
        <p:spPr>
          <a:xfrm>
            <a:off x="6075187"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AutoShape 7"/>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8" name="Freeform 8"/>
          <p:cNvSpPr/>
          <p:nvPr/>
        </p:nvSpPr>
        <p:spPr>
          <a:xfrm>
            <a:off x="14950017" y="-1114244"/>
            <a:ext cx="8534070" cy="11618164"/>
          </a:xfrm>
          <a:custGeom>
            <a:avLst/>
            <a:gdLst/>
            <a:ahLst/>
            <a:cxnLst/>
            <a:rect l="l" t="t" r="r" b="b"/>
            <a:pathLst>
              <a:path w="8534070" h="11618164">
                <a:moveTo>
                  <a:pt x="0" y="0"/>
                </a:moveTo>
                <a:lnTo>
                  <a:pt x="8534069" y="0"/>
                </a:lnTo>
                <a:lnTo>
                  <a:pt x="8534069" y="11618163"/>
                </a:lnTo>
                <a:lnTo>
                  <a:pt x="0" y="11618163"/>
                </a:lnTo>
                <a:lnTo>
                  <a:pt x="0" y="0"/>
                </a:lnTo>
                <a:close/>
              </a:path>
            </a:pathLst>
          </a:custGeom>
          <a:blipFill>
            <a:blip r:embed="rId2">
              <a:alphaModFix amt="50000"/>
            </a:blip>
            <a:stretch>
              <a:fillRect/>
            </a:stretch>
          </a:blipFill>
        </p:spPr>
        <p:txBody>
          <a:bodyPr/>
          <a:lstStyle/>
          <a:p>
            <a:endParaRPr lang="en-US"/>
          </a:p>
        </p:txBody>
      </p:sp>
      <p:grpSp>
        <p:nvGrpSpPr>
          <p:cNvPr id="9" name="Group 9"/>
          <p:cNvGrpSpPr/>
          <p:nvPr/>
        </p:nvGrpSpPr>
        <p:grpSpPr>
          <a:xfrm>
            <a:off x="1028700" y="654448"/>
            <a:ext cx="16230600" cy="748504"/>
            <a:chOff x="0" y="0"/>
            <a:chExt cx="4274726" cy="197137"/>
          </a:xfrm>
        </p:grpSpPr>
        <p:sp>
          <p:nvSpPr>
            <p:cNvPr id="10" name="Freeform 10"/>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1" name="TextBox 11"/>
            <p:cNvSpPr txBox="1"/>
            <p:nvPr/>
          </p:nvSpPr>
          <p:spPr>
            <a:xfrm>
              <a:off x="0" y="38100"/>
              <a:ext cx="4274726" cy="159037"/>
            </a:xfrm>
            <a:prstGeom prst="rect">
              <a:avLst/>
            </a:prstGeom>
          </p:spPr>
          <p:txBody>
            <a:bodyPr lIns="50800" tIns="50800" rIns="50800" bIns="50800" rtlCol="0" anchor="ctr"/>
            <a:lstStyle/>
            <a:p>
              <a:pPr marL="0" lvl="0" indent="0" algn="ctr">
                <a:lnSpc>
                  <a:spcPts val="1619"/>
                </a:lnSpc>
              </a:pPr>
              <a:endParaRPr/>
            </a:p>
          </p:txBody>
        </p:sp>
      </p:grpSp>
      <p:grpSp>
        <p:nvGrpSpPr>
          <p:cNvPr id="12" name="Group 12"/>
          <p:cNvGrpSpPr/>
          <p:nvPr/>
        </p:nvGrpSpPr>
        <p:grpSpPr>
          <a:xfrm>
            <a:off x="1240550" y="5739847"/>
            <a:ext cx="4617017" cy="3518453"/>
            <a:chOff x="0" y="0"/>
            <a:chExt cx="1216004" cy="926671"/>
          </a:xfrm>
        </p:grpSpPr>
        <p:sp>
          <p:nvSpPr>
            <p:cNvPr id="13" name="Freeform 13"/>
            <p:cNvSpPr/>
            <p:nvPr/>
          </p:nvSpPr>
          <p:spPr>
            <a:xfrm>
              <a:off x="0" y="0"/>
              <a:ext cx="1216004" cy="926671"/>
            </a:xfrm>
            <a:custGeom>
              <a:avLst/>
              <a:gdLst/>
              <a:ahLst/>
              <a:cxnLst/>
              <a:rect l="l" t="t" r="r" b="b"/>
              <a:pathLst>
                <a:path w="1216004" h="926671">
                  <a:moveTo>
                    <a:pt x="83841" y="0"/>
                  </a:moveTo>
                  <a:lnTo>
                    <a:pt x="1132163" y="0"/>
                  </a:lnTo>
                  <a:cubicBezTo>
                    <a:pt x="1154399" y="0"/>
                    <a:pt x="1175725" y="8833"/>
                    <a:pt x="1191448" y="24557"/>
                  </a:cubicBezTo>
                  <a:cubicBezTo>
                    <a:pt x="1207171" y="40280"/>
                    <a:pt x="1216004" y="61605"/>
                    <a:pt x="1216004" y="83841"/>
                  </a:cubicBezTo>
                  <a:lnTo>
                    <a:pt x="1216004" y="842830"/>
                  </a:lnTo>
                  <a:cubicBezTo>
                    <a:pt x="1216004" y="889134"/>
                    <a:pt x="1178468" y="926671"/>
                    <a:pt x="1132163" y="926671"/>
                  </a:cubicBezTo>
                  <a:lnTo>
                    <a:pt x="83841" y="926671"/>
                  </a:lnTo>
                  <a:cubicBezTo>
                    <a:pt x="61605" y="926671"/>
                    <a:pt x="40280" y="917837"/>
                    <a:pt x="24557" y="902114"/>
                  </a:cubicBezTo>
                  <a:cubicBezTo>
                    <a:pt x="8833" y="886391"/>
                    <a:pt x="0" y="865066"/>
                    <a:pt x="0" y="842830"/>
                  </a:cubicBezTo>
                  <a:lnTo>
                    <a:pt x="0" y="83841"/>
                  </a:lnTo>
                  <a:cubicBezTo>
                    <a:pt x="0" y="37537"/>
                    <a:pt x="37537" y="0"/>
                    <a:pt x="83841"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4" name="TextBox 14"/>
            <p:cNvSpPr txBox="1"/>
            <p:nvPr/>
          </p:nvSpPr>
          <p:spPr>
            <a:xfrm>
              <a:off x="0" y="38100"/>
              <a:ext cx="1216004" cy="888571"/>
            </a:xfrm>
            <a:prstGeom prst="rect">
              <a:avLst/>
            </a:prstGeom>
          </p:spPr>
          <p:txBody>
            <a:bodyPr lIns="50800" tIns="50800" rIns="50800" bIns="50800" rtlCol="0" anchor="ctr"/>
            <a:lstStyle/>
            <a:p>
              <a:pPr marL="0" lvl="0" indent="0" algn="ctr">
                <a:lnSpc>
                  <a:spcPts val="1619"/>
                </a:lnSpc>
              </a:pPr>
              <a:endParaRPr/>
            </a:p>
          </p:txBody>
        </p:sp>
      </p:grpSp>
      <p:grpSp>
        <p:nvGrpSpPr>
          <p:cNvPr id="15" name="Group 15"/>
          <p:cNvGrpSpPr/>
          <p:nvPr/>
        </p:nvGrpSpPr>
        <p:grpSpPr>
          <a:xfrm>
            <a:off x="6289499" y="5739847"/>
            <a:ext cx="4617017" cy="3518453"/>
            <a:chOff x="0" y="0"/>
            <a:chExt cx="1216004" cy="926671"/>
          </a:xfrm>
        </p:grpSpPr>
        <p:sp>
          <p:nvSpPr>
            <p:cNvPr id="16" name="Freeform 16"/>
            <p:cNvSpPr/>
            <p:nvPr/>
          </p:nvSpPr>
          <p:spPr>
            <a:xfrm>
              <a:off x="0" y="0"/>
              <a:ext cx="1216004" cy="926671"/>
            </a:xfrm>
            <a:custGeom>
              <a:avLst/>
              <a:gdLst/>
              <a:ahLst/>
              <a:cxnLst/>
              <a:rect l="l" t="t" r="r" b="b"/>
              <a:pathLst>
                <a:path w="1216004" h="926671">
                  <a:moveTo>
                    <a:pt x="83841" y="0"/>
                  </a:moveTo>
                  <a:lnTo>
                    <a:pt x="1132163" y="0"/>
                  </a:lnTo>
                  <a:cubicBezTo>
                    <a:pt x="1154399" y="0"/>
                    <a:pt x="1175725" y="8833"/>
                    <a:pt x="1191448" y="24557"/>
                  </a:cubicBezTo>
                  <a:cubicBezTo>
                    <a:pt x="1207171" y="40280"/>
                    <a:pt x="1216004" y="61605"/>
                    <a:pt x="1216004" y="83841"/>
                  </a:cubicBezTo>
                  <a:lnTo>
                    <a:pt x="1216004" y="842830"/>
                  </a:lnTo>
                  <a:cubicBezTo>
                    <a:pt x="1216004" y="889134"/>
                    <a:pt x="1178468" y="926671"/>
                    <a:pt x="1132163" y="926671"/>
                  </a:cubicBezTo>
                  <a:lnTo>
                    <a:pt x="83841" y="926671"/>
                  </a:lnTo>
                  <a:cubicBezTo>
                    <a:pt x="61605" y="926671"/>
                    <a:pt x="40280" y="917837"/>
                    <a:pt x="24557" y="902114"/>
                  </a:cubicBezTo>
                  <a:cubicBezTo>
                    <a:pt x="8833" y="886391"/>
                    <a:pt x="0" y="865066"/>
                    <a:pt x="0" y="842830"/>
                  </a:cubicBezTo>
                  <a:lnTo>
                    <a:pt x="0" y="83841"/>
                  </a:lnTo>
                  <a:cubicBezTo>
                    <a:pt x="0" y="37537"/>
                    <a:pt x="37537" y="0"/>
                    <a:pt x="83841" y="0"/>
                  </a:cubicBezTo>
                  <a:close/>
                </a:path>
              </a:pathLst>
            </a:custGeom>
            <a:solidFill>
              <a:srgbClr val="053416"/>
            </a:soli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7" name="TextBox 17"/>
            <p:cNvSpPr txBox="1"/>
            <p:nvPr/>
          </p:nvSpPr>
          <p:spPr>
            <a:xfrm>
              <a:off x="0" y="38100"/>
              <a:ext cx="1216004" cy="888571"/>
            </a:xfrm>
            <a:prstGeom prst="rect">
              <a:avLst/>
            </a:prstGeom>
          </p:spPr>
          <p:txBody>
            <a:bodyPr lIns="50800" tIns="50800" rIns="50800" bIns="50800" rtlCol="0" anchor="ctr"/>
            <a:lstStyle/>
            <a:p>
              <a:pPr marL="0" lvl="0" indent="0" algn="ctr">
                <a:lnSpc>
                  <a:spcPts val="1619"/>
                </a:lnSpc>
              </a:pPr>
              <a:endParaRPr/>
            </a:p>
          </p:txBody>
        </p:sp>
      </p:grpSp>
      <p:grpSp>
        <p:nvGrpSpPr>
          <p:cNvPr id="18" name="Group 18"/>
          <p:cNvGrpSpPr/>
          <p:nvPr/>
        </p:nvGrpSpPr>
        <p:grpSpPr>
          <a:xfrm>
            <a:off x="3588041" y="823594"/>
            <a:ext cx="2040239" cy="410211"/>
            <a:chOff x="0" y="0"/>
            <a:chExt cx="537347" cy="108039"/>
          </a:xfrm>
        </p:grpSpPr>
        <p:sp>
          <p:nvSpPr>
            <p:cNvPr id="19" name="Freeform 19"/>
            <p:cNvSpPr/>
            <p:nvPr/>
          </p:nvSpPr>
          <p:spPr>
            <a:xfrm>
              <a:off x="0" y="0"/>
              <a:ext cx="537347" cy="108039"/>
            </a:xfrm>
            <a:custGeom>
              <a:avLst/>
              <a:gdLst/>
              <a:ahLst/>
              <a:cxnLst/>
              <a:rect l="l" t="t" r="r" b="b"/>
              <a:pathLst>
                <a:path w="537347" h="108039">
                  <a:moveTo>
                    <a:pt x="54020" y="0"/>
                  </a:moveTo>
                  <a:lnTo>
                    <a:pt x="483327" y="0"/>
                  </a:lnTo>
                  <a:cubicBezTo>
                    <a:pt x="497654" y="0"/>
                    <a:pt x="511394" y="5691"/>
                    <a:pt x="521525" y="15822"/>
                  </a:cubicBezTo>
                  <a:cubicBezTo>
                    <a:pt x="531656" y="25953"/>
                    <a:pt x="537347" y="39693"/>
                    <a:pt x="537347" y="54020"/>
                  </a:cubicBezTo>
                  <a:lnTo>
                    <a:pt x="537347" y="54020"/>
                  </a:lnTo>
                  <a:cubicBezTo>
                    <a:pt x="537347" y="68346"/>
                    <a:pt x="531656" y="82087"/>
                    <a:pt x="521525" y="92217"/>
                  </a:cubicBezTo>
                  <a:cubicBezTo>
                    <a:pt x="511394" y="102348"/>
                    <a:pt x="497654" y="108039"/>
                    <a:pt x="483327" y="108039"/>
                  </a:cubicBezTo>
                  <a:lnTo>
                    <a:pt x="54020" y="108039"/>
                  </a:lnTo>
                  <a:cubicBezTo>
                    <a:pt x="39693" y="108039"/>
                    <a:pt x="25953" y="102348"/>
                    <a:pt x="15822" y="92217"/>
                  </a:cubicBezTo>
                  <a:cubicBezTo>
                    <a:pt x="5691" y="82087"/>
                    <a:pt x="0" y="68346"/>
                    <a:pt x="0" y="54020"/>
                  </a:cubicBezTo>
                  <a:lnTo>
                    <a:pt x="0" y="54020"/>
                  </a:lnTo>
                  <a:cubicBezTo>
                    <a:pt x="0" y="39693"/>
                    <a:pt x="5691" y="25953"/>
                    <a:pt x="15822" y="15822"/>
                  </a:cubicBezTo>
                  <a:cubicBezTo>
                    <a:pt x="25953" y="5691"/>
                    <a:pt x="39693" y="0"/>
                    <a:pt x="54020" y="0"/>
                  </a:cubicBezTo>
                  <a:close/>
                </a:path>
              </a:pathLst>
            </a:custGeom>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ln cap="rnd">
              <a:noFill/>
              <a:prstDash val="solid"/>
              <a:round/>
            </a:ln>
          </p:spPr>
          <p:txBody>
            <a:bodyPr/>
            <a:lstStyle/>
            <a:p>
              <a:endParaRPr lang="en-US"/>
            </a:p>
          </p:txBody>
        </p:sp>
        <p:sp>
          <p:nvSpPr>
            <p:cNvPr id="20" name="TextBox 20"/>
            <p:cNvSpPr txBox="1"/>
            <p:nvPr/>
          </p:nvSpPr>
          <p:spPr>
            <a:xfrm>
              <a:off x="0" y="38100"/>
              <a:ext cx="537347" cy="69939"/>
            </a:xfrm>
            <a:prstGeom prst="rect">
              <a:avLst/>
            </a:prstGeom>
          </p:spPr>
          <p:txBody>
            <a:bodyPr lIns="50800" tIns="50800" rIns="50800" bIns="50800" rtlCol="0" anchor="ctr"/>
            <a:lstStyle/>
            <a:p>
              <a:pPr marL="0" lvl="0" indent="0" algn="ctr">
                <a:lnSpc>
                  <a:spcPts val="1619"/>
                </a:lnSpc>
              </a:pPr>
              <a:endParaRPr/>
            </a:p>
          </p:txBody>
        </p:sp>
      </p:grpSp>
      <p:sp>
        <p:nvSpPr>
          <p:cNvPr id="21" name="TextBox 21"/>
          <p:cNvSpPr txBox="1"/>
          <p:nvPr/>
        </p:nvSpPr>
        <p:spPr>
          <a:xfrm>
            <a:off x="1157857" y="2223750"/>
            <a:ext cx="9165821" cy="1559537"/>
          </a:xfrm>
          <a:prstGeom prst="rect">
            <a:avLst/>
          </a:prstGeom>
        </p:spPr>
        <p:txBody>
          <a:bodyPr lIns="0" tIns="0" rIns="0" bIns="0" rtlCol="0" anchor="t">
            <a:spAutoFit/>
          </a:bodyPr>
          <a:lstStyle/>
          <a:p>
            <a:pPr marL="0" lvl="0" indent="0" algn="l">
              <a:lnSpc>
                <a:spcPts val="5926"/>
              </a:lnSpc>
              <a:spcBef>
                <a:spcPct val="0"/>
              </a:spcBef>
            </a:pPr>
            <a:r>
              <a:rPr lang="en-US" sz="6585" b="1" spc="-263">
                <a:solidFill>
                  <a:srgbClr val="FFFFFF"/>
                </a:solidFill>
                <a:latin typeface="Pragmatica Bold"/>
                <a:ea typeface="Pragmatica Bold"/>
                <a:cs typeface="Pragmatica Bold"/>
                <a:sym typeface="Pragmatica Bold"/>
              </a:rPr>
              <a:t>Technological</a:t>
            </a:r>
          </a:p>
          <a:p>
            <a:pPr marL="0" lvl="0" indent="0" algn="l">
              <a:lnSpc>
                <a:spcPts val="5926"/>
              </a:lnSpc>
              <a:spcBef>
                <a:spcPct val="0"/>
              </a:spcBef>
            </a:pPr>
            <a:r>
              <a:rPr lang="en-US" sz="6585" b="1" spc="-263">
                <a:solidFill>
                  <a:srgbClr val="FFFFFF"/>
                </a:solidFill>
                <a:latin typeface="Pragmatica Bold"/>
                <a:ea typeface="Pragmatica Bold"/>
                <a:cs typeface="Pragmatica Bold"/>
                <a:sym typeface="Pragmatica Bold"/>
              </a:rPr>
              <a:t>&amp; Environmental Impact</a:t>
            </a:r>
          </a:p>
        </p:txBody>
      </p:sp>
      <p:grpSp>
        <p:nvGrpSpPr>
          <p:cNvPr id="22" name="Group 22"/>
          <p:cNvGrpSpPr/>
          <p:nvPr/>
        </p:nvGrpSpPr>
        <p:grpSpPr>
          <a:xfrm>
            <a:off x="11338448" y="5739847"/>
            <a:ext cx="4617017" cy="3518453"/>
            <a:chOff x="0" y="0"/>
            <a:chExt cx="1216004" cy="926671"/>
          </a:xfrm>
        </p:grpSpPr>
        <p:sp>
          <p:nvSpPr>
            <p:cNvPr id="23" name="Freeform 23"/>
            <p:cNvSpPr/>
            <p:nvPr/>
          </p:nvSpPr>
          <p:spPr>
            <a:xfrm>
              <a:off x="0" y="0"/>
              <a:ext cx="1216004" cy="926671"/>
            </a:xfrm>
            <a:custGeom>
              <a:avLst/>
              <a:gdLst/>
              <a:ahLst/>
              <a:cxnLst/>
              <a:rect l="l" t="t" r="r" b="b"/>
              <a:pathLst>
                <a:path w="1216004" h="926671">
                  <a:moveTo>
                    <a:pt x="83841" y="0"/>
                  </a:moveTo>
                  <a:lnTo>
                    <a:pt x="1132163" y="0"/>
                  </a:lnTo>
                  <a:cubicBezTo>
                    <a:pt x="1154399" y="0"/>
                    <a:pt x="1175725" y="8833"/>
                    <a:pt x="1191448" y="24557"/>
                  </a:cubicBezTo>
                  <a:cubicBezTo>
                    <a:pt x="1207171" y="40280"/>
                    <a:pt x="1216004" y="61605"/>
                    <a:pt x="1216004" y="83841"/>
                  </a:cubicBezTo>
                  <a:lnTo>
                    <a:pt x="1216004" y="842830"/>
                  </a:lnTo>
                  <a:cubicBezTo>
                    <a:pt x="1216004" y="889134"/>
                    <a:pt x="1178468" y="926671"/>
                    <a:pt x="1132163" y="926671"/>
                  </a:cubicBezTo>
                  <a:lnTo>
                    <a:pt x="83841" y="926671"/>
                  </a:lnTo>
                  <a:cubicBezTo>
                    <a:pt x="61605" y="926671"/>
                    <a:pt x="40280" y="917837"/>
                    <a:pt x="24557" y="902114"/>
                  </a:cubicBezTo>
                  <a:cubicBezTo>
                    <a:pt x="8833" y="886391"/>
                    <a:pt x="0" y="865066"/>
                    <a:pt x="0" y="842830"/>
                  </a:cubicBezTo>
                  <a:lnTo>
                    <a:pt x="0" y="83841"/>
                  </a:lnTo>
                  <a:cubicBezTo>
                    <a:pt x="0" y="37537"/>
                    <a:pt x="37537" y="0"/>
                    <a:pt x="83841"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24" name="TextBox 24"/>
            <p:cNvSpPr txBox="1"/>
            <p:nvPr/>
          </p:nvSpPr>
          <p:spPr>
            <a:xfrm>
              <a:off x="0" y="38100"/>
              <a:ext cx="1216004" cy="888571"/>
            </a:xfrm>
            <a:prstGeom prst="rect">
              <a:avLst/>
            </a:prstGeom>
          </p:spPr>
          <p:txBody>
            <a:bodyPr lIns="50800" tIns="50800" rIns="50800" bIns="50800" rtlCol="0" anchor="ctr"/>
            <a:lstStyle/>
            <a:p>
              <a:pPr marL="0" lvl="0" indent="0" algn="ctr">
                <a:lnSpc>
                  <a:spcPts val="1619"/>
                </a:lnSpc>
              </a:pPr>
              <a:endParaRPr/>
            </a:p>
          </p:txBody>
        </p:sp>
      </p:grpSp>
      <p:grpSp>
        <p:nvGrpSpPr>
          <p:cNvPr id="25" name="Group 25"/>
          <p:cNvGrpSpPr/>
          <p:nvPr/>
        </p:nvGrpSpPr>
        <p:grpSpPr>
          <a:xfrm>
            <a:off x="16384090" y="5739847"/>
            <a:ext cx="4617017" cy="3518453"/>
            <a:chOff x="0" y="0"/>
            <a:chExt cx="1216004" cy="926671"/>
          </a:xfrm>
        </p:grpSpPr>
        <p:sp>
          <p:nvSpPr>
            <p:cNvPr id="26" name="Freeform 26"/>
            <p:cNvSpPr/>
            <p:nvPr/>
          </p:nvSpPr>
          <p:spPr>
            <a:xfrm>
              <a:off x="0" y="0"/>
              <a:ext cx="1216004" cy="926671"/>
            </a:xfrm>
            <a:custGeom>
              <a:avLst/>
              <a:gdLst/>
              <a:ahLst/>
              <a:cxnLst/>
              <a:rect l="l" t="t" r="r" b="b"/>
              <a:pathLst>
                <a:path w="1216004" h="926671">
                  <a:moveTo>
                    <a:pt x="83841" y="0"/>
                  </a:moveTo>
                  <a:lnTo>
                    <a:pt x="1132163" y="0"/>
                  </a:lnTo>
                  <a:cubicBezTo>
                    <a:pt x="1154399" y="0"/>
                    <a:pt x="1175725" y="8833"/>
                    <a:pt x="1191448" y="24557"/>
                  </a:cubicBezTo>
                  <a:cubicBezTo>
                    <a:pt x="1207171" y="40280"/>
                    <a:pt x="1216004" y="61605"/>
                    <a:pt x="1216004" y="83841"/>
                  </a:cubicBezTo>
                  <a:lnTo>
                    <a:pt x="1216004" y="842830"/>
                  </a:lnTo>
                  <a:cubicBezTo>
                    <a:pt x="1216004" y="889134"/>
                    <a:pt x="1178468" y="926671"/>
                    <a:pt x="1132163" y="926671"/>
                  </a:cubicBezTo>
                  <a:lnTo>
                    <a:pt x="83841" y="926671"/>
                  </a:lnTo>
                  <a:cubicBezTo>
                    <a:pt x="61605" y="926671"/>
                    <a:pt x="40280" y="917837"/>
                    <a:pt x="24557" y="902114"/>
                  </a:cubicBezTo>
                  <a:cubicBezTo>
                    <a:pt x="8833" y="886391"/>
                    <a:pt x="0" y="865066"/>
                    <a:pt x="0" y="842830"/>
                  </a:cubicBezTo>
                  <a:lnTo>
                    <a:pt x="0" y="83841"/>
                  </a:lnTo>
                  <a:cubicBezTo>
                    <a:pt x="0" y="37537"/>
                    <a:pt x="37537" y="0"/>
                    <a:pt x="83841"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27" name="TextBox 27"/>
            <p:cNvSpPr txBox="1"/>
            <p:nvPr/>
          </p:nvSpPr>
          <p:spPr>
            <a:xfrm>
              <a:off x="0" y="38100"/>
              <a:ext cx="1216004" cy="888571"/>
            </a:xfrm>
            <a:prstGeom prst="rect">
              <a:avLst/>
            </a:prstGeom>
          </p:spPr>
          <p:txBody>
            <a:bodyPr lIns="50800" tIns="50800" rIns="50800" bIns="50800" rtlCol="0" anchor="ctr"/>
            <a:lstStyle/>
            <a:p>
              <a:pPr marL="0" lvl="0" indent="0" algn="ctr">
                <a:lnSpc>
                  <a:spcPts val="1619"/>
                </a:lnSpc>
              </a:pPr>
              <a:endParaRPr/>
            </a:p>
          </p:txBody>
        </p:sp>
      </p:grpSp>
      <p:grpSp>
        <p:nvGrpSpPr>
          <p:cNvPr id="28" name="Group 28"/>
          <p:cNvGrpSpPr/>
          <p:nvPr/>
        </p:nvGrpSpPr>
        <p:grpSpPr>
          <a:xfrm>
            <a:off x="11677368" y="2141556"/>
            <a:ext cx="5542405" cy="2238518"/>
            <a:chOff x="0" y="0"/>
            <a:chExt cx="601748" cy="243040"/>
          </a:xfrm>
        </p:grpSpPr>
        <p:sp>
          <p:nvSpPr>
            <p:cNvPr id="29" name="Freeform 29"/>
            <p:cNvSpPr/>
            <p:nvPr/>
          </p:nvSpPr>
          <p:spPr>
            <a:xfrm>
              <a:off x="0" y="0"/>
              <a:ext cx="601748" cy="243040"/>
            </a:xfrm>
            <a:custGeom>
              <a:avLst/>
              <a:gdLst/>
              <a:ahLst/>
              <a:cxnLst/>
              <a:rect l="l" t="t" r="r" b="b"/>
              <a:pathLst>
                <a:path w="601748" h="243040">
                  <a:moveTo>
                    <a:pt x="44699" y="0"/>
                  </a:moveTo>
                  <a:lnTo>
                    <a:pt x="557049" y="0"/>
                  </a:lnTo>
                  <a:cubicBezTo>
                    <a:pt x="568904" y="0"/>
                    <a:pt x="580273" y="4709"/>
                    <a:pt x="588656" y="13092"/>
                  </a:cubicBezTo>
                  <a:cubicBezTo>
                    <a:pt x="597039" y="21475"/>
                    <a:pt x="601748" y="32844"/>
                    <a:pt x="601748" y="44699"/>
                  </a:cubicBezTo>
                  <a:lnTo>
                    <a:pt x="601748" y="198340"/>
                  </a:lnTo>
                  <a:cubicBezTo>
                    <a:pt x="601748" y="210195"/>
                    <a:pt x="597039" y="221565"/>
                    <a:pt x="588656" y="229947"/>
                  </a:cubicBezTo>
                  <a:cubicBezTo>
                    <a:pt x="580273" y="238330"/>
                    <a:pt x="568904" y="243040"/>
                    <a:pt x="557049" y="243040"/>
                  </a:cubicBezTo>
                  <a:lnTo>
                    <a:pt x="44699" y="243040"/>
                  </a:lnTo>
                  <a:cubicBezTo>
                    <a:pt x="32844" y="243040"/>
                    <a:pt x="21475" y="238330"/>
                    <a:pt x="13092" y="229947"/>
                  </a:cubicBezTo>
                  <a:cubicBezTo>
                    <a:pt x="4709" y="221565"/>
                    <a:pt x="0" y="210195"/>
                    <a:pt x="0" y="198340"/>
                  </a:cubicBezTo>
                  <a:lnTo>
                    <a:pt x="0" y="44699"/>
                  </a:lnTo>
                  <a:cubicBezTo>
                    <a:pt x="0" y="32844"/>
                    <a:pt x="4709" y="21475"/>
                    <a:pt x="13092" y="13092"/>
                  </a:cubicBezTo>
                  <a:cubicBezTo>
                    <a:pt x="21475" y="4709"/>
                    <a:pt x="32844" y="0"/>
                    <a:pt x="44699" y="0"/>
                  </a:cubicBezTo>
                  <a:close/>
                </a:path>
              </a:pathLst>
            </a:custGeom>
            <a:blipFill>
              <a:blip r:embed="rId3"/>
              <a:stretch>
                <a:fillRect l="-172" r="-172"/>
              </a:stretch>
            </a:blipFill>
          </p:spPr>
          <p:txBody>
            <a:bodyPr/>
            <a:lstStyle/>
            <a:p>
              <a:endParaRPr lang="en-US"/>
            </a:p>
          </p:txBody>
        </p:sp>
      </p:grpSp>
      <p:grpSp>
        <p:nvGrpSpPr>
          <p:cNvPr id="30" name="Group 30"/>
          <p:cNvGrpSpPr/>
          <p:nvPr/>
        </p:nvGrpSpPr>
        <p:grpSpPr>
          <a:xfrm>
            <a:off x="8767467" y="2141556"/>
            <a:ext cx="2725322" cy="2238518"/>
            <a:chOff x="0" y="0"/>
            <a:chExt cx="295893" cy="243040"/>
          </a:xfrm>
        </p:grpSpPr>
        <p:sp>
          <p:nvSpPr>
            <p:cNvPr id="31" name="Freeform 31"/>
            <p:cNvSpPr/>
            <p:nvPr/>
          </p:nvSpPr>
          <p:spPr>
            <a:xfrm>
              <a:off x="0" y="0"/>
              <a:ext cx="295893" cy="243040"/>
            </a:xfrm>
            <a:custGeom>
              <a:avLst/>
              <a:gdLst/>
              <a:ahLst/>
              <a:cxnLst/>
              <a:rect l="l" t="t" r="r" b="b"/>
              <a:pathLst>
                <a:path w="295893" h="243040">
                  <a:moveTo>
                    <a:pt x="90904" y="0"/>
                  </a:moveTo>
                  <a:lnTo>
                    <a:pt x="204989" y="0"/>
                  </a:lnTo>
                  <a:cubicBezTo>
                    <a:pt x="255194" y="0"/>
                    <a:pt x="295893" y="40699"/>
                    <a:pt x="295893" y="90904"/>
                  </a:cubicBezTo>
                  <a:lnTo>
                    <a:pt x="295893" y="152136"/>
                  </a:lnTo>
                  <a:cubicBezTo>
                    <a:pt x="295893" y="202341"/>
                    <a:pt x="255194" y="243040"/>
                    <a:pt x="204989" y="243040"/>
                  </a:cubicBezTo>
                  <a:lnTo>
                    <a:pt x="90904" y="243040"/>
                  </a:lnTo>
                  <a:cubicBezTo>
                    <a:pt x="66794" y="243040"/>
                    <a:pt x="43673" y="233462"/>
                    <a:pt x="26625" y="216415"/>
                  </a:cubicBezTo>
                  <a:cubicBezTo>
                    <a:pt x="9577" y="199367"/>
                    <a:pt x="0" y="176245"/>
                    <a:pt x="0" y="152136"/>
                  </a:cubicBezTo>
                  <a:lnTo>
                    <a:pt x="0" y="90904"/>
                  </a:lnTo>
                  <a:cubicBezTo>
                    <a:pt x="0" y="66794"/>
                    <a:pt x="9577" y="43673"/>
                    <a:pt x="26625" y="26625"/>
                  </a:cubicBezTo>
                  <a:cubicBezTo>
                    <a:pt x="43673" y="9577"/>
                    <a:pt x="66794" y="0"/>
                    <a:pt x="90904" y="0"/>
                  </a:cubicBezTo>
                  <a:close/>
                </a:path>
              </a:pathLst>
            </a:custGeom>
            <a:blipFill>
              <a:blip r:embed="rId4"/>
              <a:stretch>
                <a:fillRect l="-84" r="-84"/>
              </a:stretch>
            </a:blipFill>
          </p:spPr>
          <p:txBody>
            <a:bodyPr/>
            <a:lstStyle/>
            <a:p>
              <a:endParaRPr lang="en-US"/>
            </a:p>
          </p:txBody>
        </p:sp>
      </p:grpSp>
      <p:sp>
        <p:nvSpPr>
          <p:cNvPr id="32" name="TextBox 32"/>
          <p:cNvSpPr txBox="1"/>
          <p:nvPr/>
        </p:nvSpPr>
        <p:spPr>
          <a:xfrm>
            <a:off x="1157857" y="895287"/>
            <a:ext cx="2498812" cy="238272"/>
          </a:xfrm>
          <a:prstGeom prst="rect">
            <a:avLst/>
          </a:prstGeom>
        </p:spPr>
        <p:txBody>
          <a:bodyPr lIns="0" tIns="0" rIns="0" bIns="0" rtlCol="0" anchor="t">
            <a:spAutoFit/>
          </a:bodyPr>
          <a:lstStyle/>
          <a:p>
            <a:pPr marL="0" lvl="0" indent="0" algn="ctr">
              <a:lnSpc>
                <a:spcPts val="1902"/>
              </a:lnSpc>
            </a:pPr>
            <a:r>
              <a:rPr lang="en-US" sz="1399" spc="-34">
                <a:solidFill>
                  <a:srgbClr val="FFFFFF"/>
                </a:solidFill>
                <a:latin typeface="Canva Sans"/>
                <a:ea typeface="Canva Sans"/>
                <a:cs typeface="Canva Sans"/>
                <a:sym typeface="Canva Sans"/>
              </a:rPr>
              <a:t>Background of the study</a:t>
            </a:r>
          </a:p>
        </p:txBody>
      </p:sp>
      <p:sp>
        <p:nvSpPr>
          <p:cNvPr id="33" name="TextBox 33"/>
          <p:cNvSpPr txBox="1"/>
          <p:nvPr/>
        </p:nvSpPr>
        <p:spPr>
          <a:xfrm>
            <a:off x="3358755" y="895287"/>
            <a:ext cx="2498812" cy="238272"/>
          </a:xfrm>
          <a:prstGeom prst="rect">
            <a:avLst/>
          </a:prstGeom>
        </p:spPr>
        <p:txBody>
          <a:bodyPr lIns="0" tIns="0" rIns="0" bIns="0" rtlCol="0" anchor="t">
            <a:spAutoFit/>
          </a:bodyPr>
          <a:lstStyle/>
          <a:p>
            <a:pPr marL="0" lvl="0" indent="0" algn="ctr">
              <a:lnSpc>
                <a:spcPts val="1902"/>
              </a:lnSpc>
            </a:pPr>
            <a:r>
              <a:rPr lang="en-US" sz="1399" spc="-34">
                <a:solidFill>
                  <a:srgbClr val="FFFFFF"/>
                </a:solidFill>
                <a:latin typeface="Canva Sans"/>
                <a:ea typeface="Canva Sans"/>
                <a:cs typeface="Canva Sans"/>
                <a:sym typeface="Canva Sans"/>
              </a:rPr>
              <a:t>Problem Statement</a:t>
            </a:r>
          </a:p>
        </p:txBody>
      </p:sp>
      <p:sp>
        <p:nvSpPr>
          <p:cNvPr id="34" name="TextBox 34"/>
          <p:cNvSpPr txBox="1"/>
          <p:nvPr/>
        </p:nvSpPr>
        <p:spPr>
          <a:xfrm>
            <a:off x="5108285" y="895287"/>
            <a:ext cx="2498812" cy="238272"/>
          </a:xfrm>
          <a:prstGeom prst="rect">
            <a:avLst/>
          </a:prstGeom>
        </p:spPr>
        <p:txBody>
          <a:bodyPr lIns="0" tIns="0" rIns="0" bIns="0" rtlCol="0" anchor="t">
            <a:spAutoFit/>
          </a:bodyPr>
          <a:lstStyle/>
          <a:p>
            <a:pPr marL="0" lvl="0" indent="0" algn="ctr">
              <a:lnSpc>
                <a:spcPts val="1902"/>
              </a:lnSpc>
            </a:pPr>
            <a:r>
              <a:rPr lang="en-US" sz="1399" spc="-34">
                <a:solidFill>
                  <a:srgbClr val="FFFFFF"/>
                </a:solidFill>
                <a:latin typeface="Canva Sans"/>
                <a:ea typeface="Canva Sans"/>
                <a:cs typeface="Canva Sans"/>
                <a:sym typeface="Canva Sans"/>
              </a:rPr>
              <a:t>Framework</a:t>
            </a:r>
          </a:p>
        </p:txBody>
      </p:sp>
      <p:sp>
        <p:nvSpPr>
          <p:cNvPr id="35" name="TextBox 35"/>
          <p:cNvSpPr txBox="1"/>
          <p:nvPr/>
        </p:nvSpPr>
        <p:spPr>
          <a:xfrm>
            <a:off x="6552810" y="895287"/>
            <a:ext cx="2498812" cy="238272"/>
          </a:xfrm>
          <a:prstGeom prst="rect">
            <a:avLst/>
          </a:prstGeom>
        </p:spPr>
        <p:txBody>
          <a:bodyPr lIns="0" tIns="0" rIns="0" bIns="0" rtlCol="0" anchor="t">
            <a:spAutoFit/>
          </a:bodyPr>
          <a:lstStyle/>
          <a:p>
            <a:pPr marL="0" lvl="0" indent="0" algn="ctr">
              <a:lnSpc>
                <a:spcPts val="1902"/>
              </a:lnSpc>
            </a:pPr>
            <a:r>
              <a:rPr lang="en-US" sz="1399" spc="-34">
                <a:solidFill>
                  <a:srgbClr val="FFFFFF"/>
                </a:solidFill>
                <a:latin typeface="Canva Sans"/>
                <a:ea typeface="Canva Sans"/>
                <a:cs typeface="Canva Sans"/>
                <a:sym typeface="Canva Sans"/>
              </a:rPr>
              <a:t>Methodology</a:t>
            </a:r>
          </a:p>
        </p:txBody>
      </p:sp>
      <p:sp>
        <p:nvSpPr>
          <p:cNvPr id="36" name="TextBox 36"/>
          <p:cNvSpPr txBox="1"/>
          <p:nvPr/>
        </p:nvSpPr>
        <p:spPr>
          <a:xfrm>
            <a:off x="14585765" y="904812"/>
            <a:ext cx="2498812" cy="287300"/>
          </a:xfrm>
          <a:prstGeom prst="rect">
            <a:avLst/>
          </a:prstGeom>
        </p:spPr>
        <p:txBody>
          <a:bodyPr lIns="0" tIns="0" rIns="0" bIns="0" rtlCol="0" anchor="t">
            <a:spAutoFit/>
          </a:bodyPr>
          <a:lstStyle/>
          <a:p>
            <a:pPr marL="0" lvl="0" indent="0" algn="r">
              <a:lnSpc>
                <a:spcPts val="2446"/>
              </a:lnSpc>
            </a:pPr>
            <a:r>
              <a:rPr lang="en-US" sz="1798" b="1" spc="-44">
                <a:solidFill>
                  <a:srgbClr val="FFFFFF"/>
                </a:solidFill>
                <a:latin typeface="Canva Sans Bold"/>
                <a:ea typeface="Canva Sans Bold"/>
                <a:cs typeface="Canva Sans Bold"/>
                <a:sym typeface="Canva Sans Bold"/>
              </a:rPr>
              <a:t>Larana Company</a:t>
            </a:r>
          </a:p>
        </p:txBody>
      </p:sp>
      <p:sp>
        <p:nvSpPr>
          <p:cNvPr id="37" name="TextBox 37"/>
          <p:cNvSpPr txBox="1"/>
          <p:nvPr/>
        </p:nvSpPr>
        <p:spPr>
          <a:xfrm>
            <a:off x="1579470" y="6851548"/>
            <a:ext cx="3796441" cy="1853461"/>
          </a:xfrm>
          <a:prstGeom prst="rect">
            <a:avLst/>
          </a:prstGeom>
        </p:spPr>
        <p:txBody>
          <a:bodyPr lIns="0" tIns="0" rIns="0" bIns="0" rtlCol="0" anchor="t">
            <a:spAutoFit/>
          </a:bodyPr>
          <a:lstStyle/>
          <a:p>
            <a:pPr marL="0" lvl="0" indent="0" algn="l">
              <a:lnSpc>
                <a:spcPts val="2174"/>
              </a:lnSpc>
            </a:pPr>
            <a:r>
              <a:rPr lang="en-US" sz="1598" spc="-39">
                <a:solidFill>
                  <a:srgbClr val="FFFFFF"/>
                </a:solidFill>
                <a:latin typeface="Canva Sans"/>
                <a:ea typeface="Canva Sans"/>
                <a:cs typeface="Canva Sans"/>
                <a:sym typeface="Canva Sans"/>
              </a:rPr>
              <a:t>The AI contribution is a practical lab decision-support loop: merge process, SEM, EDX, and electrochemical data; learn recipe-performance relationships; recommend top next experiments; and feed new lab results back into the dataset.</a:t>
            </a:r>
          </a:p>
        </p:txBody>
      </p:sp>
      <p:sp>
        <p:nvSpPr>
          <p:cNvPr id="38" name="TextBox 38"/>
          <p:cNvSpPr txBox="1"/>
          <p:nvPr/>
        </p:nvSpPr>
        <p:spPr>
          <a:xfrm>
            <a:off x="6628419" y="6851548"/>
            <a:ext cx="3796441" cy="1586761"/>
          </a:xfrm>
          <a:prstGeom prst="rect">
            <a:avLst/>
          </a:prstGeom>
        </p:spPr>
        <p:txBody>
          <a:bodyPr lIns="0" tIns="0" rIns="0" bIns="0" rtlCol="0" anchor="t">
            <a:spAutoFit/>
          </a:bodyPr>
          <a:lstStyle/>
          <a:p>
            <a:pPr marL="0" lvl="0" indent="0" algn="l">
              <a:lnSpc>
                <a:spcPts val="2174"/>
              </a:lnSpc>
            </a:pPr>
            <a:r>
              <a:rPr lang="en-US" sz="1598" spc="-39">
                <a:solidFill>
                  <a:srgbClr val="FFFFFF"/>
                </a:solidFill>
                <a:latin typeface="Canva Sans"/>
                <a:ea typeface="Canva Sans"/>
                <a:cs typeface="Canva Sans"/>
                <a:sym typeface="Canva Sans"/>
              </a:rPr>
              <a:t>Manufacturing process achieves 100% recovery of hazardous H2S and H2Se gas emissions through closed-loop scrubbing systems, ensuring a safe, compliant, and environmentally responsible production environment.</a:t>
            </a:r>
          </a:p>
        </p:txBody>
      </p:sp>
      <p:sp>
        <p:nvSpPr>
          <p:cNvPr id="39" name="TextBox 39"/>
          <p:cNvSpPr txBox="1"/>
          <p:nvPr/>
        </p:nvSpPr>
        <p:spPr>
          <a:xfrm>
            <a:off x="1579470" y="6321736"/>
            <a:ext cx="4278097" cy="323134"/>
          </a:xfrm>
          <a:prstGeom prst="rect">
            <a:avLst/>
          </a:prstGeom>
        </p:spPr>
        <p:txBody>
          <a:bodyPr lIns="0" tIns="0" rIns="0" bIns="0" rtlCol="0" anchor="t">
            <a:spAutoFit/>
          </a:bodyPr>
          <a:lstStyle/>
          <a:p>
            <a:pPr marL="0" lvl="0" indent="0" algn="l">
              <a:lnSpc>
                <a:spcPts val="2459"/>
              </a:lnSpc>
            </a:pPr>
            <a:r>
              <a:rPr lang="en-US" sz="2794" b="1" spc="-139">
                <a:solidFill>
                  <a:srgbClr val="FFFFFF"/>
                </a:solidFill>
                <a:latin typeface="Pragmatica Bold"/>
                <a:ea typeface="Pragmatica Bold"/>
                <a:cs typeface="Pragmatica Bold"/>
                <a:sym typeface="Pragmatica Bold"/>
              </a:rPr>
              <a:t>Heterostructure Mastery</a:t>
            </a:r>
          </a:p>
        </p:txBody>
      </p:sp>
      <p:sp>
        <p:nvSpPr>
          <p:cNvPr id="40" name="TextBox 40"/>
          <p:cNvSpPr txBox="1"/>
          <p:nvPr/>
        </p:nvSpPr>
        <p:spPr>
          <a:xfrm>
            <a:off x="6628419" y="6321736"/>
            <a:ext cx="4278097" cy="323134"/>
          </a:xfrm>
          <a:prstGeom prst="rect">
            <a:avLst/>
          </a:prstGeom>
        </p:spPr>
        <p:txBody>
          <a:bodyPr lIns="0" tIns="0" rIns="0" bIns="0" rtlCol="0" anchor="t">
            <a:spAutoFit/>
          </a:bodyPr>
          <a:lstStyle/>
          <a:p>
            <a:pPr marL="0" lvl="0" indent="0" algn="l">
              <a:lnSpc>
                <a:spcPts val="2459"/>
              </a:lnSpc>
            </a:pPr>
            <a:r>
              <a:rPr lang="en-US" sz="2794" b="1" spc="-139">
                <a:solidFill>
                  <a:srgbClr val="FFFFFF"/>
                </a:solidFill>
                <a:latin typeface="Pragmatica Bold"/>
                <a:ea typeface="Pragmatica Bold"/>
                <a:cs typeface="Pragmatica Bold"/>
                <a:sym typeface="Pragmatica Bold"/>
              </a:rPr>
              <a:t>Emission Recovery</a:t>
            </a:r>
          </a:p>
        </p:txBody>
      </p:sp>
      <p:sp>
        <p:nvSpPr>
          <p:cNvPr id="41" name="TextBox 41"/>
          <p:cNvSpPr txBox="1"/>
          <p:nvPr/>
        </p:nvSpPr>
        <p:spPr>
          <a:xfrm>
            <a:off x="11677368" y="6851548"/>
            <a:ext cx="3796441" cy="1853461"/>
          </a:xfrm>
          <a:prstGeom prst="rect">
            <a:avLst/>
          </a:prstGeom>
        </p:spPr>
        <p:txBody>
          <a:bodyPr lIns="0" tIns="0" rIns="0" bIns="0" rtlCol="0" anchor="t">
            <a:spAutoFit/>
          </a:bodyPr>
          <a:lstStyle/>
          <a:p>
            <a:pPr marL="0" lvl="0" indent="0" algn="l">
              <a:lnSpc>
                <a:spcPts val="2174"/>
              </a:lnSpc>
            </a:pPr>
            <a:r>
              <a:rPr lang="en-US" sz="1598" spc="-39">
                <a:solidFill>
                  <a:srgbClr val="FFFFFF"/>
                </a:solidFill>
                <a:latin typeface="Canva Sans"/>
                <a:ea typeface="Canva Sans"/>
                <a:cs typeface="Canva Sans"/>
                <a:sym typeface="Canva Sans"/>
              </a:rPr>
              <a:t>Localized production of high-performance anode materials significantly reduces carbon emissions versus imported alternatives, supporting Vietnam's green energy transition and sustainable industrial development goals.</a:t>
            </a:r>
          </a:p>
        </p:txBody>
      </p:sp>
      <p:sp>
        <p:nvSpPr>
          <p:cNvPr id="42" name="TextBox 42"/>
          <p:cNvSpPr txBox="1"/>
          <p:nvPr/>
        </p:nvSpPr>
        <p:spPr>
          <a:xfrm>
            <a:off x="11677368" y="6321736"/>
            <a:ext cx="3939178" cy="323134"/>
          </a:xfrm>
          <a:prstGeom prst="rect">
            <a:avLst/>
          </a:prstGeom>
        </p:spPr>
        <p:txBody>
          <a:bodyPr lIns="0" tIns="0" rIns="0" bIns="0" rtlCol="0" anchor="t">
            <a:spAutoFit/>
          </a:bodyPr>
          <a:lstStyle/>
          <a:p>
            <a:pPr marL="0" lvl="0" indent="0" algn="l">
              <a:lnSpc>
                <a:spcPts val="2459"/>
              </a:lnSpc>
            </a:pPr>
            <a:r>
              <a:rPr lang="en-US" sz="2794" b="1" spc="-139">
                <a:solidFill>
                  <a:srgbClr val="FFFFFF"/>
                </a:solidFill>
                <a:latin typeface="Pragmatica Bold"/>
                <a:ea typeface="Pragmatica Bold"/>
                <a:cs typeface="Pragmatica Bold"/>
                <a:sym typeface="Pragmatica Bold"/>
              </a:rPr>
              <a:t>Carbon Reduction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AutoShape 3"/>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4" name="AutoShape 4"/>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p:cNvSpPr/>
          <p:nvPr/>
        </p:nvSpPr>
        <p:spPr>
          <a:xfrm>
            <a:off x="6075187"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AutoShape 7"/>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8" name="Freeform 8"/>
          <p:cNvSpPr/>
          <p:nvPr/>
        </p:nvSpPr>
        <p:spPr>
          <a:xfrm>
            <a:off x="14950017" y="-1114244"/>
            <a:ext cx="8534070" cy="11618164"/>
          </a:xfrm>
          <a:custGeom>
            <a:avLst/>
            <a:gdLst/>
            <a:ahLst/>
            <a:cxnLst/>
            <a:rect l="l" t="t" r="r" b="b"/>
            <a:pathLst>
              <a:path w="8534070" h="11618164">
                <a:moveTo>
                  <a:pt x="0" y="0"/>
                </a:moveTo>
                <a:lnTo>
                  <a:pt x="8534069" y="0"/>
                </a:lnTo>
                <a:lnTo>
                  <a:pt x="8534069" y="11618163"/>
                </a:lnTo>
                <a:lnTo>
                  <a:pt x="0" y="11618163"/>
                </a:lnTo>
                <a:lnTo>
                  <a:pt x="0" y="0"/>
                </a:lnTo>
                <a:close/>
              </a:path>
            </a:pathLst>
          </a:custGeom>
          <a:blipFill>
            <a:blip r:embed="rId2">
              <a:alphaModFix amt="50000"/>
            </a:blip>
            <a:stretch>
              <a:fillRect/>
            </a:stretch>
          </a:blipFill>
        </p:spPr>
        <p:txBody>
          <a:bodyPr/>
          <a:lstStyle/>
          <a:p>
            <a:endParaRPr lang="en-US"/>
          </a:p>
        </p:txBody>
      </p:sp>
      <p:grpSp>
        <p:nvGrpSpPr>
          <p:cNvPr id="9" name="Group 9"/>
          <p:cNvGrpSpPr/>
          <p:nvPr/>
        </p:nvGrpSpPr>
        <p:grpSpPr>
          <a:xfrm>
            <a:off x="1028700" y="654448"/>
            <a:ext cx="16230600" cy="748504"/>
            <a:chOff x="0" y="0"/>
            <a:chExt cx="4274726" cy="197137"/>
          </a:xfrm>
        </p:grpSpPr>
        <p:sp>
          <p:nvSpPr>
            <p:cNvPr id="10" name="Freeform 10"/>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1" name="TextBox 11"/>
            <p:cNvSpPr txBox="1"/>
            <p:nvPr/>
          </p:nvSpPr>
          <p:spPr>
            <a:xfrm>
              <a:off x="0" y="38100"/>
              <a:ext cx="4274726" cy="159037"/>
            </a:xfrm>
            <a:prstGeom prst="rect">
              <a:avLst/>
            </a:prstGeom>
          </p:spPr>
          <p:txBody>
            <a:bodyPr lIns="50800" tIns="50800" rIns="50800" bIns="50800" rtlCol="0" anchor="ctr"/>
            <a:lstStyle/>
            <a:p>
              <a:pPr marL="0" lvl="0" indent="0" algn="ctr">
                <a:lnSpc>
                  <a:spcPts val="1619"/>
                </a:lnSpc>
              </a:pPr>
              <a:endParaRPr/>
            </a:p>
          </p:txBody>
        </p:sp>
      </p:grpSp>
      <p:grpSp>
        <p:nvGrpSpPr>
          <p:cNvPr id="12" name="Group 12"/>
          <p:cNvGrpSpPr/>
          <p:nvPr/>
        </p:nvGrpSpPr>
        <p:grpSpPr>
          <a:xfrm>
            <a:off x="5599755" y="823594"/>
            <a:ext cx="1515871" cy="410211"/>
            <a:chOff x="0" y="0"/>
            <a:chExt cx="399242" cy="108039"/>
          </a:xfrm>
        </p:grpSpPr>
        <p:sp>
          <p:nvSpPr>
            <p:cNvPr id="13" name="Freeform 13"/>
            <p:cNvSpPr/>
            <p:nvPr/>
          </p:nvSpPr>
          <p:spPr>
            <a:xfrm>
              <a:off x="0" y="0"/>
              <a:ext cx="399242" cy="108039"/>
            </a:xfrm>
            <a:custGeom>
              <a:avLst/>
              <a:gdLst/>
              <a:ahLst/>
              <a:cxnLst/>
              <a:rect l="l" t="t" r="r" b="b"/>
              <a:pathLst>
                <a:path w="399242" h="108039">
                  <a:moveTo>
                    <a:pt x="54020" y="0"/>
                  </a:moveTo>
                  <a:lnTo>
                    <a:pt x="345222" y="0"/>
                  </a:lnTo>
                  <a:cubicBezTo>
                    <a:pt x="359549" y="0"/>
                    <a:pt x="373289" y="5691"/>
                    <a:pt x="383420" y="15822"/>
                  </a:cubicBezTo>
                  <a:cubicBezTo>
                    <a:pt x="393550" y="25953"/>
                    <a:pt x="399242" y="39693"/>
                    <a:pt x="399242" y="54020"/>
                  </a:cubicBezTo>
                  <a:lnTo>
                    <a:pt x="399242" y="54020"/>
                  </a:lnTo>
                  <a:cubicBezTo>
                    <a:pt x="399242" y="83854"/>
                    <a:pt x="375056" y="108039"/>
                    <a:pt x="345222" y="108039"/>
                  </a:cubicBezTo>
                  <a:lnTo>
                    <a:pt x="54020" y="108039"/>
                  </a:lnTo>
                  <a:cubicBezTo>
                    <a:pt x="39693" y="108039"/>
                    <a:pt x="25953" y="102348"/>
                    <a:pt x="15822" y="92217"/>
                  </a:cubicBezTo>
                  <a:cubicBezTo>
                    <a:pt x="5691" y="82087"/>
                    <a:pt x="0" y="68346"/>
                    <a:pt x="0" y="54020"/>
                  </a:cubicBezTo>
                  <a:lnTo>
                    <a:pt x="0" y="54020"/>
                  </a:lnTo>
                  <a:cubicBezTo>
                    <a:pt x="0" y="39693"/>
                    <a:pt x="5691" y="25953"/>
                    <a:pt x="15822" y="15822"/>
                  </a:cubicBezTo>
                  <a:cubicBezTo>
                    <a:pt x="25953" y="5691"/>
                    <a:pt x="39693" y="0"/>
                    <a:pt x="54020" y="0"/>
                  </a:cubicBezTo>
                  <a:close/>
                </a:path>
              </a:pathLst>
            </a:custGeom>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ln cap="rnd">
              <a:noFill/>
              <a:prstDash val="solid"/>
              <a:round/>
            </a:ln>
          </p:spPr>
          <p:txBody>
            <a:bodyPr/>
            <a:lstStyle/>
            <a:p>
              <a:endParaRPr lang="en-US"/>
            </a:p>
          </p:txBody>
        </p:sp>
        <p:sp>
          <p:nvSpPr>
            <p:cNvPr id="14" name="TextBox 14"/>
            <p:cNvSpPr txBox="1"/>
            <p:nvPr/>
          </p:nvSpPr>
          <p:spPr>
            <a:xfrm>
              <a:off x="0" y="38100"/>
              <a:ext cx="399242" cy="69939"/>
            </a:xfrm>
            <a:prstGeom prst="rect">
              <a:avLst/>
            </a:prstGeom>
          </p:spPr>
          <p:txBody>
            <a:bodyPr lIns="50800" tIns="50800" rIns="50800" bIns="50800" rtlCol="0" anchor="ctr"/>
            <a:lstStyle/>
            <a:p>
              <a:pPr marL="0" lvl="0" indent="0" algn="ctr">
                <a:lnSpc>
                  <a:spcPts val="1619"/>
                </a:lnSpc>
              </a:pPr>
              <a:endParaRPr/>
            </a:p>
          </p:txBody>
        </p:sp>
      </p:grpSp>
      <p:grpSp>
        <p:nvGrpSpPr>
          <p:cNvPr id="15" name="Group 15"/>
          <p:cNvGrpSpPr/>
          <p:nvPr/>
        </p:nvGrpSpPr>
        <p:grpSpPr>
          <a:xfrm>
            <a:off x="9144000" y="6100424"/>
            <a:ext cx="7642726" cy="2985427"/>
            <a:chOff x="0" y="0"/>
            <a:chExt cx="2012899" cy="786285"/>
          </a:xfrm>
        </p:grpSpPr>
        <p:sp>
          <p:nvSpPr>
            <p:cNvPr id="16" name="Freeform 16"/>
            <p:cNvSpPr/>
            <p:nvPr/>
          </p:nvSpPr>
          <p:spPr>
            <a:xfrm>
              <a:off x="0" y="0"/>
              <a:ext cx="2012899" cy="786285"/>
            </a:xfrm>
            <a:custGeom>
              <a:avLst/>
              <a:gdLst/>
              <a:ahLst/>
              <a:cxnLst/>
              <a:rect l="l" t="t" r="r" b="b"/>
              <a:pathLst>
                <a:path w="2012899" h="786285">
                  <a:moveTo>
                    <a:pt x="50649" y="0"/>
                  </a:moveTo>
                  <a:lnTo>
                    <a:pt x="1962250" y="0"/>
                  </a:lnTo>
                  <a:cubicBezTo>
                    <a:pt x="1990223" y="0"/>
                    <a:pt x="2012899" y="22676"/>
                    <a:pt x="2012899" y="50649"/>
                  </a:cubicBezTo>
                  <a:lnTo>
                    <a:pt x="2012899" y="735636"/>
                  </a:lnTo>
                  <a:cubicBezTo>
                    <a:pt x="2012899" y="763609"/>
                    <a:pt x="1990223" y="786285"/>
                    <a:pt x="1962250" y="786285"/>
                  </a:cubicBezTo>
                  <a:lnTo>
                    <a:pt x="50649" y="786285"/>
                  </a:lnTo>
                  <a:cubicBezTo>
                    <a:pt x="22676" y="786285"/>
                    <a:pt x="0" y="763609"/>
                    <a:pt x="0" y="735636"/>
                  </a:cubicBezTo>
                  <a:lnTo>
                    <a:pt x="0" y="50649"/>
                  </a:lnTo>
                  <a:cubicBezTo>
                    <a:pt x="0" y="22676"/>
                    <a:pt x="22676" y="0"/>
                    <a:pt x="50649"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7" name="TextBox 17"/>
            <p:cNvSpPr txBox="1"/>
            <p:nvPr/>
          </p:nvSpPr>
          <p:spPr>
            <a:xfrm>
              <a:off x="0" y="38100"/>
              <a:ext cx="2012899" cy="748185"/>
            </a:xfrm>
            <a:prstGeom prst="rect">
              <a:avLst/>
            </a:prstGeom>
          </p:spPr>
          <p:txBody>
            <a:bodyPr lIns="50800" tIns="50800" rIns="50800" bIns="50800" rtlCol="0" anchor="ctr"/>
            <a:lstStyle/>
            <a:p>
              <a:pPr marL="0" lvl="0" indent="0" algn="ctr">
                <a:lnSpc>
                  <a:spcPts val="1619"/>
                </a:lnSpc>
              </a:pPr>
              <a:endParaRPr/>
            </a:p>
          </p:txBody>
        </p:sp>
      </p:grpSp>
      <p:grpSp>
        <p:nvGrpSpPr>
          <p:cNvPr id="18" name="Group 18"/>
          <p:cNvGrpSpPr/>
          <p:nvPr/>
        </p:nvGrpSpPr>
        <p:grpSpPr>
          <a:xfrm>
            <a:off x="1681697" y="3141533"/>
            <a:ext cx="6315355" cy="1613819"/>
            <a:chOff x="0" y="0"/>
            <a:chExt cx="1663303" cy="425039"/>
          </a:xfrm>
        </p:grpSpPr>
        <p:sp>
          <p:nvSpPr>
            <p:cNvPr id="19" name="Freeform 19"/>
            <p:cNvSpPr/>
            <p:nvPr/>
          </p:nvSpPr>
          <p:spPr>
            <a:xfrm>
              <a:off x="0" y="0"/>
              <a:ext cx="1663303" cy="425039"/>
            </a:xfrm>
            <a:custGeom>
              <a:avLst/>
              <a:gdLst/>
              <a:ahLst/>
              <a:cxnLst/>
              <a:rect l="l" t="t" r="r" b="b"/>
              <a:pathLst>
                <a:path w="1663303" h="425039">
                  <a:moveTo>
                    <a:pt x="61294" y="0"/>
                  </a:moveTo>
                  <a:lnTo>
                    <a:pt x="1602009" y="0"/>
                  </a:lnTo>
                  <a:cubicBezTo>
                    <a:pt x="1635861" y="0"/>
                    <a:pt x="1663303" y="27442"/>
                    <a:pt x="1663303" y="61294"/>
                  </a:cubicBezTo>
                  <a:lnTo>
                    <a:pt x="1663303" y="363744"/>
                  </a:lnTo>
                  <a:cubicBezTo>
                    <a:pt x="1663303" y="397596"/>
                    <a:pt x="1635861" y="425039"/>
                    <a:pt x="1602009" y="425039"/>
                  </a:cubicBezTo>
                  <a:lnTo>
                    <a:pt x="61294" y="425039"/>
                  </a:lnTo>
                  <a:cubicBezTo>
                    <a:pt x="27442" y="425039"/>
                    <a:pt x="0" y="397596"/>
                    <a:pt x="0" y="363744"/>
                  </a:cubicBezTo>
                  <a:lnTo>
                    <a:pt x="0" y="61294"/>
                  </a:lnTo>
                  <a:cubicBezTo>
                    <a:pt x="0" y="27442"/>
                    <a:pt x="27442" y="0"/>
                    <a:pt x="61294"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20" name="TextBox 20"/>
            <p:cNvSpPr txBox="1"/>
            <p:nvPr/>
          </p:nvSpPr>
          <p:spPr>
            <a:xfrm>
              <a:off x="0" y="38100"/>
              <a:ext cx="1663303" cy="386939"/>
            </a:xfrm>
            <a:prstGeom prst="rect">
              <a:avLst/>
            </a:prstGeom>
          </p:spPr>
          <p:txBody>
            <a:bodyPr lIns="50800" tIns="50800" rIns="50800" bIns="50800" rtlCol="0" anchor="ctr"/>
            <a:lstStyle/>
            <a:p>
              <a:pPr marL="0" lvl="0" indent="0" algn="ctr">
                <a:lnSpc>
                  <a:spcPts val="1619"/>
                </a:lnSpc>
              </a:pPr>
              <a:endParaRPr/>
            </a:p>
          </p:txBody>
        </p:sp>
      </p:grpSp>
      <p:grpSp>
        <p:nvGrpSpPr>
          <p:cNvPr id="21" name="Group 21"/>
          <p:cNvGrpSpPr/>
          <p:nvPr/>
        </p:nvGrpSpPr>
        <p:grpSpPr>
          <a:xfrm>
            <a:off x="1676285" y="5265076"/>
            <a:ext cx="6315355" cy="1613819"/>
            <a:chOff x="0" y="0"/>
            <a:chExt cx="1663303" cy="425039"/>
          </a:xfrm>
        </p:grpSpPr>
        <p:sp>
          <p:nvSpPr>
            <p:cNvPr id="22" name="Freeform 22"/>
            <p:cNvSpPr/>
            <p:nvPr/>
          </p:nvSpPr>
          <p:spPr>
            <a:xfrm>
              <a:off x="0" y="0"/>
              <a:ext cx="1663303" cy="425039"/>
            </a:xfrm>
            <a:custGeom>
              <a:avLst/>
              <a:gdLst/>
              <a:ahLst/>
              <a:cxnLst/>
              <a:rect l="l" t="t" r="r" b="b"/>
              <a:pathLst>
                <a:path w="1663303" h="425039">
                  <a:moveTo>
                    <a:pt x="61294" y="0"/>
                  </a:moveTo>
                  <a:lnTo>
                    <a:pt x="1602009" y="0"/>
                  </a:lnTo>
                  <a:cubicBezTo>
                    <a:pt x="1635861" y="0"/>
                    <a:pt x="1663303" y="27442"/>
                    <a:pt x="1663303" y="61294"/>
                  </a:cubicBezTo>
                  <a:lnTo>
                    <a:pt x="1663303" y="363744"/>
                  </a:lnTo>
                  <a:cubicBezTo>
                    <a:pt x="1663303" y="397596"/>
                    <a:pt x="1635861" y="425039"/>
                    <a:pt x="1602009" y="425039"/>
                  </a:cubicBezTo>
                  <a:lnTo>
                    <a:pt x="61294" y="425039"/>
                  </a:lnTo>
                  <a:cubicBezTo>
                    <a:pt x="27442" y="425039"/>
                    <a:pt x="0" y="397596"/>
                    <a:pt x="0" y="363744"/>
                  </a:cubicBezTo>
                  <a:lnTo>
                    <a:pt x="0" y="61294"/>
                  </a:lnTo>
                  <a:cubicBezTo>
                    <a:pt x="0" y="27442"/>
                    <a:pt x="27442" y="0"/>
                    <a:pt x="61294" y="0"/>
                  </a:cubicBezTo>
                  <a:close/>
                </a:path>
              </a:pathLst>
            </a:custGeom>
            <a:solidFill>
              <a:srgbClr val="004119"/>
            </a:soli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23" name="TextBox 23"/>
            <p:cNvSpPr txBox="1"/>
            <p:nvPr/>
          </p:nvSpPr>
          <p:spPr>
            <a:xfrm>
              <a:off x="0" y="38100"/>
              <a:ext cx="1663303" cy="386939"/>
            </a:xfrm>
            <a:prstGeom prst="rect">
              <a:avLst/>
            </a:prstGeom>
          </p:spPr>
          <p:txBody>
            <a:bodyPr lIns="50800" tIns="50800" rIns="50800" bIns="50800" rtlCol="0" anchor="ctr"/>
            <a:lstStyle/>
            <a:p>
              <a:pPr marL="0" lvl="0" indent="0" algn="ctr">
                <a:lnSpc>
                  <a:spcPts val="1619"/>
                </a:lnSpc>
              </a:pPr>
              <a:endParaRPr/>
            </a:p>
          </p:txBody>
        </p:sp>
      </p:grpSp>
      <p:grpSp>
        <p:nvGrpSpPr>
          <p:cNvPr id="24" name="Group 24"/>
          <p:cNvGrpSpPr/>
          <p:nvPr/>
        </p:nvGrpSpPr>
        <p:grpSpPr>
          <a:xfrm>
            <a:off x="1230095" y="3058120"/>
            <a:ext cx="1786099" cy="1780643"/>
            <a:chOff x="0" y="0"/>
            <a:chExt cx="399722" cy="398501"/>
          </a:xfrm>
        </p:grpSpPr>
        <p:sp>
          <p:nvSpPr>
            <p:cNvPr id="25" name="Freeform 25"/>
            <p:cNvSpPr/>
            <p:nvPr/>
          </p:nvSpPr>
          <p:spPr>
            <a:xfrm>
              <a:off x="0" y="0"/>
              <a:ext cx="399722" cy="398501"/>
            </a:xfrm>
            <a:custGeom>
              <a:avLst/>
              <a:gdLst/>
              <a:ahLst/>
              <a:cxnLst/>
              <a:rect l="l" t="t" r="r" b="b"/>
              <a:pathLst>
                <a:path w="399722" h="398501">
                  <a:moveTo>
                    <a:pt x="86691" y="0"/>
                  </a:moveTo>
                  <a:lnTo>
                    <a:pt x="313031" y="0"/>
                  </a:lnTo>
                  <a:cubicBezTo>
                    <a:pt x="336023" y="0"/>
                    <a:pt x="358073" y="9133"/>
                    <a:pt x="374330" y="25391"/>
                  </a:cubicBezTo>
                  <a:cubicBezTo>
                    <a:pt x="390588" y="41649"/>
                    <a:pt x="399722" y="63699"/>
                    <a:pt x="399722" y="86691"/>
                  </a:cubicBezTo>
                  <a:lnTo>
                    <a:pt x="399722" y="311810"/>
                  </a:lnTo>
                  <a:cubicBezTo>
                    <a:pt x="399722" y="334802"/>
                    <a:pt x="390588" y="356852"/>
                    <a:pt x="374330" y="373109"/>
                  </a:cubicBezTo>
                  <a:cubicBezTo>
                    <a:pt x="358073" y="389367"/>
                    <a:pt x="336023" y="398501"/>
                    <a:pt x="313031" y="398501"/>
                  </a:cubicBezTo>
                  <a:lnTo>
                    <a:pt x="86691" y="398501"/>
                  </a:lnTo>
                  <a:cubicBezTo>
                    <a:pt x="63699" y="398501"/>
                    <a:pt x="41649" y="389367"/>
                    <a:pt x="25391" y="373109"/>
                  </a:cubicBezTo>
                  <a:cubicBezTo>
                    <a:pt x="9133" y="356852"/>
                    <a:pt x="0" y="334802"/>
                    <a:pt x="0" y="311810"/>
                  </a:cubicBezTo>
                  <a:lnTo>
                    <a:pt x="0" y="86691"/>
                  </a:lnTo>
                  <a:cubicBezTo>
                    <a:pt x="0" y="63699"/>
                    <a:pt x="9133" y="41649"/>
                    <a:pt x="25391" y="25391"/>
                  </a:cubicBezTo>
                  <a:cubicBezTo>
                    <a:pt x="41649" y="9133"/>
                    <a:pt x="63699" y="0"/>
                    <a:pt x="86691" y="0"/>
                  </a:cubicBezTo>
                  <a:close/>
                </a:path>
              </a:pathLst>
            </a:custGeom>
            <a:blipFill>
              <a:blip r:embed="rId3"/>
              <a:stretch>
                <a:fillRect l="-34" r="-34"/>
              </a:stretch>
            </a:blipFill>
          </p:spPr>
          <p:txBody>
            <a:bodyPr/>
            <a:lstStyle/>
            <a:p>
              <a:endParaRPr lang="en-US"/>
            </a:p>
          </p:txBody>
        </p:sp>
      </p:grpSp>
      <p:grpSp>
        <p:nvGrpSpPr>
          <p:cNvPr id="26" name="Group 26"/>
          <p:cNvGrpSpPr/>
          <p:nvPr/>
        </p:nvGrpSpPr>
        <p:grpSpPr>
          <a:xfrm>
            <a:off x="1224683" y="5181664"/>
            <a:ext cx="1786099" cy="1780643"/>
            <a:chOff x="0" y="0"/>
            <a:chExt cx="399722" cy="398501"/>
          </a:xfrm>
        </p:grpSpPr>
        <p:sp>
          <p:nvSpPr>
            <p:cNvPr id="27" name="Freeform 27"/>
            <p:cNvSpPr/>
            <p:nvPr/>
          </p:nvSpPr>
          <p:spPr>
            <a:xfrm>
              <a:off x="0" y="0"/>
              <a:ext cx="399722" cy="398501"/>
            </a:xfrm>
            <a:custGeom>
              <a:avLst/>
              <a:gdLst/>
              <a:ahLst/>
              <a:cxnLst/>
              <a:rect l="l" t="t" r="r" b="b"/>
              <a:pathLst>
                <a:path w="399722" h="398501">
                  <a:moveTo>
                    <a:pt x="86691" y="0"/>
                  </a:moveTo>
                  <a:lnTo>
                    <a:pt x="313031" y="0"/>
                  </a:lnTo>
                  <a:cubicBezTo>
                    <a:pt x="336023" y="0"/>
                    <a:pt x="358073" y="9133"/>
                    <a:pt x="374330" y="25391"/>
                  </a:cubicBezTo>
                  <a:cubicBezTo>
                    <a:pt x="390588" y="41649"/>
                    <a:pt x="399722" y="63699"/>
                    <a:pt x="399722" y="86691"/>
                  </a:cubicBezTo>
                  <a:lnTo>
                    <a:pt x="399722" y="311810"/>
                  </a:lnTo>
                  <a:cubicBezTo>
                    <a:pt x="399722" y="334802"/>
                    <a:pt x="390588" y="356852"/>
                    <a:pt x="374330" y="373109"/>
                  </a:cubicBezTo>
                  <a:cubicBezTo>
                    <a:pt x="358073" y="389367"/>
                    <a:pt x="336023" y="398501"/>
                    <a:pt x="313031" y="398501"/>
                  </a:cubicBezTo>
                  <a:lnTo>
                    <a:pt x="86691" y="398501"/>
                  </a:lnTo>
                  <a:cubicBezTo>
                    <a:pt x="63699" y="398501"/>
                    <a:pt x="41649" y="389367"/>
                    <a:pt x="25391" y="373109"/>
                  </a:cubicBezTo>
                  <a:cubicBezTo>
                    <a:pt x="9133" y="356852"/>
                    <a:pt x="0" y="334802"/>
                    <a:pt x="0" y="311810"/>
                  </a:cubicBezTo>
                  <a:lnTo>
                    <a:pt x="0" y="86691"/>
                  </a:lnTo>
                  <a:cubicBezTo>
                    <a:pt x="0" y="63699"/>
                    <a:pt x="9133" y="41649"/>
                    <a:pt x="25391" y="25391"/>
                  </a:cubicBezTo>
                  <a:cubicBezTo>
                    <a:pt x="41649" y="9133"/>
                    <a:pt x="63699" y="0"/>
                    <a:pt x="86691" y="0"/>
                  </a:cubicBezTo>
                  <a:close/>
                </a:path>
              </a:pathLst>
            </a:custGeom>
            <a:blipFill>
              <a:blip r:embed="rId4"/>
              <a:stretch>
                <a:fillRect l="-34" r="-34"/>
              </a:stretch>
            </a:blipFill>
          </p:spPr>
          <p:txBody>
            <a:bodyPr/>
            <a:lstStyle/>
            <a:p>
              <a:endParaRPr lang="en-US"/>
            </a:p>
          </p:txBody>
        </p:sp>
      </p:grpSp>
      <p:grpSp>
        <p:nvGrpSpPr>
          <p:cNvPr id="28" name="Group 28"/>
          <p:cNvGrpSpPr/>
          <p:nvPr/>
        </p:nvGrpSpPr>
        <p:grpSpPr>
          <a:xfrm>
            <a:off x="1670873" y="7388619"/>
            <a:ext cx="6315355" cy="1613819"/>
            <a:chOff x="0" y="0"/>
            <a:chExt cx="1663303" cy="425039"/>
          </a:xfrm>
        </p:grpSpPr>
        <p:sp>
          <p:nvSpPr>
            <p:cNvPr id="29" name="Freeform 29"/>
            <p:cNvSpPr/>
            <p:nvPr/>
          </p:nvSpPr>
          <p:spPr>
            <a:xfrm>
              <a:off x="0" y="0"/>
              <a:ext cx="1663303" cy="425039"/>
            </a:xfrm>
            <a:custGeom>
              <a:avLst/>
              <a:gdLst/>
              <a:ahLst/>
              <a:cxnLst/>
              <a:rect l="l" t="t" r="r" b="b"/>
              <a:pathLst>
                <a:path w="1663303" h="425039">
                  <a:moveTo>
                    <a:pt x="61294" y="0"/>
                  </a:moveTo>
                  <a:lnTo>
                    <a:pt x="1602009" y="0"/>
                  </a:lnTo>
                  <a:cubicBezTo>
                    <a:pt x="1635861" y="0"/>
                    <a:pt x="1663303" y="27442"/>
                    <a:pt x="1663303" y="61294"/>
                  </a:cubicBezTo>
                  <a:lnTo>
                    <a:pt x="1663303" y="363744"/>
                  </a:lnTo>
                  <a:cubicBezTo>
                    <a:pt x="1663303" y="397596"/>
                    <a:pt x="1635861" y="425039"/>
                    <a:pt x="1602009" y="425039"/>
                  </a:cubicBezTo>
                  <a:lnTo>
                    <a:pt x="61294" y="425039"/>
                  </a:lnTo>
                  <a:cubicBezTo>
                    <a:pt x="27442" y="425039"/>
                    <a:pt x="0" y="397596"/>
                    <a:pt x="0" y="363744"/>
                  </a:cubicBezTo>
                  <a:lnTo>
                    <a:pt x="0" y="61294"/>
                  </a:lnTo>
                  <a:cubicBezTo>
                    <a:pt x="0" y="27442"/>
                    <a:pt x="27442" y="0"/>
                    <a:pt x="61294"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30" name="TextBox 30"/>
            <p:cNvSpPr txBox="1"/>
            <p:nvPr/>
          </p:nvSpPr>
          <p:spPr>
            <a:xfrm>
              <a:off x="0" y="38100"/>
              <a:ext cx="1663303" cy="386939"/>
            </a:xfrm>
            <a:prstGeom prst="rect">
              <a:avLst/>
            </a:prstGeom>
          </p:spPr>
          <p:txBody>
            <a:bodyPr lIns="50800" tIns="50800" rIns="50800" bIns="50800" rtlCol="0" anchor="ctr"/>
            <a:lstStyle/>
            <a:p>
              <a:pPr marL="0" lvl="0" indent="0" algn="ctr">
                <a:lnSpc>
                  <a:spcPts val="1619"/>
                </a:lnSpc>
              </a:pPr>
              <a:endParaRPr/>
            </a:p>
          </p:txBody>
        </p:sp>
      </p:grpSp>
      <p:grpSp>
        <p:nvGrpSpPr>
          <p:cNvPr id="31" name="Group 31"/>
          <p:cNvGrpSpPr/>
          <p:nvPr/>
        </p:nvGrpSpPr>
        <p:grpSpPr>
          <a:xfrm>
            <a:off x="1219271" y="7305207"/>
            <a:ext cx="1786099" cy="1780643"/>
            <a:chOff x="0" y="0"/>
            <a:chExt cx="399722" cy="398501"/>
          </a:xfrm>
        </p:grpSpPr>
        <p:sp>
          <p:nvSpPr>
            <p:cNvPr id="32" name="Freeform 32"/>
            <p:cNvSpPr/>
            <p:nvPr/>
          </p:nvSpPr>
          <p:spPr>
            <a:xfrm>
              <a:off x="0" y="0"/>
              <a:ext cx="399722" cy="398501"/>
            </a:xfrm>
            <a:custGeom>
              <a:avLst/>
              <a:gdLst/>
              <a:ahLst/>
              <a:cxnLst/>
              <a:rect l="l" t="t" r="r" b="b"/>
              <a:pathLst>
                <a:path w="399722" h="398501">
                  <a:moveTo>
                    <a:pt x="86691" y="0"/>
                  </a:moveTo>
                  <a:lnTo>
                    <a:pt x="313031" y="0"/>
                  </a:lnTo>
                  <a:cubicBezTo>
                    <a:pt x="336023" y="0"/>
                    <a:pt x="358073" y="9133"/>
                    <a:pt x="374330" y="25391"/>
                  </a:cubicBezTo>
                  <a:cubicBezTo>
                    <a:pt x="390588" y="41649"/>
                    <a:pt x="399722" y="63699"/>
                    <a:pt x="399722" y="86691"/>
                  </a:cubicBezTo>
                  <a:lnTo>
                    <a:pt x="399722" y="311810"/>
                  </a:lnTo>
                  <a:cubicBezTo>
                    <a:pt x="399722" y="334802"/>
                    <a:pt x="390588" y="356852"/>
                    <a:pt x="374330" y="373109"/>
                  </a:cubicBezTo>
                  <a:cubicBezTo>
                    <a:pt x="358073" y="389367"/>
                    <a:pt x="336023" y="398501"/>
                    <a:pt x="313031" y="398501"/>
                  </a:cubicBezTo>
                  <a:lnTo>
                    <a:pt x="86691" y="398501"/>
                  </a:lnTo>
                  <a:cubicBezTo>
                    <a:pt x="63699" y="398501"/>
                    <a:pt x="41649" y="389367"/>
                    <a:pt x="25391" y="373109"/>
                  </a:cubicBezTo>
                  <a:cubicBezTo>
                    <a:pt x="9133" y="356852"/>
                    <a:pt x="0" y="334802"/>
                    <a:pt x="0" y="311810"/>
                  </a:cubicBezTo>
                  <a:lnTo>
                    <a:pt x="0" y="86691"/>
                  </a:lnTo>
                  <a:cubicBezTo>
                    <a:pt x="0" y="63699"/>
                    <a:pt x="9133" y="41649"/>
                    <a:pt x="25391" y="25391"/>
                  </a:cubicBezTo>
                  <a:cubicBezTo>
                    <a:pt x="41649" y="9133"/>
                    <a:pt x="63699" y="0"/>
                    <a:pt x="86691" y="0"/>
                  </a:cubicBezTo>
                  <a:close/>
                </a:path>
              </a:pathLst>
            </a:custGeom>
            <a:blipFill>
              <a:blip r:embed="rId5"/>
              <a:stretch>
                <a:fillRect l="-34" r="-34"/>
              </a:stretch>
            </a:blipFill>
          </p:spPr>
          <p:txBody>
            <a:bodyPr/>
            <a:lstStyle/>
            <a:p>
              <a:endParaRPr lang="en-US"/>
            </a:p>
          </p:txBody>
        </p:sp>
      </p:grpSp>
      <p:sp>
        <p:nvSpPr>
          <p:cNvPr id="33" name="TextBox 33"/>
          <p:cNvSpPr txBox="1"/>
          <p:nvPr/>
        </p:nvSpPr>
        <p:spPr>
          <a:xfrm>
            <a:off x="1157857"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Background of the study</a:t>
            </a:r>
          </a:p>
        </p:txBody>
      </p:sp>
      <p:sp>
        <p:nvSpPr>
          <p:cNvPr id="34" name="TextBox 34"/>
          <p:cNvSpPr txBox="1"/>
          <p:nvPr/>
        </p:nvSpPr>
        <p:spPr>
          <a:xfrm>
            <a:off x="3358755"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Problem Statement</a:t>
            </a:r>
          </a:p>
        </p:txBody>
      </p:sp>
      <p:sp>
        <p:nvSpPr>
          <p:cNvPr id="35" name="TextBox 35"/>
          <p:cNvSpPr txBox="1"/>
          <p:nvPr/>
        </p:nvSpPr>
        <p:spPr>
          <a:xfrm>
            <a:off x="5108285"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Social Impact</a:t>
            </a:r>
          </a:p>
        </p:txBody>
      </p:sp>
      <p:sp>
        <p:nvSpPr>
          <p:cNvPr id="36" name="TextBox 36"/>
          <p:cNvSpPr txBox="1"/>
          <p:nvPr/>
        </p:nvSpPr>
        <p:spPr>
          <a:xfrm>
            <a:off x="6552810"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Methodology</a:t>
            </a:r>
          </a:p>
        </p:txBody>
      </p:sp>
      <p:sp>
        <p:nvSpPr>
          <p:cNvPr id="37" name="TextBox 37"/>
          <p:cNvSpPr txBox="1"/>
          <p:nvPr/>
        </p:nvSpPr>
        <p:spPr>
          <a:xfrm>
            <a:off x="14585765" y="904812"/>
            <a:ext cx="2498812" cy="502049"/>
          </a:xfrm>
          <a:prstGeom prst="rect">
            <a:avLst/>
          </a:prstGeom>
        </p:spPr>
        <p:txBody>
          <a:bodyPr lIns="0" tIns="0" rIns="0" bIns="0" rtlCol="0" anchor="t">
            <a:spAutoFit/>
          </a:bodyPr>
          <a:lstStyle/>
          <a:p>
            <a:pPr marL="0" lvl="0" indent="0" algn="r">
              <a:lnSpc>
                <a:spcPts val="2098"/>
              </a:lnSpc>
            </a:pPr>
            <a:r>
              <a:rPr lang="en-US" sz="1542" b="1" spc="-38">
                <a:solidFill>
                  <a:srgbClr val="FFFFFF"/>
                </a:solidFill>
                <a:latin typeface="Canva Sans Bold"/>
                <a:ea typeface="Canva Sans Bold"/>
                <a:cs typeface="Canva Sans Bold"/>
                <a:sym typeface="Canva Sans Bold"/>
              </a:rPr>
              <a:t>Hanoi University of Science and Technology</a:t>
            </a:r>
          </a:p>
        </p:txBody>
      </p:sp>
      <p:sp>
        <p:nvSpPr>
          <p:cNvPr id="38" name="TextBox 38"/>
          <p:cNvSpPr txBox="1"/>
          <p:nvPr/>
        </p:nvSpPr>
        <p:spPr>
          <a:xfrm>
            <a:off x="9051622" y="2686905"/>
            <a:ext cx="8758489" cy="1146486"/>
          </a:xfrm>
          <a:prstGeom prst="rect">
            <a:avLst/>
          </a:prstGeom>
        </p:spPr>
        <p:txBody>
          <a:bodyPr lIns="0" tIns="0" rIns="0" bIns="0" rtlCol="0" anchor="t">
            <a:spAutoFit/>
          </a:bodyPr>
          <a:lstStyle/>
          <a:p>
            <a:pPr marL="0" lvl="0" indent="0" algn="l">
              <a:lnSpc>
                <a:spcPts val="8325"/>
              </a:lnSpc>
              <a:spcBef>
                <a:spcPct val="0"/>
              </a:spcBef>
            </a:pPr>
            <a:r>
              <a:rPr lang="en-US" sz="9250" b="1" spc="-370">
                <a:solidFill>
                  <a:srgbClr val="FFFFFF"/>
                </a:solidFill>
                <a:latin typeface="Pragmatica Bold"/>
                <a:ea typeface="Pragmatica Bold"/>
                <a:cs typeface="Pragmatica Bold"/>
                <a:sym typeface="Pragmatica Bold"/>
              </a:rPr>
              <a:t>Social Impact</a:t>
            </a:r>
          </a:p>
        </p:txBody>
      </p:sp>
      <p:sp>
        <p:nvSpPr>
          <p:cNvPr id="39" name="TextBox 39"/>
          <p:cNvSpPr txBox="1"/>
          <p:nvPr/>
        </p:nvSpPr>
        <p:spPr>
          <a:xfrm>
            <a:off x="9144000" y="4165594"/>
            <a:ext cx="6761545" cy="676983"/>
          </a:xfrm>
          <a:prstGeom prst="rect">
            <a:avLst/>
          </a:prstGeom>
        </p:spPr>
        <p:txBody>
          <a:bodyPr lIns="0" tIns="0" rIns="0" bIns="0" rtlCol="0" anchor="t">
            <a:spAutoFit/>
          </a:bodyPr>
          <a:lstStyle/>
          <a:p>
            <a:pPr marL="0" lvl="0" indent="0" algn="l">
              <a:lnSpc>
                <a:spcPts val="1865"/>
              </a:lnSpc>
            </a:pPr>
            <a:r>
              <a:rPr lang="en-US" sz="1371" spc="-34">
                <a:solidFill>
                  <a:srgbClr val="FFFFFF"/>
                </a:solidFill>
                <a:latin typeface="Canva Sans"/>
                <a:ea typeface="Canva Sans"/>
                <a:cs typeface="Canva Sans"/>
                <a:sym typeface="Canva Sans"/>
              </a:rPr>
              <a:t>This project generates meaningful social benefits by creating high-tech employment, localizing advanced battery manufacturing in Vietnam, and accelerating the nation's transition to clean, sustainable green energy solutions.</a:t>
            </a:r>
          </a:p>
        </p:txBody>
      </p:sp>
      <p:sp>
        <p:nvSpPr>
          <p:cNvPr id="40" name="TextBox 40"/>
          <p:cNvSpPr txBox="1"/>
          <p:nvPr/>
        </p:nvSpPr>
        <p:spPr>
          <a:xfrm>
            <a:off x="3537544" y="3917480"/>
            <a:ext cx="4336910" cy="219783"/>
          </a:xfrm>
          <a:prstGeom prst="rect">
            <a:avLst/>
          </a:prstGeom>
        </p:spPr>
        <p:txBody>
          <a:bodyPr lIns="0" tIns="0" rIns="0" bIns="0" rtlCol="0" anchor="t">
            <a:spAutoFit/>
          </a:bodyPr>
          <a:lstStyle/>
          <a:p>
            <a:pPr marL="0" lvl="0" indent="0" algn="l">
              <a:lnSpc>
                <a:spcPts val="1865"/>
              </a:lnSpc>
            </a:pPr>
            <a:r>
              <a:rPr lang="en-US" sz="1371" spc="-34">
                <a:solidFill>
                  <a:srgbClr val="FFFFFF"/>
                </a:solidFill>
                <a:latin typeface="Canva Sans"/>
                <a:ea typeface="Canva Sans"/>
                <a:cs typeface="Canva Sans"/>
                <a:sym typeface="Canva Sans"/>
              </a:rPr>
              <a:t>High-Tech Job Creation</a:t>
            </a:r>
          </a:p>
        </p:txBody>
      </p:sp>
      <p:sp>
        <p:nvSpPr>
          <p:cNvPr id="41" name="TextBox 41"/>
          <p:cNvSpPr txBox="1"/>
          <p:nvPr/>
        </p:nvSpPr>
        <p:spPr>
          <a:xfrm>
            <a:off x="3526583" y="6041023"/>
            <a:ext cx="4336910" cy="219783"/>
          </a:xfrm>
          <a:prstGeom prst="rect">
            <a:avLst/>
          </a:prstGeom>
        </p:spPr>
        <p:txBody>
          <a:bodyPr lIns="0" tIns="0" rIns="0" bIns="0" rtlCol="0" anchor="t">
            <a:spAutoFit/>
          </a:bodyPr>
          <a:lstStyle/>
          <a:p>
            <a:pPr marL="0" lvl="0" indent="0" algn="l">
              <a:lnSpc>
                <a:spcPts val="1865"/>
              </a:lnSpc>
            </a:pPr>
            <a:r>
              <a:rPr lang="en-US" sz="1371" spc="-34">
                <a:solidFill>
                  <a:srgbClr val="FFFFFF"/>
                </a:solidFill>
                <a:latin typeface="Canva Sans"/>
                <a:ea typeface="Canva Sans"/>
                <a:cs typeface="Canva Sans"/>
                <a:sym typeface="Canva Sans"/>
              </a:rPr>
              <a:t>Localization of Li-ion</a:t>
            </a:r>
          </a:p>
        </p:txBody>
      </p:sp>
      <p:sp>
        <p:nvSpPr>
          <p:cNvPr id="42" name="TextBox 42"/>
          <p:cNvSpPr txBox="1"/>
          <p:nvPr/>
        </p:nvSpPr>
        <p:spPr>
          <a:xfrm>
            <a:off x="3537544" y="4237392"/>
            <a:ext cx="4336910" cy="219783"/>
          </a:xfrm>
          <a:prstGeom prst="rect">
            <a:avLst/>
          </a:prstGeom>
        </p:spPr>
        <p:txBody>
          <a:bodyPr lIns="0" tIns="0" rIns="0" bIns="0" rtlCol="0" anchor="t">
            <a:spAutoFit/>
          </a:bodyPr>
          <a:lstStyle/>
          <a:p>
            <a:pPr marL="0" lvl="0" indent="0" algn="l">
              <a:lnSpc>
                <a:spcPts val="1865"/>
              </a:lnSpc>
            </a:pPr>
            <a:r>
              <a:rPr lang="en-US" sz="1371" spc="-34">
                <a:solidFill>
                  <a:srgbClr val="FFFFFF"/>
                </a:solidFill>
                <a:latin typeface="Canva Sans"/>
                <a:ea typeface="Canva Sans"/>
                <a:cs typeface="Canva Sans"/>
                <a:sym typeface="Canva Sans"/>
              </a:rPr>
              <a:t>Skilled workforce in battery R&amp;D and manufacturing</a:t>
            </a:r>
          </a:p>
        </p:txBody>
      </p:sp>
      <p:sp>
        <p:nvSpPr>
          <p:cNvPr id="43" name="TextBox 43"/>
          <p:cNvSpPr txBox="1"/>
          <p:nvPr/>
        </p:nvSpPr>
        <p:spPr>
          <a:xfrm>
            <a:off x="3526583" y="6360936"/>
            <a:ext cx="4336910" cy="219783"/>
          </a:xfrm>
          <a:prstGeom prst="rect">
            <a:avLst/>
          </a:prstGeom>
        </p:spPr>
        <p:txBody>
          <a:bodyPr lIns="0" tIns="0" rIns="0" bIns="0" rtlCol="0" anchor="t">
            <a:spAutoFit/>
          </a:bodyPr>
          <a:lstStyle/>
          <a:p>
            <a:pPr marL="0" lvl="0" indent="0" algn="l">
              <a:lnSpc>
                <a:spcPts val="1865"/>
              </a:lnSpc>
            </a:pPr>
            <a:r>
              <a:rPr lang="en-US" sz="1371" spc="-34">
                <a:solidFill>
                  <a:srgbClr val="FFFFFF"/>
                </a:solidFill>
                <a:latin typeface="Canva Sans"/>
                <a:ea typeface="Canva Sans"/>
                <a:cs typeface="Canva Sans"/>
                <a:sym typeface="Canva Sans"/>
              </a:rPr>
              <a:t>Battery Production in Vietnam</a:t>
            </a:r>
          </a:p>
        </p:txBody>
      </p:sp>
      <p:sp>
        <p:nvSpPr>
          <p:cNvPr id="44" name="TextBox 44"/>
          <p:cNvSpPr txBox="1"/>
          <p:nvPr/>
        </p:nvSpPr>
        <p:spPr>
          <a:xfrm>
            <a:off x="9584590" y="7157844"/>
            <a:ext cx="6761545" cy="1181102"/>
          </a:xfrm>
          <a:prstGeom prst="rect">
            <a:avLst/>
          </a:prstGeom>
        </p:spPr>
        <p:txBody>
          <a:bodyPr lIns="0" tIns="0" rIns="0" bIns="0" rtlCol="0" anchor="t">
            <a:spAutoFit/>
          </a:bodyPr>
          <a:lstStyle/>
          <a:p>
            <a:pPr marL="0" lvl="0" indent="0" algn="l">
              <a:lnSpc>
                <a:spcPts val="3257"/>
              </a:lnSpc>
            </a:pPr>
            <a:r>
              <a:rPr lang="en-US" sz="1714" spc="-42">
                <a:solidFill>
                  <a:srgbClr val="FFFFFF"/>
                </a:solidFill>
                <a:latin typeface="Canva Sans"/>
                <a:ea typeface="Canva Sans"/>
                <a:cs typeface="Canva Sans"/>
                <a:sym typeface="Canva Sans"/>
              </a:rPr>
              <a:t>Creation of High-Tech Jobs in Vietnam</a:t>
            </a:r>
          </a:p>
          <a:p>
            <a:pPr marL="0" lvl="0" indent="0" algn="l">
              <a:lnSpc>
                <a:spcPts val="3257"/>
              </a:lnSpc>
            </a:pPr>
            <a:r>
              <a:rPr lang="en-US" sz="1714" spc="-42">
                <a:solidFill>
                  <a:srgbClr val="FFFFFF"/>
                </a:solidFill>
                <a:latin typeface="Canva Sans"/>
                <a:ea typeface="Canva Sans"/>
                <a:cs typeface="Canva Sans"/>
                <a:sym typeface="Canva Sans"/>
              </a:rPr>
              <a:t>Localization of Li-ion Battery Production</a:t>
            </a:r>
          </a:p>
          <a:p>
            <a:pPr marL="0" lvl="0" indent="0" algn="l">
              <a:lnSpc>
                <a:spcPts val="3257"/>
              </a:lnSpc>
            </a:pPr>
            <a:r>
              <a:rPr lang="en-US" sz="1714" spc="-42">
                <a:solidFill>
                  <a:srgbClr val="FFFFFF"/>
                </a:solidFill>
                <a:latin typeface="Canva Sans"/>
                <a:ea typeface="Canva Sans"/>
                <a:cs typeface="Canva Sans"/>
                <a:sym typeface="Canva Sans"/>
              </a:rPr>
              <a:t>Support for Green Energy Transition</a:t>
            </a:r>
          </a:p>
        </p:txBody>
      </p:sp>
      <p:sp>
        <p:nvSpPr>
          <p:cNvPr id="45" name="TextBox 45"/>
          <p:cNvSpPr txBox="1"/>
          <p:nvPr/>
        </p:nvSpPr>
        <p:spPr>
          <a:xfrm>
            <a:off x="9584590" y="6767955"/>
            <a:ext cx="6761545" cy="323134"/>
          </a:xfrm>
          <a:prstGeom prst="rect">
            <a:avLst/>
          </a:prstGeom>
        </p:spPr>
        <p:txBody>
          <a:bodyPr lIns="0" tIns="0" rIns="0" bIns="0" rtlCol="0" anchor="t">
            <a:spAutoFit/>
          </a:bodyPr>
          <a:lstStyle/>
          <a:p>
            <a:pPr marL="0" lvl="0" indent="0" algn="l">
              <a:lnSpc>
                <a:spcPts val="2459"/>
              </a:lnSpc>
            </a:pPr>
            <a:r>
              <a:rPr lang="en-US" sz="2794" b="1" spc="-139">
                <a:solidFill>
                  <a:srgbClr val="FFFFFF"/>
                </a:solidFill>
                <a:latin typeface="Pragmatica Bold"/>
                <a:ea typeface="Pragmatica Bold"/>
                <a:cs typeface="Pragmatica Bold"/>
                <a:sym typeface="Pragmatica Bold"/>
              </a:rPr>
              <a:t>Key Social Benefits</a:t>
            </a:r>
          </a:p>
        </p:txBody>
      </p:sp>
      <p:sp>
        <p:nvSpPr>
          <p:cNvPr id="46" name="TextBox 46"/>
          <p:cNvSpPr txBox="1"/>
          <p:nvPr/>
        </p:nvSpPr>
        <p:spPr>
          <a:xfrm>
            <a:off x="3537544" y="3482454"/>
            <a:ext cx="4325949" cy="305487"/>
          </a:xfrm>
          <a:prstGeom prst="rect">
            <a:avLst/>
          </a:prstGeom>
        </p:spPr>
        <p:txBody>
          <a:bodyPr lIns="0" tIns="0" rIns="0" bIns="0" rtlCol="0" anchor="t">
            <a:spAutoFit/>
          </a:bodyPr>
          <a:lstStyle/>
          <a:p>
            <a:pPr marL="0" lvl="0" indent="0" algn="l">
              <a:lnSpc>
                <a:spcPts val="2283"/>
              </a:lnSpc>
            </a:pPr>
            <a:r>
              <a:rPr lang="en-US" sz="2595" b="1" spc="-129">
                <a:solidFill>
                  <a:srgbClr val="FFFFFF"/>
                </a:solidFill>
                <a:latin typeface="Pragmatica Bold"/>
                <a:ea typeface="Pragmatica Bold"/>
                <a:cs typeface="Pragmatica Bold"/>
                <a:sym typeface="Pragmatica Bold"/>
              </a:rPr>
              <a:t>Employment &amp; Workforce</a:t>
            </a:r>
          </a:p>
        </p:txBody>
      </p:sp>
      <p:sp>
        <p:nvSpPr>
          <p:cNvPr id="47" name="TextBox 47"/>
          <p:cNvSpPr txBox="1"/>
          <p:nvPr/>
        </p:nvSpPr>
        <p:spPr>
          <a:xfrm>
            <a:off x="3526583" y="5605997"/>
            <a:ext cx="4325949" cy="305487"/>
          </a:xfrm>
          <a:prstGeom prst="rect">
            <a:avLst/>
          </a:prstGeom>
        </p:spPr>
        <p:txBody>
          <a:bodyPr lIns="0" tIns="0" rIns="0" bIns="0" rtlCol="0" anchor="t">
            <a:spAutoFit/>
          </a:bodyPr>
          <a:lstStyle/>
          <a:p>
            <a:pPr marL="0" lvl="0" indent="0" algn="l">
              <a:lnSpc>
                <a:spcPts val="2283"/>
              </a:lnSpc>
            </a:pPr>
            <a:r>
              <a:rPr lang="en-US" sz="2595" b="1" spc="-129">
                <a:solidFill>
                  <a:srgbClr val="FFFFFF"/>
                </a:solidFill>
                <a:latin typeface="Pragmatica Bold"/>
                <a:ea typeface="Pragmatica Bold"/>
                <a:cs typeface="Pragmatica Bold"/>
                <a:sym typeface="Pragmatica Bold"/>
              </a:rPr>
              <a:t>Industrial Localization</a:t>
            </a:r>
          </a:p>
        </p:txBody>
      </p:sp>
      <p:sp>
        <p:nvSpPr>
          <p:cNvPr id="48" name="TextBox 48"/>
          <p:cNvSpPr txBox="1"/>
          <p:nvPr/>
        </p:nvSpPr>
        <p:spPr>
          <a:xfrm>
            <a:off x="1230095" y="2344766"/>
            <a:ext cx="6761545" cy="323134"/>
          </a:xfrm>
          <a:prstGeom prst="rect">
            <a:avLst/>
          </a:prstGeom>
        </p:spPr>
        <p:txBody>
          <a:bodyPr lIns="0" tIns="0" rIns="0" bIns="0" rtlCol="0" anchor="t">
            <a:spAutoFit/>
          </a:bodyPr>
          <a:lstStyle/>
          <a:p>
            <a:pPr marL="0" lvl="0" indent="0" algn="l">
              <a:lnSpc>
                <a:spcPts val="2459"/>
              </a:lnSpc>
            </a:pPr>
            <a:r>
              <a:rPr lang="en-US" sz="2794" b="1" spc="-139">
                <a:solidFill>
                  <a:srgbClr val="FFFFFF"/>
                </a:solidFill>
                <a:latin typeface="Pragmatica Bold"/>
                <a:ea typeface="Pragmatica Bold"/>
                <a:cs typeface="Pragmatica Bold"/>
                <a:sym typeface="Pragmatica Bold"/>
              </a:rPr>
              <a:t>Social Impact Areas :</a:t>
            </a:r>
          </a:p>
        </p:txBody>
      </p:sp>
      <p:sp>
        <p:nvSpPr>
          <p:cNvPr id="49" name="TextBox 49"/>
          <p:cNvSpPr txBox="1"/>
          <p:nvPr/>
        </p:nvSpPr>
        <p:spPr>
          <a:xfrm>
            <a:off x="3515622" y="8164566"/>
            <a:ext cx="4336910" cy="219783"/>
          </a:xfrm>
          <a:prstGeom prst="rect">
            <a:avLst/>
          </a:prstGeom>
        </p:spPr>
        <p:txBody>
          <a:bodyPr lIns="0" tIns="0" rIns="0" bIns="0" rtlCol="0" anchor="t">
            <a:spAutoFit/>
          </a:bodyPr>
          <a:lstStyle/>
          <a:p>
            <a:pPr marL="0" lvl="0" indent="0" algn="l">
              <a:lnSpc>
                <a:spcPts val="1865"/>
              </a:lnSpc>
            </a:pPr>
            <a:r>
              <a:rPr lang="en-US" sz="1371" spc="-34">
                <a:solidFill>
                  <a:srgbClr val="FFFFFF"/>
                </a:solidFill>
                <a:latin typeface="Canva Sans"/>
                <a:ea typeface="Canva Sans"/>
                <a:cs typeface="Canva Sans"/>
                <a:sym typeface="Canva Sans"/>
              </a:rPr>
              <a:t>Green Energy Transition</a:t>
            </a:r>
          </a:p>
        </p:txBody>
      </p:sp>
      <p:sp>
        <p:nvSpPr>
          <p:cNvPr id="50" name="TextBox 50"/>
          <p:cNvSpPr txBox="1"/>
          <p:nvPr/>
        </p:nvSpPr>
        <p:spPr>
          <a:xfrm>
            <a:off x="3515622" y="8484479"/>
            <a:ext cx="4336910" cy="219783"/>
          </a:xfrm>
          <a:prstGeom prst="rect">
            <a:avLst/>
          </a:prstGeom>
        </p:spPr>
        <p:txBody>
          <a:bodyPr lIns="0" tIns="0" rIns="0" bIns="0" rtlCol="0" anchor="t">
            <a:spAutoFit/>
          </a:bodyPr>
          <a:lstStyle/>
          <a:p>
            <a:pPr marL="0" lvl="0" indent="0" algn="l">
              <a:lnSpc>
                <a:spcPts val="1865"/>
              </a:lnSpc>
            </a:pPr>
            <a:r>
              <a:rPr lang="en-US" sz="1371" spc="-34">
                <a:solidFill>
                  <a:srgbClr val="FFFFFF"/>
                </a:solidFill>
                <a:latin typeface="Canva Sans"/>
                <a:ea typeface="Canva Sans"/>
                <a:cs typeface="Canva Sans"/>
                <a:sym typeface="Canva Sans"/>
              </a:rPr>
              <a:t>Sustainable development support</a:t>
            </a:r>
          </a:p>
        </p:txBody>
      </p:sp>
      <p:sp>
        <p:nvSpPr>
          <p:cNvPr id="51" name="TextBox 51"/>
          <p:cNvSpPr txBox="1"/>
          <p:nvPr/>
        </p:nvSpPr>
        <p:spPr>
          <a:xfrm>
            <a:off x="3515622" y="7729540"/>
            <a:ext cx="4325949" cy="305487"/>
          </a:xfrm>
          <a:prstGeom prst="rect">
            <a:avLst/>
          </a:prstGeom>
        </p:spPr>
        <p:txBody>
          <a:bodyPr lIns="0" tIns="0" rIns="0" bIns="0" rtlCol="0" anchor="t">
            <a:spAutoFit/>
          </a:bodyPr>
          <a:lstStyle/>
          <a:p>
            <a:pPr marL="0" lvl="0" indent="0" algn="l">
              <a:lnSpc>
                <a:spcPts val="2283"/>
              </a:lnSpc>
            </a:pPr>
            <a:r>
              <a:rPr lang="en-US" sz="2595" b="1" spc="-129">
                <a:solidFill>
                  <a:srgbClr val="FFFFFF"/>
                </a:solidFill>
                <a:latin typeface="Pragmatica Bold"/>
                <a:ea typeface="Pragmatica Bold"/>
                <a:cs typeface="Pragmatica Bold"/>
                <a:sym typeface="Pragmatica Bold"/>
              </a:rPr>
              <a:t>Clean Energy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AutoShape 3"/>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4" name="AutoShape 4"/>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p:cNvSpPr/>
          <p:nvPr/>
        </p:nvSpPr>
        <p:spPr>
          <a:xfrm>
            <a:off x="6075187"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AutoShape 7"/>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8" name="Freeform 8"/>
          <p:cNvSpPr/>
          <p:nvPr/>
        </p:nvSpPr>
        <p:spPr>
          <a:xfrm>
            <a:off x="14950017" y="-1114244"/>
            <a:ext cx="8534070" cy="11618164"/>
          </a:xfrm>
          <a:custGeom>
            <a:avLst/>
            <a:gdLst/>
            <a:ahLst/>
            <a:cxnLst/>
            <a:rect l="l" t="t" r="r" b="b"/>
            <a:pathLst>
              <a:path w="8534070" h="11618164">
                <a:moveTo>
                  <a:pt x="0" y="0"/>
                </a:moveTo>
                <a:lnTo>
                  <a:pt x="8534069" y="0"/>
                </a:lnTo>
                <a:lnTo>
                  <a:pt x="8534069" y="11618163"/>
                </a:lnTo>
                <a:lnTo>
                  <a:pt x="0" y="11618163"/>
                </a:lnTo>
                <a:lnTo>
                  <a:pt x="0" y="0"/>
                </a:lnTo>
                <a:close/>
              </a:path>
            </a:pathLst>
          </a:custGeom>
          <a:blipFill>
            <a:blip r:embed="rId2">
              <a:alphaModFix amt="50000"/>
            </a:blip>
            <a:stretch>
              <a:fillRect/>
            </a:stretch>
          </a:blipFill>
        </p:spPr>
        <p:txBody>
          <a:bodyPr/>
          <a:lstStyle/>
          <a:p>
            <a:endParaRPr lang="en-US"/>
          </a:p>
        </p:txBody>
      </p:sp>
      <p:grpSp>
        <p:nvGrpSpPr>
          <p:cNvPr id="9" name="Group 9"/>
          <p:cNvGrpSpPr/>
          <p:nvPr/>
        </p:nvGrpSpPr>
        <p:grpSpPr>
          <a:xfrm>
            <a:off x="1028700" y="654448"/>
            <a:ext cx="16230600" cy="748504"/>
            <a:chOff x="0" y="0"/>
            <a:chExt cx="4274726" cy="197137"/>
          </a:xfrm>
        </p:grpSpPr>
        <p:sp>
          <p:nvSpPr>
            <p:cNvPr id="10" name="Freeform 10"/>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1" name="TextBox 11"/>
            <p:cNvSpPr txBox="1"/>
            <p:nvPr/>
          </p:nvSpPr>
          <p:spPr>
            <a:xfrm>
              <a:off x="0" y="38100"/>
              <a:ext cx="4274726" cy="159037"/>
            </a:xfrm>
            <a:prstGeom prst="rect">
              <a:avLst/>
            </a:prstGeom>
          </p:spPr>
          <p:txBody>
            <a:bodyPr lIns="50800" tIns="50800" rIns="50800" bIns="50800" rtlCol="0" anchor="ctr"/>
            <a:lstStyle/>
            <a:p>
              <a:pPr marL="0" lvl="0" indent="0" algn="ctr">
                <a:lnSpc>
                  <a:spcPts val="1619"/>
                </a:lnSpc>
              </a:pPr>
              <a:endParaRPr/>
            </a:p>
          </p:txBody>
        </p:sp>
      </p:grpSp>
      <p:sp>
        <p:nvSpPr>
          <p:cNvPr id="12" name="TextBox 12"/>
          <p:cNvSpPr txBox="1"/>
          <p:nvPr/>
        </p:nvSpPr>
        <p:spPr>
          <a:xfrm>
            <a:off x="1157857"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Background of the study</a:t>
            </a:r>
          </a:p>
        </p:txBody>
      </p:sp>
      <p:sp>
        <p:nvSpPr>
          <p:cNvPr id="13" name="TextBox 13"/>
          <p:cNvSpPr txBox="1"/>
          <p:nvPr/>
        </p:nvSpPr>
        <p:spPr>
          <a:xfrm>
            <a:off x="3358755"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Problem Statement</a:t>
            </a:r>
          </a:p>
        </p:txBody>
      </p:sp>
      <p:sp>
        <p:nvSpPr>
          <p:cNvPr id="14" name="TextBox 14"/>
          <p:cNvSpPr txBox="1"/>
          <p:nvPr/>
        </p:nvSpPr>
        <p:spPr>
          <a:xfrm>
            <a:off x="5108285"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Framework</a:t>
            </a:r>
          </a:p>
        </p:txBody>
      </p:sp>
      <p:sp>
        <p:nvSpPr>
          <p:cNvPr id="15" name="TextBox 15"/>
          <p:cNvSpPr txBox="1"/>
          <p:nvPr/>
        </p:nvSpPr>
        <p:spPr>
          <a:xfrm>
            <a:off x="6552810"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Methodology</a:t>
            </a:r>
          </a:p>
        </p:txBody>
      </p:sp>
      <p:sp>
        <p:nvSpPr>
          <p:cNvPr id="16" name="TextBox 16"/>
          <p:cNvSpPr txBox="1"/>
          <p:nvPr/>
        </p:nvSpPr>
        <p:spPr>
          <a:xfrm>
            <a:off x="14585765" y="904812"/>
            <a:ext cx="2498812" cy="244874"/>
          </a:xfrm>
          <a:prstGeom prst="rect">
            <a:avLst/>
          </a:prstGeom>
        </p:spPr>
        <p:txBody>
          <a:bodyPr lIns="0" tIns="0" rIns="0" bIns="0" rtlCol="0" anchor="t">
            <a:spAutoFit/>
          </a:bodyPr>
          <a:lstStyle/>
          <a:p>
            <a:pPr marL="0" lvl="0" indent="0" algn="r">
              <a:lnSpc>
                <a:spcPts val="2098"/>
              </a:lnSpc>
            </a:pPr>
            <a:r>
              <a:rPr lang="en-US" sz="1542" b="1" spc="-38">
                <a:solidFill>
                  <a:srgbClr val="FFFFFF"/>
                </a:solidFill>
                <a:latin typeface="Canva Sans Bold"/>
                <a:ea typeface="Canva Sans Bold"/>
                <a:cs typeface="Canva Sans Bold"/>
                <a:sym typeface="Canva Sans Bold"/>
              </a:rPr>
              <a:t>Larana Company</a:t>
            </a:r>
          </a:p>
        </p:txBody>
      </p:sp>
      <p:sp>
        <p:nvSpPr>
          <p:cNvPr id="17" name="TextBox 17"/>
          <p:cNvSpPr txBox="1"/>
          <p:nvPr/>
        </p:nvSpPr>
        <p:spPr>
          <a:xfrm>
            <a:off x="1093279" y="2060177"/>
            <a:ext cx="16101443" cy="939216"/>
          </a:xfrm>
          <a:prstGeom prst="rect">
            <a:avLst/>
          </a:prstGeom>
        </p:spPr>
        <p:txBody>
          <a:bodyPr lIns="0" tIns="0" rIns="0" bIns="0" rtlCol="0" anchor="t">
            <a:spAutoFit/>
          </a:bodyPr>
          <a:lstStyle/>
          <a:p>
            <a:pPr marL="0" lvl="0" indent="0" algn="ctr">
              <a:lnSpc>
                <a:spcPts val="6886"/>
              </a:lnSpc>
              <a:spcBef>
                <a:spcPct val="0"/>
              </a:spcBef>
            </a:pPr>
            <a:r>
              <a:rPr lang="en-US" sz="7651" b="1" spc="-306">
                <a:solidFill>
                  <a:srgbClr val="FFFFFF"/>
                </a:solidFill>
                <a:latin typeface="Pragmatica Bold"/>
                <a:ea typeface="Pragmatica Bold"/>
                <a:cs typeface="Pragmatica Bold"/>
                <a:sym typeface="Pragmatica Bold"/>
              </a:rPr>
              <a:t>Research Implementation Roadmap</a:t>
            </a:r>
          </a:p>
        </p:txBody>
      </p:sp>
      <p:sp>
        <p:nvSpPr>
          <p:cNvPr id="18" name="TextBox 18"/>
          <p:cNvSpPr txBox="1"/>
          <p:nvPr/>
        </p:nvSpPr>
        <p:spPr>
          <a:xfrm>
            <a:off x="4120011" y="3403461"/>
            <a:ext cx="10047978" cy="448383"/>
          </a:xfrm>
          <a:prstGeom prst="rect">
            <a:avLst/>
          </a:prstGeom>
        </p:spPr>
        <p:txBody>
          <a:bodyPr lIns="0" tIns="0" rIns="0" bIns="0" rtlCol="0" anchor="t">
            <a:spAutoFit/>
          </a:bodyPr>
          <a:lstStyle/>
          <a:p>
            <a:pPr marL="0" lvl="0" indent="0" algn="ctr">
              <a:lnSpc>
                <a:spcPts val="1865"/>
              </a:lnSpc>
            </a:pPr>
            <a:r>
              <a:rPr lang="en-US" sz="1371" spc="-34">
                <a:solidFill>
                  <a:srgbClr val="FFFFFF"/>
                </a:solidFill>
                <a:latin typeface="Canva Sans"/>
                <a:ea typeface="Canva Sans"/>
                <a:cs typeface="Canva Sans"/>
                <a:sym typeface="Canva Sans"/>
              </a:rPr>
              <a:t>Implementation roadmap for the AI Co-Scientist MVP: build clean CSV schemas, merge data by sample_id, train retention_100 models, generate top-3 recipe recommendations, expose results in Streamlit, and update the model after new experiments.</a:t>
            </a:r>
          </a:p>
        </p:txBody>
      </p:sp>
      <p:grpSp>
        <p:nvGrpSpPr>
          <p:cNvPr id="19" name="Group 19"/>
          <p:cNvGrpSpPr/>
          <p:nvPr/>
        </p:nvGrpSpPr>
        <p:grpSpPr>
          <a:xfrm>
            <a:off x="1373705" y="5512332"/>
            <a:ext cx="15885595" cy="3745968"/>
            <a:chOff x="0" y="0"/>
            <a:chExt cx="4183860" cy="986592"/>
          </a:xfrm>
        </p:grpSpPr>
        <p:sp>
          <p:nvSpPr>
            <p:cNvPr id="20" name="Freeform 20"/>
            <p:cNvSpPr/>
            <p:nvPr/>
          </p:nvSpPr>
          <p:spPr>
            <a:xfrm>
              <a:off x="0" y="0"/>
              <a:ext cx="4183861" cy="986592"/>
            </a:xfrm>
            <a:custGeom>
              <a:avLst/>
              <a:gdLst/>
              <a:ahLst/>
              <a:cxnLst/>
              <a:rect l="l" t="t" r="r" b="b"/>
              <a:pathLst>
                <a:path w="4183861" h="986592">
                  <a:moveTo>
                    <a:pt x="8772" y="0"/>
                  </a:moveTo>
                  <a:lnTo>
                    <a:pt x="4175088" y="0"/>
                  </a:lnTo>
                  <a:cubicBezTo>
                    <a:pt x="4177415" y="0"/>
                    <a:pt x="4179646" y="924"/>
                    <a:pt x="4181291" y="2569"/>
                  </a:cubicBezTo>
                  <a:cubicBezTo>
                    <a:pt x="4182936" y="4215"/>
                    <a:pt x="4183861" y="6446"/>
                    <a:pt x="4183861" y="8772"/>
                  </a:cubicBezTo>
                  <a:lnTo>
                    <a:pt x="4183861" y="977820"/>
                  </a:lnTo>
                  <a:cubicBezTo>
                    <a:pt x="4183861" y="980146"/>
                    <a:pt x="4182936" y="982378"/>
                    <a:pt x="4181291" y="984023"/>
                  </a:cubicBezTo>
                  <a:cubicBezTo>
                    <a:pt x="4179646" y="985668"/>
                    <a:pt x="4177415" y="986592"/>
                    <a:pt x="4175088" y="986592"/>
                  </a:cubicBezTo>
                  <a:lnTo>
                    <a:pt x="8772" y="986592"/>
                  </a:lnTo>
                  <a:cubicBezTo>
                    <a:pt x="6446" y="986592"/>
                    <a:pt x="4215" y="985668"/>
                    <a:pt x="2569" y="984023"/>
                  </a:cubicBezTo>
                  <a:cubicBezTo>
                    <a:pt x="924" y="982378"/>
                    <a:pt x="0" y="980146"/>
                    <a:pt x="0" y="977820"/>
                  </a:cubicBezTo>
                  <a:lnTo>
                    <a:pt x="0" y="8772"/>
                  </a:lnTo>
                  <a:cubicBezTo>
                    <a:pt x="0" y="6446"/>
                    <a:pt x="924" y="4215"/>
                    <a:pt x="2569" y="2569"/>
                  </a:cubicBezTo>
                  <a:cubicBezTo>
                    <a:pt x="4215" y="924"/>
                    <a:pt x="6446" y="0"/>
                    <a:pt x="8772" y="0"/>
                  </a:cubicBezTo>
                  <a:close/>
                </a:path>
              </a:pathLst>
            </a:custGeom>
            <a:gradFill rotWithShape="1">
              <a:gsLst>
                <a:gs pos="0">
                  <a:srgbClr val="FFFFFF">
                    <a:alpha val="22000"/>
                  </a:srgbClr>
                </a:gs>
                <a:gs pos="100000">
                  <a:srgbClr val="FFFFFF">
                    <a:alpha val="22500"/>
                  </a:srgbClr>
                </a:gs>
              </a:gsLst>
              <a:lin ang="0"/>
            </a:gradFill>
            <a:ln w="19050" cap="sq">
              <a:solidFill>
                <a:srgbClr val="D3E4E7"/>
              </a:solidFill>
              <a:prstDash val="solid"/>
              <a:miter/>
            </a:ln>
          </p:spPr>
          <p:txBody>
            <a:bodyPr/>
            <a:lstStyle/>
            <a:p>
              <a:endParaRPr lang="en-US"/>
            </a:p>
          </p:txBody>
        </p:sp>
        <p:sp>
          <p:nvSpPr>
            <p:cNvPr id="21" name="TextBox 21"/>
            <p:cNvSpPr txBox="1"/>
            <p:nvPr/>
          </p:nvSpPr>
          <p:spPr>
            <a:xfrm>
              <a:off x="0" y="-38100"/>
              <a:ext cx="4183860" cy="1024692"/>
            </a:xfrm>
            <a:prstGeom prst="rect">
              <a:avLst/>
            </a:prstGeom>
          </p:spPr>
          <p:txBody>
            <a:bodyPr lIns="50800" tIns="50800" rIns="50800" bIns="50800" rtlCol="0" anchor="ctr"/>
            <a:lstStyle/>
            <a:p>
              <a:pPr marL="0" lvl="0" indent="0" algn="ctr">
                <a:lnSpc>
                  <a:spcPts val="2659"/>
                </a:lnSpc>
              </a:pPr>
              <a:endParaRPr/>
            </a:p>
          </p:txBody>
        </p:sp>
      </p:grpSp>
      <p:grpSp>
        <p:nvGrpSpPr>
          <p:cNvPr id="22" name="Group 22"/>
          <p:cNvGrpSpPr/>
          <p:nvPr/>
        </p:nvGrpSpPr>
        <p:grpSpPr>
          <a:xfrm>
            <a:off x="1599239" y="5143500"/>
            <a:ext cx="3444420" cy="737665"/>
            <a:chOff x="0" y="0"/>
            <a:chExt cx="907172" cy="194282"/>
          </a:xfrm>
        </p:grpSpPr>
        <p:sp>
          <p:nvSpPr>
            <p:cNvPr id="23" name="Freeform 23"/>
            <p:cNvSpPr/>
            <p:nvPr/>
          </p:nvSpPr>
          <p:spPr>
            <a:xfrm>
              <a:off x="0" y="0"/>
              <a:ext cx="907172" cy="194282"/>
            </a:xfrm>
            <a:custGeom>
              <a:avLst/>
              <a:gdLst/>
              <a:ahLst/>
              <a:cxnLst/>
              <a:rect l="l" t="t" r="r" b="b"/>
              <a:pathLst>
                <a:path w="907172" h="194282">
                  <a:moveTo>
                    <a:pt x="40458" y="0"/>
                  </a:moveTo>
                  <a:lnTo>
                    <a:pt x="866714" y="0"/>
                  </a:lnTo>
                  <a:cubicBezTo>
                    <a:pt x="889059" y="0"/>
                    <a:pt x="907172" y="18114"/>
                    <a:pt x="907172" y="40458"/>
                  </a:cubicBezTo>
                  <a:lnTo>
                    <a:pt x="907172" y="153824"/>
                  </a:lnTo>
                  <a:cubicBezTo>
                    <a:pt x="907172" y="164554"/>
                    <a:pt x="902910" y="174845"/>
                    <a:pt x="895322" y="182432"/>
                  </a:cubicBezTo>
                  <a:cubicBezTo>
                    <a:pt x="887735" y="190019"/>
                    <a:pt x="877444" y="194282"/>
                    <a:pt x="866714" y="194282"/>
                  </a:cubicBezTo>
                  <a:lnTo>
                    <a:pt x="40458" y="194282"/>
                  </a:lnTo>
                  <a:cubicBezTo>
                    <a:pt x="29728" y="194282"/>
                    <a:pt x="19437" y="190019"/>
                    <a:pt x="11850" y="182432"/>
                  </a:cubicBezTo>
                  <a:cubicBezTo>
                    <a:pt x="4263" y="174845"/>
                    <a:pt x="0" y="164554"/>
                    <a:pt x="0" y="153824"/>
                  </a:cubicBezTo>
                  <a:lnTo>
                    <a:pt x="0" y="40458"/>
                  </a:lnTo>
                  <a:cubicBezTo>
                    <a:pt x="0" y="29728"/>
                    <a:pt x="4263" y="19437"/>
                    <a:pt x="11850" y="11850"/>
                  </a:cubicBezTo>
                  <a:cubicBezTo>
                    <a:pt x="19437" y="4263"/>
                    <a:pt x="29728" y="0"/>
                    <a:pt x="40458" y="0"/>
                  </a:cubicBezTo>
                  <a:close/>
                </a:path>
              </a:pathLst>
            </a:custGeom>
            <a:solidFill>
              <a:srgbClr val="9BF019"/>
            </a:solidFill>
            <a:ln w="19050" cap="sq">
              <a:solidFill>
                <a:srgbClr val="D3E4E7"/>
              </a:solidFill>
              <a:prstDash val="solid"/>
              <a:miter/>
            </a:ln>
          </p:spPr>
          <p:txBody>
            <a:bodyPr/>
            <a:lstStyle/>
            <a:p>
              <a:endParaRPr lang="en-US"/>
            </a:p>
          </p:txBody>
        </p:sp>
        <p:sp>
          <p:nvSpPr>
            <p:cNvPr id="24" name="TextBox 24"/>
            <p:cNvSpPr txBox="1"/>
            <p:nvPr/>
          </p:nvSpPr>
          <p:spPr>
            <a:xfrm>
              <a:off x="0" y="-38100"/>
              <a:ext cx="907172" cy="232382"/>
            </a:xfrm>
            <a:prstGeom prst="rect">
              <a:avLst/>
            </a:prstGeom>
          </p:spPr>
          <p:txBody>
            <a:bodyPr lIns="50800" tIns="50800" rIns="50800" bIns="50800" rtlCol="0" anchor="ctr"/>
            <a:lstStyle/>
            <a:p>
              <a:pPr marL="0" lvl="0" indent="0" algn="ctr">
                <a:lnSpc>
                  <a:spcPts val="2659"/>
                </a:lnSpc>
              </a:pPr>
              <a:endParaRPr/>
            </a:p>
          </p:txBody>
        </p:sp>
      </p:grpSp>
      <p:grpSp>
        <p:nvGrpSpPr>
          <p:cNvPr id="25" name="Group 25"/>
          <p:cNvGrpSpPr/>
          <p:nvPr/>
        </p:nvGrpSpPr>
        <p:grpSpPr>
          <a:xfrm>
            <a:off x="5595858" y="5143500"/>
            <a:ext cx="3444420" cy="737665"/>
            <a:chOff x="0" y="0"/>
            <a:chExt cx="907172" cy="194282"/>
          </a:xfrm>
        </p:grpSpPr>
        <p:sp>
          <p:nvSpPr>
            <p:cNvPr id="26" name="Freeform 26"/>
            <p:cNvSpPr/>
            <p:nvPr/>
          </p:nvSpPr>
          <p:spPr>
            <a:xfrm>
              <a:off x="0" y="0"/>
              <a:ext cx="907172" cy="194282"/>
            </a:xfrm>
            <a:custGeom>
              <a:avLst/>
              <a:gdLst/>
              <a:ahLst/>
              <a:cxnLst/>
              <a:rect l="l" t="t" r="r" b="b"/>
              <a:pathLst>
                <a:path w="907172" h="194282">
                  <a:moveTo>
                    <a:pt x="40458" y="0"/>
                  </a:moveTo>
                  <a:lnTo>
                    <a:pt x="866714" y="0"/>
                  </a:lnTo>
                  <a:cubicBezTo>
                    <a:pt x="889059" y="0"/>
                    <a:pt x="907172" y="18114"/>
                    <a:pt x="907172" y="40458"/>
                  </a:cubicBezTo>
                  <a:lnTo>
                    <a:pt x="907172" y="153824"/>
                  </a:lnTo>
                  <a:cubicBezTo>
                    <a:pt x="907172" y="164554"/>
                    <a:pt x="902910" y="174845"/>
                    <a:pt x="895322" y="182432"/>
                  </a:cubicBezTo>
                  <a:cubicBezTo>
                    <a:pt x="887735" y="190019"/>
                    <a:pt x="877444" y="194282"/>
                    <a:pt x="866714" y="194282"/>
                  </a:cubicBezTo>
                  <a:lnTo>
                    <a:pt x="40458" y="194282"/>
                  </a:lnTo>
                  <a:cubicBezTo>
                    <a:pt x="29728" y="194282"/>
                    <a:pt x="19437" y="190019"/>
                    <a:pt x="11850" y="182432"/>
                  </a:cubicBezTo>
                  <a:cubicBezTo>
                    <a:pt x="4263" y="174845"/>
                    <a:pt x="0" y="164554"/>
                    <a:pt x="0" y="153824"/>
                  </a:cubicBezTo>
                  <a:lnTo>
                    <a:pt x="0" y="40458"/>
                  </a:lnTo>
                  <a:cubicBezTo>
                    <a:pt x="0" y="29728"/>
                    <a:pt x="4263" y="19437"/>
                    <a:pt x="11850" y="11850"/>
                  </a:cubicBezTo>
                  <a:cubicBezTo>
                    <a:pt x="19437" y="4263"/>
                    <a:pt x="29728" y="0"/>
                    <a:pt x="40458" y="0"/>
                  </a:cubicBezTo>
                  <a:close/>
                </a:path>
              </a:pathLst>
            </a:custGeom>
            <a:solidFill>
              <a:srgbClr val="004119"/>
            </a:solidFill>
            <a:ln w="19050" cap="sq">
              <a:solidFill>
                <a:srgbClr val="D3E4E7"/>
              </a:solidFill>
              <a:prstDash val="solid"/>
              <a:miter/>
            </a:ln>
          </p:spPr>
          <p:txBody>
            <a:bodyPr/>
            <a:lstStyle/>
            <a:p>
              <a:endParaRPr lang="en-US"/>
            </a:p>
          </p:txBody>
        </p:sp>
        <p:sp>
          <p:nvSpPr>
            <p:cNvPr id="27" name="TextBox 27"/>
            <p:cNvSpPr txBox="1"/>
            <p:nvPr/>
          </p:nvSpPr>
          <p:spPr>
            <a:xfrm>
              <a:off x="0" y="-38100"/>
              <a:ext cx="907172" cy="232382"/>
            </a:xfrm>
            <a:prstGeom prst="rect">
              <a:avLst/>
            </a:prstGeom>
          </p:spPr>
          <p:txBody>
            <a:bodyPr lIns="50800" tIns="50800" rIns="50800" bIns="50800" rtlCol="0" anchor="ctr"/>
            <a:lstStyle/>
            <a:p>
              <a:pPr marL="0" lvl="0" indent="0" algn="ctr">
                <a:lnSpc>
                  <a:spcPts val="2659"/>
                </a:lnSpc>
              </a:pPr>
              <a:endParaRPr/>
            </a:p>
          </p:txBody>
        </p:sp>
      </p:grpSp>
      <p:sp>
        <p:nvSpPr>
          <p:cNvPr id="28" name="TextBox 28"/>
          <p:cNvSpPr txBox="1"/>
          <p:nvPr/>
        </p:nvSpPr>
        <p:spPr>
          <a:xfrm>
            <a:off x="2098157" y="6346846"/>
            <a:ext cx="2446584" cy="1180066"/>
          </a:xfrm>
          <a:prstGeom prst="rect">
            <a:avLst/>
          </a:prstGeom>
        </p:spPr>
        <p:txBody>
          <a:bodyPr lIns="0" tIns="0" rIns="0" bIns="0" rtlCol="0" anchor="t">
            <a:spAutoFit/>
          </a:bodyPr>
          <a:lstStyle/>
          <a:p>
            <a:pPr marL="0" lvl="0" indent="0" algn="ctr">
              <a:lnSpc>
                <a:spcPts val="1878"/>
              </a:lnSpc>
            </a:pPr>
            <a:r>
              <a:rPr lang="en-US" sz="1371" spc="-43">
                <a:solidFill>
                  <a:srgbClr val="FFFFFF"/>
                </a:solidFill>
                <a:latin typeface="Canva Sans"/>
                <a:ea typeface="Canva Sans"/>
                <a:cs typeface="Canva Sans"/>
                <a:sym typeface="Canva Sans"/>
              </a:rPr>
              <a:t>Phase 1: Synthesis of porous SiOx via magnesiothermic reduction; initial composite fabrication and structural characterization</a:t>
            </a:r>
          </a:p>
        </p:txBody>
      </p:sp>
      <p:sp>
        <p:nvSpPr>
          <p:cNvPr id="29" name="TextBox 29"/>
          <p:cNvSpPr txBox="1"/>
          <p:nvPr/>
        </p:nvSpPr>
        <p:spPr>
          <a:xfrm>
            <a:off x="1881236" y="8141102"/>
            <a:ext cx="2880426" cy="941941"/>
          </a:xfrm>
          <a:prstGeom prst="rect">
            <a:avLst/>
          </a:prstGeom>
        </p:spPr>
        <p:txBody>
          <a:bodyPr lIns="0" tIns="0" rIns="0" bIns="0" rtlCol="0" anchor="t">
            <a:spAutoFit/>
          </a:bodyPr>
          <a:lstStyle/>
          <a:p>
            <a:pPr marL="0" lvl="0" indent="0" algn="ctr">
              <a:lnSpc>
                <a:spcPts val="1878"/>
              </a:lnSpc>
            </a:pPr>
            <a:r>
              <a:rPr lang="en-US" sz="1371" spc="-43">
                <a:solidFill>
                  <a:srgbClr val="FFFFFF"/>
                </a:solidFill>
                <a:latin typeface="Canva Sans"/>
                <a:ea typeface="Canva Sans"/>
                <a:cs typeface="Canva Sans"/>
                <a:sym typeface="Canva Sans"/>
              </a:rPr>
              <a:t>Phase 1 (cont.): Prepare process_data.csv, sem_features.csv, edx_data.csv, and electrochem_data.csv; build master_dataset.csv by sample_id</a:t>
            </a:r>
          </a:p>
        </p:txBody>
      </p:sp>
      <p:sp>
        <p:nvSpPr>
          <p:cNvPr id="30" name="TextBox 30"/>
          <p:cNvSpPr txBox="1"/>
          <p:nvPr/>
        </p:nvSpPr>
        <p:spPr>
          <a:xfrm>
            <a:off x="5776374" y="6346846"/>
            <a:ext cx="3082885" cy="1180066"/>
          </a:xfrm>
          <a:prstGeom prst="rect">
            <a:avLst/>
          </a:prstGeom>
        </p:spPr>
        <p:txBody>
          <a:bodyPr lIns="0" tIns="0" rIns="0" bIns="0" rtlCol="0" anchor="t">
            <a:spAutoFit/>
          </a:bodyPr>
          <a:lstStyle/>
          <a:p>
            <a:pPr marL="0" lvl="0" indent="0" algn="ctr">
              <a:lnSpc>
                <a:spcPts val="1878"/>
              </a:lnSpc>
            </a:pPr>
            <a:r>
              <a:rPr lang="en-US" sz="1371" spc="-43">
                <a:solidFill>
                  <a:srgbClr val="FFFFFF"/>
                </a:solidFill>
                <a:latin typeface="Canva Sans"/>
                <a:ea typeface="Canva Sans"/>
                <a:cs typeface="Canva Sans"/>
                <a:sym typeface="Canva Sans"/>
              </a:rPr>
              <a:t>Phase 2: Train RandomForest baseline and Gaussian Process surrogate for retention_100; save metrics, model bundle, and feature importance</a:t>
            </a:r>
          </a:p>
        </p:txBody>
      </p:sp>
      <p:sp>
        <p:nvSpPr>
          <p:cNvPr id="31" name="TextBox 31"/>
          <p:cNvSpPr txBox="1"/>
          <p:nvPr/>
        </p:nvSpPr>
        <p:spPr>
          <a:xfrm>
            <a:off x="5776374" y="8141102"/>
            <a:ext cx="3082885" cy="941941"/>
          </a:xfrm>
          <a:prstGeom prst="rect">
            <a:avLst/>
          </a:prstGeom>
        </p:spPr>
        <p:txBody>
          <a:bodyPr lIns="0" tIns="0" rIns="0" bIns="0" rtlCol="0" anchor="t">
            <a:spAutoFit/>
          </a:bodyPr>
          <a:lstStyle/>
          <a:p>
            <a:pPr marL="0" lvl="0" indent="0" algn="ctr">
              <a:lnSpc>
                <a:spcPts val="1878"/>
              </a:lnSpc>
            </a:pPr>
            <a:r>
              <a:rPr lang="en-US" sz="1371" spc="-43">
                <a:solidFill>
                  <a:srgbClr val="FFFFFF"/>
                </a:solidFill>
                <a:latin typeface="Canva Sans"/>
                <a:ea typeface="Canva Sans"/>
                <a:cs typeface="Canva Sans"/>
                <a:sym typeface="Canva Sans"/>
              </a:rPr>
              <a:t>Phase 2 (cont.): Generate candidate recipes, remove already-tested recipes, rank top-3 suggestions by GP/UCB score and confidence</a:t>
            </a:r>
          </a:p>
        </p:txBody>
      </p:sp>
      <p:grpSp>
        <p:nvGrpSpPr>
          <p:cNvPr id="32" name="Group 32"/>
          <p:cNvGrpSpPr/>
          <p:nvPr/>
        </p:nvGrpSpPr>
        <p:grpSpPr>
          <a:xfrm>
            <a:off x="9592476" y="5143500"/>
            <a:ext cx="3444420" cy="737665"/>
            <a:chOff x="0" y="0"/>
            <a:chExt cx="907172" cy="194282"/>
          </a:xfrm>
        </p:grpSpPr>
        <p:sp>
          <p:nvSpPr>
            <p:cNvPr id="33" name="Freeform 33"/>
            <p:cNvSpPr/>
            <p:nvPr/>
          </p:nvSpPr>
          <p:spPr>
            <a:xfrm>
              <a:off x="0" y="0"/>
              <a:ext cx="907172" cy="194282"/>
            </a:xfrm>
            <a:custGeom>
              <a:avLst/>
              <a:gdLst/>
              <a:ahLst/>
              <a:cxnLst/>
              <a:rect l="l" t="t" r="r" b="b"/>
              <a:pathLst>
                <a:path w="907172" h="194282">
                  <a:moveTo>
                    <a:pt x="40458" y="0"/>
                  </a:moveTo>
                  <a:lnTo>
                    <a:pt x="866714" y="0"/>
                  </a:lnTo>
                  <a:cubicBezTo>
                    <a:pt x="889059" y="0"/>
                    <a:pt x="907172" y="18114"/>
                    <a:pt x="907172" y="40458"/>
                  </a:cubicBezTo>
                  <a:lnTo>
                    <a:pt x="907172" y="153824"/>
                  </a:lnTo>
                  <a:cubicBezTo>
                    <a:pt x="907172" y="164554"/>
                    <a:pt x="902910" y="174845"/>
                    <a:pt x="895322" y="182432"/>
                  </a:cubicBezTo>
                  <a:cubicBezTo>
                    <a:pt x="887735" y="190019"/>
                    <a:pt x="877444" y="194282"/>
                    <a:pt x="866714" y="194282"/>
                  </a:cubicBezTo>
                  <a:lnTo>
                    <a:pt x="40458" y="194282"/>
                  </a:lnTo>
                  <a:cubicBezTo>
                    <a:pt x="29728" y="194282"/>
                    <a:pt x="19437" y="190019"/>
                    <a:pt x="11850" y="182432"/>
                  </a:cubicBezTo>
                  <a:cubicBezTo>
                    <a:pt x="4263" y="174845"/>
                    <a:pt x="0" y="164554"/>
                    <a:pt x="0" y="153824"/>
                  </a:cubicBezTo>
                  <a:lnTo>
                    <a:pt x="0" y="40458"/>
                  </a:lnTo>
                  <a:cubicBezTo>
                    <a:pt x="0" y="29728"/>
                    <a:pt x="4263" y="19437"/>
                    <a:pt x="11850" y="11850"/>
                  </a:cubicBezTo>
                  <a:cubicBezTo>
                    <a:pt x="19437" y="4263"/>
                    <a:pt x="29728" y="0"/>
                    <a:pt x="40458" y="0"/>
                  </a:cubicBezTo>
                  <a:close/>
                </a:path>
              </a:pathLst>
            </a:custGeom>
            <a:solidFill>
              <a:srgbClr val="9BF019"/>
            </a:solidFill>
            <a:ln w="19050" cap="sq">
              <a:solidFill>
                <a:srgbClr val="D3E4E7"/>
              </a:solidFill>
              <a:prstDash val="solid"/>
              <a:miter/>
            </a:ln>
          </p:spPr>
          <p:txBody>
            <a:bodyPr/>
            <a:lstStyle/>
            <a:p>
              <a:endParaRPr lang="en-US"/>
            </a:p>
          </p:txBody>
        </p:sp>
        <p:sp>
          <p:nvSpPr>
            <p:cNvPr id="34" name="TextBox 34"/>
            <p:cNvSpPr txBox="1"/>
            <p:nvPr/>
          </p:nvSpPr>
          <p:spPr>
            <a:xfrm>
              <a:off x="0" y="-38100"/>
              <a:ext cx="907172" cy="232382"/>
            </a:xfrm>
            <a:prstGeom prst="rect">
              <a:avLst/>
            </a:prstGeom>
          </p:spPr>
          <p:txBody>
            <a:bodyPr lIns="50800" tIns="50800" rIns="50800" bIns="50800" rtlCol="0" anchor="ctr"/>
            <a:lstStyle/>
            <a:p>
              <a:pPr marL="0" lvl="0" indent="0" algn="ctr">
                <a:lnSpc>
                  <a:spcPts val="2659"/>
                </a:lnSpc>
              </a:pPr>
              <a:endParaRPr/>
            </a:p>
          </p:txBody>
        </p:sp>
      </p:grpSp>
      <p:grpSp>
        <p:nvGrpSpPr>
          <p:cNvPr id="35" name="Group 35"/>
          <p:cNvGrpSpPr/>
          <p:nvPr/>
        </p:nvGrpSpPr>
        <p:grpSpPr>
          <a:xfrm>
            <a:off x="13589346" y="5143500"/>
            <a:ext cx="3444420" cy="737665"/>
            <a:chOff x="0" y="0"/>
            <a:chExt cx="907172" cy="194282"/>
          </a:xfrm>
        </p:grpSpPr>
        <p:sp>
          <p:nvSpPr>
            <p:cNvPr id="36" name="Freeform 36"/>
            <p:cNvSpPr/>
            <p:nvPr/>
          </p:nvSpPr>
          <p:spPr>
            <a:xfrm>
              <a:off x="0" y="0"/>
              <a:ext cx="907172" cy="194282"/>
            </a:xfrm>
            <a:custGeom>
              <a:avLst/>
              <a:gdLst/>
              <a:ahLst/>
              <a:cxnLst/>
              <a:rect l="l" t="t" r="r" b="b"/>
              <a:pathLst>
                <a:path w="907172" h="194282">
                  <a:moveTo>
                    <a:pt x="40458" y="0"/>
                  </a:moveTo>
                  <a:lnTo>
                    <a:pt x="866714" y="0"/>
                  </a:lnTo>
                  <a:cubicBezTo>
                    <a:pt x="889059" y="0"/>
                    <a:pt x="907172" y="18114"/>
                    <a:pt x="907172" y="40458"/>
                  </a:cubicBezTo>
                  <a:lnTo>
                    <a:pt x="907172" y="153824"/>
                  </a:lnTo>
                  <a:cubicBezTo>
                    <a:pt x="907172" y="164554"/>
                    <a:pt x="902910" y="174845"/>
                    <a:pt x="895322" y="182432"/>
                  </a:cubicBezTo>
                  <a:cubicBezTo>
                    <a:pt x="887735" y="190019"/>
                    <a:pt x="877444" y="194282"/>
                    <a:pt x="866714" y="194282"/>
                  </a:cubicBezTo>
                  <a:lnTo>
                    <a:pt x="40458" y="194282"/>
                  </a:lnTo>
                  <a:cubicBezTo>
                    <a:pt x="29728" y="194282"/>
                    <a:pt x="19437" y="190019"/>
                    <a:pt x="11850" y="182432"/>
                  </a:cubicBezTo>
                  <a:cubicBezTo>
                    <a:pt x="4263" y="174845"/>
                    <a:pt x="0" y="164554"/>
                    <a:pt x="0" y="153824"/>
                  </a:cubicBezTo>
                  <a:lnTo>
                    <a:pt x="0" y="40458"/>
                  </a:lnTo>
                  <a:cubicBezTo>
                    <a:pt x="0" y="29728"/>
                    <a:pt x="4263" y="19437"/>
                    <a:pt x="11850" y="11850"/>
                  </a:cubicBezTo>
                  <a:cubicBezTo>
                    <a:pt x="19437" y="4263"/>
                    <a:pt x="29728" y="0"/>
                    <a:pt x="40458" y="0"/>
                  </a:cubicBezTo>
                  <a:close/>
                </a:path>
              </a:pathLst>
            </a:custGeom>
            <a:solidFill>
              <a:srgbClr val="004119"/>
            </a:solidFill>
            <a:ln w="19050" cap="sq">
              <a:solidFill>
                <a:srgbClr val="D3E4E7"/>
              </a:solidFill>
              <a:prstDash val="solid"/>
              <a:miter/>
            </a:ln>
          </p:spPr>
          <p:txBody>
            <a:bodyPr/>
            <a:lstStyle/>
            <a:p>
              <a:endParaRPr lang="en-US"/>
            </a:p>
          </p:txBody>
        </p:sp>
        <p:sp>
          <p:nvSpPr>
            <p:cNvPr id="37" name="TextBox 37"/>
            <p:cNvSpPr txBox="1"/>
            <p:nvPr/>
          </p:nvSpPr>
          <p:spPr>
            <a:xfrm>
              <a:off x="0" y="-38100"/>
              <a:ext cx="907172" cy="23238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38" name="TextBox 38"/>
          <p:cNvSpPr txBox="1"/>
          <p:nvPr/>
        </p:nvSpPr>
        <p:spPr>
          <a:xfrm>
            <a:off x="1598988" y="5379233"/>
            <a:ext cx="3444420" cy="357956"/>
          </a:xfrm>
          <a:prstGeom prst="rect">
            <a:avLst/>
          </a:prstGeom>
        </p:spPr>
        <p:txBody>
          <a:bodyPr lIns="0" tIns="0" rIns="0" bIns="0" rtlCol="0" anchor="t">
            <a:spAutoFit/>
          </a:bodyPr>
          <a:lstStyle/>
          <a:p>
            <a:pPr marL="0" lvl="0" indent="0" algn="ctr">
              <a:lnSpc>
                <a:spcPts val="2714"/>
              </a:lnSpc>
              <a:spcBef>
                <a:spcPct val="0"/>
              </a:spcBef>
            </a:pPr>
            <a:r>
              <a:rPr lang="en-US" sz="2798" b="1" spc="-55">
                <a:solidFill>
                  <a:srgbClr val="053416"/>
                </a:solidFill>
                <a:latin typeface="Pragmatica Bold"/>
                <a:ea typeface="Pragmatica Bold"/>
                <a:cs typeface="Pragmatica Bold"/>
                <a:sym typeface="Pragmatica Bold"/>
              </a:rPr>
              <a:t>Months 1–6</a:t>
            </a:r>
          </a:p>
        </p:txBody>
      </p:sp>
      <p:sp>
        <p:nvSpPr>
          <p:cNvPr id="39" name="TextBox 39"/>
          <p:cNvSpPr txBox="1"/>
          <p:nvPr/>
        </p:nvSpPr>
        <p:spPr>
          <a:xfrm>
            <a:off x="5607202" y="5366663"/>
            <a:ext cx="3444420" cy="357956"/>
          </a:xfrm>
          <a:prstGeom prst="rect">
            <a:avLst/>
          </a:prstGeom>
        </p:spPr>
        <p:txBody>
          <a:bodyPr lIns="0" tIns="0" rIns="0" bIns="0" rtlCol="0" anchor="t">
            <a:spAutoFit/>
          </a:bodyPr>
          <a:lstStyle/>
          <a:p>
            <a:pPr marL="0" lvl="0" indent="0" algn="ctr">
              <a:lnSpc>
                <a:spcPts val="2714"/>
              </a:lnSpc>
              <a:spcBef>
                <a:spcPct val="0"/>
              </a:spcBef>
            </a:pPr>
            <a:r>
              <a:rPr lang="en-US" sz="2798" b="1" spc="-55">
                <a:solidFill>
                  <a:srgbClr val="FFFFFF"/>
                </a:solidFill>
                <a:latin typeface="Pragmatica Bold"/>
                <a:ea typeface="Pragmatica Bold"/>
                <a:cs typeface="Pragmatica Bold"/>
                <a:sym typeface="Pragmatica Bold"/>
              </a:rPr>
              <a:t>Months 7–12</a:t>
            </a:r>
          </a:p>
        </p:txBody>
      </p:sp>
      <p:sp>
        <p:nvSpPr>
          <p:cNvPr id="40" name="TextBox 40"/>
          <p:cNvSpPr txBox="1"/>
          <p:nvPr/>
        </p:nvSpPr>
        <p:spPr>
          <a:xfrm>
            <a:off x="9592476" y="5379233"/>
            <a:ext cx="3444420" cy="357956"/>
          </a:xfrm>
          <a:prstGeom prst="rect">
            <a:avLst/>
          </a:prstGeom>
        </p:spPr>
        <p:txBody>
          <a:bodyPr lIns="0" tIns="0" rIns="0" bIns="0" rtlCol="0" anchor="t">
            <a:spAutoFit/>
          </a:bodyPr>
          <a:lstStyle/>
          <a:p>
            <a:pPr marL="0" lvl="0" indent="0" algn="ctr">
              <a:lnSpc>
                <a:spcPts val="2714"/>
              </a:lnSpc>
              <a:spcBef>
                <a:spcPct val="0"/>
              </a:spcBef>
            </a:pPr>
            <a:r>
              <a:rPr lang="en-US" sz="2798" b="1" spc="-55">
                <a:solidFill>
                  <a:srgbClr val="053416"/>
                </a:solidFill>
                <a:latin typeface="Pragmatica Bold"/>
                <a:ea typeface="Pragmatica Bold"/>
                <a:cs typeface="Pragmatica Bold"/>
                <a:sym typeface="Pragmatica Bold"/>
              </a:rPr>
              <a:t>Months 13–18</a:t>
            </a:r>
          </a:p>
        </p:txBody>
      </p:sp>
      <p:sp>
        <p:nvSpPr>
          <p:cNvPr id="41" name="TextBox 41"/>
          <p:cNvSpPr txBox="1"/>
          <p:nvPr/>
        </p:nvSpPr>
        <p:spPr>
          <a:xfrm>
            <a:off x="13589346" y="5366663"/>
            <a:ext cx="3444420" cy="357956"/>
          </a:xfrm>
          <a:prstGeom prst="rect">
            <a:avLst/>
          </a:prstGeom>
        </p:spPr>
        <p:txBody>
          <a:bodyPr lIns="0" tIns="0" rIns="0" bIns="0" rtlCol="0" anchor="t">
            <a:spAutoFit/>
          </a:bodyPr>
          <a:lstStyle/>
          <a:p>
            <a:pPr marL="0" lvl="0" indent="0" algn="ctr">
              <a:lnSpc>
                <a:spcPts val="2714"/>
              </a:lnSpc>
              <a:spcBef>
                <a:spcPct val="0"/>
              </a:spcBef>
            </a:pPr>
            <a:r>
              <a:rPr lang="en-US" sz="2798" b="1" spc="-55">
                <a:solidFill>
                  <a:srgbClr val="FFFFFF"/>
                </a:solidFill>
                <a:latin typeface="Pragmatica Bold"/>
                <a:ea typeface="Pragmatica Bold"/>
                <a:cs typeface="Pragmatica Bold"/>
                <a:sym typeface="Pragmatica Bold"/>
              </a:rPr>
              <a:t>Months 19–24</a:t>
            </a:r>
          </a:p>
        </p:txBody>
      </p:sp>
      <p:sp>
        <p:nvSpPr>
          <p:cNvPr id="42" name="TextBox 42"/>
          <p:cNvSpPr txBox="1"/>
          <p:nvPr/>
        </p:nvSpPr>
        <p:spPr>
          <a:xfrm>
            <a:off x="9961241" y="6346846"/>
            <a:ext cx="2706889" cy="941941"/>
          </a:xfrm>
          <a:prstGeom prst="rect">
            <a:avLst/>
          </a:prstGeom>
        </p:spPr>
        <p:txBody>
          <a:bodyPr lIns="0" tIns="0" rIns="0" bIns="0" rtlCol="0" anchor="t">
            <a:spAutoFit/>
          </a:bodyPr>
          <a:lstStyle/>
          <a:p>
            <a:pPr marL="0" lvl="0" indent="0" algn="ctr">
              <a:lnSpc>
                <a:spcPts val="1878"/>
              </a:lnSpc>
            </a:pPr>
            <a:r>
              <a:rPr lang="en-US" sz="1371" spc="-43">
                <a:solidFill>
                  <a:srgbClr val="FFFFFF"/>
                </a:solidFill>
                <a:latin typeface="Canva Sans"/>
                <a:ea typeface="Canva Sans"/>
                <a:cs typeface="Canva Sans"/>
                <a:sym typeface="Canva Sans"/>
              </a:rPr>
              <a:t>Phase 3: Build Streamlit dashboard showing dataset overview, model metrics, feature importance, and top-3 AI recommendations</a:t>
            </a:r>
          </a:p>
        </p:txBody>
      </p:sp>
      <p:sp>
        <p:nvSpPr>
          <p:cNvPr id="43" name="TextBox 43"/>
          <p:cNvSpPr txBox="1"/>
          <p:nvPr/>
        </p:nvSpPr>
        <p:spPr>
          <a:xfrm>
            <a:off x="9961241" y="8279215"/>
            <a:ext cx="2706889" cy="941941"/>
          </a:xfrm>
          <a:prstGeom prst="rect">
            <a:avLst/>
          </a:prstGeom>
        </p:spPr>
        <p:txBody>
          <a:bodyPr lIns="0" tIns="0" rIns="0" bIns="0" rtlCol="0" anchor="t">
            <a:spAutoFit/>
          </a:bodyPr>
          <a:lstStyle/>
          <a:p>
            <a:pPr marL="0" lvl="0" indent="0" algn="ctr">
              <a:lnSpc>
                <a:spcPts val="1878"/>
              </a:lnSpc>
            </a:pPr>
            <a:r>
              <a:rPr lang="en-US" sz="1371" spc="-43">
                <a:solidFill>
                  <a:srgbClr val="FFFFFF"/>
                </a:solidFill>
                <a:latin typeface="Canva Sans"/>
                <a:ea typeface="Canva Sans"/>
                <a:cs typeface="Canva Sans"/>
                <a:sym typeface="Canva Sans"/>
              </a:rPr>
              <a:t>Phase 3 (cont.): Add Accept / Modify / Reject decision placeholders for human-in-the-loop experimental planning</a:t>
            </a:r>
          </a:p>
        </p:txBody>
      </p:sp>
      <p:sp>
        <p:nvSpPr>
          <p:cNvPr id="44" name="TextBox 44"/>
          <p:cNvSpPr txBox="1"/>
          <p:nvPr/>
        </p:nvSpPr>
        <p:spPr>
          <a:xfrm>
            <a:off x="14087258" y="6346846"/>
            <a:ext cx="2446584" cy="1418191"/>
          </a:xfrm>
          <a:prstGeom prst="rect">
            <a:avLst/>
          </a:prstGeom>
        </p:spPr>
        <p:txBody>
          <a:bodyPr lIns="0" tIns="0" rIns="0" bIns="0" rtlCol="0" anchor="t">
            <a:spAutoFit/>
          </a:bodyPr>
          <a:lstStyle/>
          <a:p>
            <a:pPr marL="0" lvl="0" indent="0" algn="ctr">
              <a:lnSpc>
                <a:spcPts val="1878"/>
              </a:lnSpc>
            </a:pPr>
            <a:r>
              <a:rPr lang="en-US" sz="1371" spc="-43">
                <a:solidFill>
                  <a:srgbClr val="FFFFFF"/>
                </a:solidFill>
                <a:latin typeface="Canva Sans"/>
                <a:ea typeface="Canva Sans"/>
                <a:cs typeface="Canva Sans"/>
                <a:sym typeface="Canva Sans"/>
              </a:rPr>
              <a:t>Phase 4: Fabricate selected recipes, collect SEM, EDX, and electrochemical results, then append new data to the next training round</a:t>
            </a:r>
          </a:p>
        </p:txBody>
      </p:sp>
      <p:sp>
        <p:nvSpPr>
          <p:cNvPr id="45" name="TextBox 45"/>
          <p:cNvSpPr txBox="1"/>
          <p:nvPr/>
        </p:nvSpPr>
        <p:spPr>
          <a:xfrm>
            <a:off x="14087258" y="8141102"/>
            <a:ext cx="2446584" cy="1180066"/>
          </a:xfrm>
          <a:prstGeom prst="rect">
            <a:avLst/>
          </a:prstGeom>
        </p:spPr>
        <p:txBody>
          <a:bodyPr lIns="0" tIns="0" rIns="0" bIns="0" rtlCol="0" anchor="t">
            <a:spAutoFit/>
          </a:bodyPr>
          <a:lstStyle/>
          <a:p>
            <a:pPr marL="0" lvl="0" indent="0" algn="ctr">
              <a:lnSpc>
                <a:spcPts val="1878"/>
              </a:lnSpc>
            </a:pPr>
            <a:r>
              <a:rPr lang="en-US" sz="1371" spc="-43">
                <a:solidFill>
                  <a:srgbClr val="FFFFFF"/>
                </a:solidFill>
                <a:latin typeface="Canva Sans"/>
                <a:ea typeface="Canva Sans"/>
                <a:cs typeface="Canva Sans"/>
                <a:sym typeface="Canva Sans"/>
              </a:rPr>
              <a:t>Phase 4 (cont.): Keep claims limited to decision support until enough real experimental data validate model performance</a:t>
            </a:r>
          </a:p>
        </p:txBody>
      </p:sp>
      <p:sp>
        <p:nvSpPr>
          <p:cNvPr id="46" name="AutoShape 46"/>
          <p:cNvSpPr/>
          <p:nvPr/>
        </p:nvSpPr>
        <p:spPr>
          <a:xfrm>
            <a:off x="1696761" y="7664852"/>
            <a:ext cx="15337005" cy="0"/>
          </a:xfrm>
          <a:prstGeom prst="line">
            <a:avLst/>
          </a:prstGeom>
          <a:ln w="19050" cap="flat">
            <a:gradFill>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prstDash val="solid"/>
            <a:headEnd type="none" w="sm" len="sm"/>
            <a:tailEnd type="none" w="sm" len="sm"/>
          </a:ln>
        </p:spPr>
        <p:txBody>
          <a:bodyPr/>
          <a:lstStyle/>
          <a:p>
            <a:endParaRPr lang="en-US"/>
          </a:p>
        </p:txBody>
      </p:sp>
      <p:sp>
        <p:nvSpPr>
          <p:cNvPr id="47" name="AutoShape 47"/>
          <p:cNvSpPr/>
          <p:nvPr/>
        </p:nvSpPr>
        <p:spPr>
          <a:xfrm flipV="1">
            <a:off x="5269018" y="6800199"/>
            <a:ext cx="0" cy="1757018"/>
          </a:xfrm>
          <a:prstGeom prst="line">
            <a:avLst/>
          </a:prstGeom>
          <a:ln w="19050" cap="flat">
            <a:gradFill>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prstDash val="solid"/>
            <a:headEnd type="none" w="sm" len="sm"/>
            <a:tailEnd type="none" w="sm" len="sm"/>
          </a:ln>
        </p:spPr>
        <p:txBody>
          <a:bodyPr/>
          <a:lstStyle/>
          <a:p>
            <a:endParaRPr lang="en-US"/>
          </a:p>
        </p:txBody>
      </p:sp>
      <p:sp>
        <p:nvSpPr>
          <p:cNvPr id="48" name="AutoShape 48"/>
          <p:cNvSpPr/>
          <p:nvPr/>
        </p:nvSpPr>
        <p:spPr>
          <a:xfrm flipV="1">
            <a:off x="9410250" y="6800199"/>
            <a:ext cx="0" cy="1757018"/>
          </a:xfrm>
          <a:prstGeom prst="line">
            <a:avLst/>
          </a:prstGeom>
          <a:ln w="19050" cap="flat">
            <a:gradFill>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prstDash val="solid"/>
            <a:headEnd type="none" w="sm" len="sm"/>
            <a:tailEnd type="none" w="sm" len="sm"/>
          </a:ln>
        </p:spPr>
        <p:txBody>
          <a:bodyPr/>
          <a:lstStyle/>
          <a:p>
            <a:endParaRPr lang="en-US"/>
          </a:p>
        </p:txBody>
      </p:sp>
      <p:sp>
        <p:nvSpPr>
          <p:cNvPr id="49" name="AutoShape 49"/>
          <p:cNvSpPr/>
          <p:nvPr/>
        </p:nvSpPr>
        <p:spPr>
          <a:xfrm flipV="1">
            <a:off x="13551482" y="6800199"/>
            <a:ext cx="0" cy="1757018"/>
          </a:xfrm>
          <a:prstGeom prst="line">
            <a:avLst/>
          </a:prstGeom>
          <a:ln w="19050" cap="flat">
            <a:gradFill>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prstDash val="solid"/>
            <a:headEnd type="none" w="sm" len="sm"/>
            <a:tailEnd type="none" w="sm" len="sm"/>
          </a:ln>
        </p:spPr>
        <p:txBody>
          <a:bodyP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AutoShape 3"/>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4" name="AutoShape 4"/>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p:cNvSpPr/>
          <p:nvPr/>
        </p:nvSpPr>
        <p:spPr>
          <a:xfrm>
            <a:off x="6075187"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AutoShape 7"/>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8" name="Freeform 8"/>
          <p:cNvSpPr/>
          <p:nvPr/>
        </p:nvSpPr>
        <p:spPr>
          <a:xfrm>
            <a:off x="14950017" y="-1114244"/>
            <a:ext cx="8534070" cy="11618164"/>
          </a:xfrm>
          <a:custGeom>
            <a:avLst/>
            <a:gdLst/>
            <a:ahLst/>
            <a:cxnLst/>
            <a:rect l="l" t="t" r="r" b="b"/>
            <a:pathLst>
              <a:path w="8534070" h="11618164">
                <a:moveTo>
                  <a:pt x="0" y="0"/>
                </a:moveTo>
                <a:lnTo>
                  <a:pt x="8534069" y="0"/>
                </a:lnTo>
                <a:lnTo>
                  <a:pt x="8534069" y="11618163"/>
                </a:lnTo>
                <a:lnTo>
                  <a:pt x="0" y="11618163"/>
                </a:lnTo>
                <a:lnTo>
                  <a:pt x="0" y="0"/>
                </a:lnTo>
                <a:close/>
              </a:path>
            </a:pathLst>
          </a:custGeom>
          <a:blipFill>
            <a:blip r:embed="rId2">
              <a:alphaModFix amt="50000"/>
            </a:blip>
            <a:stretch>
              <a:fillRect/>
            </a:stretch>
          </a:blipFill>
        </p:spPr>
        <p:txBody>
          <a:bodyPr/>
          <a:lstStyle/>
          <a:p>
            <a:endParaRPr lang="en-US"/>
          </a:p>
        </p:txBody>
      </p:sp>
      <p:grpSp>
        <p:nvGrpSpPr>
          <p:cNvPr id="9" name="Group 9"/>
          <p:cNvGrpSpPr/>
          <p:nvPr/>
        </p:nvGrpSpPr>
        <p:grpSpPr>
          <a:xfrm>
            <a:off x="1028700" y="654448"/>
            <a:ext cx="16230600" cy="748504"/>
            <a:chOff x="0" y="0"/>
            <a:chExt cx="4274726" cy="197137"/>
          </a:xfrm>
        </p:grpSpPr>
        <p:sp>
          <p:nvSpPr>
            <p:cNvPr id="10" name="Freeform 10"/>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1" name="TextBox 11"/>
            <p:cNvSpPr txBox="1"/>
            <p:nvPr/>
          </p:nvSpPr>
          <p:spPr>
            <a:xfrm>
              <a:off x="0" y="38100"/>
              <a:ext cx="4274726" cy="159037"/>
            </a:xfrm>
            <a:prstGeom prst="rect">
              <a:avLst/>
            </a:prstGeom>
          </p:spPr>
          <p:txBody>
            <a:bodyPr lIns="50800" tIns="50800" rIns="50800" bIns="50800" rtlCol="0" anchor="ctr"/>
            <a:lstStyle/>
            <a:p>
              <a:pPr marL="0" lvl="0" indent="0" algn="ctr">
                <a:lnSpc>
                  <a:spcPts val="1619"/>
                </a:lnSpc>
              </a:pPr>
              <a:endParaRPr/>
            </a:p>
          </p:txBody>
        </p:sp>
      </p:grpSp>
      <p:grpSp>
        <p:nvGrpSpPr>
          <p:cNvPr id="12" name="Group 12"/>
          <p:cNvGrpSpPr/>
          <p:nvPr/>
        </p:nvGrpSpPr>
        <p:grpSpPr>
          <a:xfrm>
            <a:off x="10506379" y="2181625"/>
            <a:ext cx="6578198" cy="6782162"/>
            <a:chOff x="0" y="0"/>
            <a:chExt cx="1732529" cy="1786248"/>
          </a:xfrm>
        </p:grpSpPr>
        <p:sp>
          <p:nvSpPr>
            <p:cNvPr id="13" name="Freeform 13"/>
            <p:cNvSpPr/>
            <p:nvPr/>
          </p:nvSpPr>
          <p:spPr>
            <a:xfrm>
              <a:off x="0" y="0"/>
              <a:ext cx="1732529" cy="1786248"/>
            </a:xfrm>
            <a:custGeom>
              <a:avLst/>
              <a:gdLst/>
              <a:ahLst/>
              <a:cxnLst/>
              <a:rect l="l" t="t" r="r" b="b"/>
              <a:pathLst>
                <a:path w="1732529" h="1786248">
                  <a:moveTo>
                    <a:pt x="58845" y="0"/>
                  </a:moveTo>
                  <a:lnTo>
                    <a:pt x="1673684" y="0"/>
                  </a:lnTo>
                  <a:cubicBezTo>
                    <a:pt x="1689291" y="0"/>
                    <a:pt x="1704258" y="6200"/>
                    <a:pt x="1715294" y="17235"/>
                  </a:cubicBezTo>
                  <a:cubicBezTo>
                    <a:pt x="1726330" y="28271"/>
                    <a:pt x="1732529" y="43239"/>
                    <a:pt x="1732529" y="58845"/>
                  </a:cubicBezTo>
                  <a:lnTo>
                    <a:pt x="1732529" y="1727403"/>
                  </a:lnTo>
                  <a:cubicBezTo>
                    <a:pt x="1732529" y="1743010"/>
                    <a:pt x="1726330" y="1757977"/>
                    <a:pt x="1715294" y="1769013"/>
                  </a:cubicBezTo>
                  <a:cubicBezTo>
                    <a:pt x="1704258" y="1780049"/>
                    <a:pt x="1689291" y="1786248"/>
                    <a:pt x="1673684" y="1786248"/>
                  </a:cubicBezTo>
                  <a:lnTo>
                    <a:pt x="58845" y="1786248"/>
                  </a:lnTo>
                  <a:cubicBezTo>
                    <a:pt x="43239" y="1786248"/>
                    <a:pt x="28271" y="1780049"/>
                    <a:pt x="17235" y="1769013"/>
                  </a:cubicBezTo>
                  <a:cubicBezTo>
                    <a:pt x="6200" y="1757977"/>
                    <a:pt x="0" y="1743010"/>
                    <a:pt x="0" y="1727403"/>
                  </a:cubicBezTo>
                  <a:lnTo>
                    <a:pt x="0" y="58845"/>
                  </a:lnTo>
                  <a:cubicBezTo>
                    <a:pt x="0" y="43239"/>
                    <a:pt x="6200" y="28271"/>
                    <a:pt x="17235" y="17235"/>
                  </a:cubicBezTo>
                  <a:cubicBezTo>
                    <a:pt x="28271" y="6200"/>
                    <a:pt x="43239" y="0"/>
                    <a:pt x="58845"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4" name="TextBox 14"/>
            <p:cNvSpPr txBox="1"/>
            <p:nvPr/>
          </p:nvSpPr>
          <p:spPr>
            <a:xfrm>
              <a:off x="0" y="38100"/>
              <a:ext cx="1732529" cy="1748148"/>
            </a:xfrm>
            <a:prstGeom prst="rect">
              <a:avLst/>
            </a:prstGeom>
          </p:spPr>
          <p:txBody>
            <a:bodyPr lIns="50800" tIns="50800" rIns="50800" bIns="50800" rtlCol="0" anchor="ctr"/>
            <a:lstStyle/>
            <a:p>
              <a:pPr marL="0" lvl="0" indent="0" algn="ctr">
                <a:lnSpc>
                  <a:spcPts val="1619"/>
                </a:lnSpc>
              </a:pPr>
              <a:endParaRPr/>
            </a:p>
          </p:txBody>
        </p:sp>
      </p:grpSp>
      <p:grpSp>
        <p:nvGrpSpPr>
          <p:cNvPr id="15" name="Group 15"/>
          <p:cNvGrpSpPr/>
          <p:nvPr/>
        </p:nvGrpSpPr>
        <p:grpSpPr>
          <a:xfrm>
            <a:off x="10051244" y="2970030"/>
            <a:ext cx="1042967" cy="1042967"/>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4119"/>
            </a:soli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7" name="TextBox 17"/>
            <p:cNvSpPr txBox="1"/>
            <p:nvPr/>
          </p:nvSpPr>
          <p:spPr>
            <a:xfrm>
              <a:off x="76200" y="114300"/>
              <a:ext cx="660400" cy="622300"/>
            </a:xfrm>
            <a:prstGeom prst="rect">
              <a:avLst/>
            </a:prstGeom>
          </p:spPr>
          <p:txBody>
            <a:bodyPr lIns="50800" tIns="50800" rIns="50800" bIns="50800" rtlCol="0" anchor="ctr"/>
            <a:lstStyle/>
            <a:p>
              <a:pPr marL="0" lvl="0" indent="0" algn="ctr">
                <a:lnSpc>
                  <a:spcPts val="1619"/>
                </a:lnSpc>
                <a:spcBef>
                  <a:spcPct val="0"/>
                </a:spcBef>
              </a:pPr>
              <a:endParaRPr/>
            </a:p>
          </p:txBody>
        </p:sp>
      </p:grpSp>
      <p:grpSp>
        <p:nvGrpSpPr>
          <p:cNvPr id="18" name="Group 18"/>
          <p:cNvGrpSpPr/>
          <p:nvPr/>
        </p:nvGrpSpPr>
        <p:grpSpPr>
          <a:xfrm>
            <a:off x="10041633" y="5051222"/>
            <a:ext cx="1042967" cy="1042967"/>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4119"/>
            </a:soli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20" name="TextBox 20"/>
            <p:cNvSpPr txBox="1"/>
            <p:nvPr/>
          </p:nvSpPr>
          <p:spPr>
            <a:xfrm>
              <a:off x="76200" y="114300"/>
              <a:ext cx="660400" cy="622300"/>
            </a:xfrm>
            <a:prstGeom prst="rect">
              <a:avLst/>
            </a:prstGeom>
          </p:spPr>
          <p:txBody>
            <a:bodyPr lIns="50800" tIns="50800" rIns="50800" bIns="50800" rtlCol="0" anchor="ctr"/>
            <a:lstStyle/>
            <a:p>
              <a:pPr marL="0" lvl="0" indent="0" algn="ctr">
                <a:lnSpc>
                  <a:spcPts val="1619"/>
                </a:lnSpc>
                <a:spcBef>
                  <a:spcPct val="0"/>
                </a:spcBef>
              </a:pPr>
              <a:endParaRPr/>
            </a:p>
          </p:txBody>
        </p:sp>
      </p:grpSp>
      <p:grpSp>
        <p:nvGrpSpPr>
          <p:cNvPr id="21" name="Group 21"/>
          <p:cNvGrpSpPr/>
          <p:nvPr/>
        </p:nvGrpSpPr>
        <p:grpSpPr>
          <a:xfrm>
            <a:off x="11472051" y="2779252"/>
            <a:ext cx="1428887" cy="1424523"/>
            <a:chOff x="0" y="0"/>
            <a:chExt cx="399722" cy="398501"/>
          </a:xfrm>
        </p:grpSpPr>
        <p:sp>
          <p:nvSpPr>
            <p:cNvPr id="22" name="Freeform 22"/>
            <p:cNvSpPr/>
            <p:nvPr/>
          </p:nvSpPr>
          <p:spPr>
            <a:xfrm>
              <a:off x="0" y="0"/>
              <a:ext cx="399722" cy="398501"/>
            </a:xfrm>
            <a:custGeom>
              <a:avLst/>
              <a:gdLst/>
              <a:ahLst/>
              <a:cxnLst/>
              <a:rect l="l" t="t" r="r" b="b"/>
              <a:pathLst>
                <a:path w="399722" h="398501">
                  <a:moveTo>
                    <a:pt x="108363" y="0"/>
                  </a:moveTo>
                  <a:lnTo>
                    <a:pt x="291359" y="0"/>
                  </a:lnTo>
                  <a:cubicBezTo>
                    <a:pt x="320098" y="0"/>
                    <a:pt x="347661" y="11417"/>
                    <a:pt x="367983" y="31739"/>
                  </a:cubicBezTo>
                  <a:cubicBezTo>
                    <a:pt x="388305" y="52061"/>
                    <a:pt x="399722" y="79623"/>
                    <a:pt x="399722" y="108363"/>
                  </a:cubicBezTo>
                  <a:lnTo>
                    <a:pt x="399722" y="290138"/>
                  </a:lnTo>
                  <a:cubicBezTo>
                    <a:pt x="399722" y="349985"/>
                    <a:pt x="351206" y="398501"/>
                    <a:pt x="291359" y="398501"/>
                  </a:cubicBezTo>
                  <a:lnTo>
                    <a:pt x="108363" y="398501"/>
                  </a:lnTo>
                  <a:cubicBezTo>
                    <a:pt x="48516" y="398501"/>
                    <a:pt x="0" y="349985"/>
                    <a:pt x="0" y="290138"/>
                  </a:cubicBezTo>
                  <a:lnTo>
                    <a:pt x="0" y="108363"/>
                  </a:lnTo>
                  <a:cubicBezTo>
                    <a:pt x="0" y="48516"/>
                    <a:pt x="48516" y="0"/>
                    <a:pt x="108363" y="0"/>
                  </a:cubicBezTo>
                  <a:close/>
                </a:path>
              </a:pathLst>
            </a:custGeom>
            <a:blipFill>
              <a:blip r:embed="rId3"/>
              <a:stretch>
                <a:fillRect l="-34" r="-34"/>
              </a:stretch>
            </a:blipFill>
          </p:spPr>
          <p:txBody>
            <a:bodyPr/>
            <a:lstStyle/>
            <a:p>
              <a:endParaRPr lang="en-US"/>
            </a:p>
          </p:txBody>
        </p:sp>
      </p:grpSp>
      <p:grpSp>
        <p:nvGrpSpPr>
          <p:cNvPr id="23" name="Group 23"/>
          <p:cNvGrpSpPr/>
          <p:nvPr/>
        </p:nvGrpSpPr>
        <p:grpSpPr>
          <a:xfrm>
            <a:off x="1028700" y="2181625"/>
            <a:ext cx="4828867" cy="2041012"/>
            <a:chOff x="0" y="0"/>
            <a:chExt cx="942820" cy="398501"/>
          </a:xfrm>
        </p:grpSpPr>
        <p:sp>
          <p:nvSpPr>
            <p:cNvPr id="24" name="Freeform 24"/>
            <p:cNvSpPr/>
            <p:nvPr/>
          </p:nvSpPr>
          <p:spPr>
            <a:xfrm>
              <a:off x="0" y="0"/>
              <a:ext cx="942819" cy="398501"/>
            </a:xfrm>
            <a:custGeom>
              <a:avLst/>
              <a:gdLst/>
              <a:ahLst/>
              <a:cxnLst/>
              <a:rect l="l" t="t" r="r" b="b"/>
              <a:pathLst>
                <a:path w="942819" h="398501">
                  <a:moveTo>
                    <a:pt x="32065" y="0"/>
                  </a:moveTo>
                  <a:lnTo>
                    <a:pt x="910754" y="0"/>
                  </a:lnTo>
                  <a:cubicBezTo>
                    <a:pt x="928463" y="0"/>
                    <a:pt x="942819" y="14356"/>
                    <a:pt x="942819" y="32065"/>
                  </a:cubicBezTo>
                  <a:lnTo>
                    <a:pt x="942819" y="366435"/>
                  </a:lnTo>
                  <a:cubicBezTo>
                    <a:pt x="942819" y="384145"/>
                    <a:pt x="928463" y="398501"/>
                    <a:pt x="910754" y="398501"/>
                  </a:cubicBezTo>
                  <a:lnTo>
                    <a:pt x="32065" y="398501"/>
                  </a:lnTo>
                  <a:cubicBezTo>
                    <a:pt x="14356" y="398501"/>
                    <a:pt x="0" y="384145"/>
                    <a:pt x="0" y="366435"/>
                  </a:cubicBezTo>
                  <a:lnTo>
                    <a:pt x="0" y="32065"/>
                  </a:lnTo>
                  <a:cubicBezTo>
                    <a:pt x="0" y="14356"/>
                    <a:pt x="14356" y="0"/>
                    <a:pt x="32065" y="0"/>
                  </a:cubicBezTo>
                  <a:close/>
                </a:path>
              </a:pathLst>
            </a:custGeom>
            <a:blipFill>
              <a:blip r:embed="rId4"/>
              <a:stretch>
                <a:fillRect l="-168" r="-168"/>
              </a:stretch>
            </a:blipFill>
          </p:spPr>
          <p:txBody>
            <a:bodyPr/>
            <a:lstStyle/>
            <a:p>
              <a:endParaRPr lang="en-US"/>
            </a:p>
          </p:txBody>
        </p:sp>
      </p:grpSp>
      <p:grpSp>
        <p:nvGrpSpPr>
          <p:cNvPr id="25" name="Group 25"/>
          <p:cNvGrpSpPr/>
          <p:nvPr/>
        </p:nvGrpSpPr>
        <p:grpSpPr>
          <a:xfrm>
            <a:off x="6075187" y="2181625"/>
            <a:ext cx="2732652" cy="2041012"/>
            <a:chOff x="0" y="0"/>
            <a:chExt cx="533541" cy="398501"/>
          </a:xfrm>
        </p:grpSpPr>
        <p:sp>
          <p:nvSpPr>
            <p:cNvPr id="26" name="Freeform 26"/>
            <p:cNvSpPr/>
            <p:nvPr/>
          </p:nvSpPr>
          <p:spPr>
            <a:xfrm>
              <a:off x="0" y="0"/>
              <a:ext cx="533541" cy="398501"/>
            </a:xfrm>
            <a:custGeom>
              <a:avLst/>
              <a:gdLst/>
              <a:ahLst/>
              <a:cxnLst/>
              <a:rect l="l" t="t" r="r" b="b"/>
              <a:pathLst>
                <a:path w="533541" h="398501">
                  <a:moveTo>
                    <a:pt x="56662" y="0"/>
                  </a:moveTo>
                  <a:lnTo>
                    <a:pt x="476878" y="0"/>
                  </a:lnTo>
                  <a:cubicBezTo>
                    <a:pt x="508172" y="0"/>
                    <a:pt x="533541" y="25369"/>
                    <a:pt x="533541" y="56662"/>
                  </a:cubicBezTo>
                  <a:lnTo>
                    <a:pt x="533541" y="341838"/>
                  </a:lnTo>
                  <a:cubicBezTo>
                    <a:pt x="533541" y="356866"/>
                    <a:pt x="527571" y="371278"/>
                    <a:pt x="516945" y="381905"/>
                  </a:cubicBezTo>
                  <a:cubicBezTo>
                    <a:pt x="506319" y="392531"/>
                    <a:pt x="491906" y="398501"/>
                    <a:pt x="476878" y="398501"/>
                  </a:cubicBezTo>
                  <a:lnTo>
                    <a:pt x="56662" y="398501"/>
                  </a:lnTo>
                  <a:cubicBezTo>
                    <a:pt x="41635" y="398501"/>
                    <a:pt x="27222" y="392531"/>
                    <a:pt x="16596" y="381905"/>
                  </a:cubicBezTo>
                  <a:cubicBezTo>
                    <a:pt x="5970" y="371278"/>
                    <a:pt x="0" y="356866"/>
                    <a:pt x="0" y="341838"/>
                  </a:cubicBezTo>
                  <a:lnTo>
                    <a:pt x="0" y="56662"/>
                  </a:lnTo>
                  <a:cubicBezTo>
                    <a:pt x="0" y="41635"/>
                    <a:pt x="5970" y="27222"/>
                    <a:pt x="16596" y="16596"/>
                  </a:cubicBezTo>
                  <a:cubicBezTo>
                    <a:pt x="27222" y="5970"/>
                    <a:pt x="41635" y="0"/>
                    <a:pt x="56662" y="0"/>
                  </a:cubicBezTo>
                  <a:close/>
                </a:path>
              </a:pathLst>
            </a:custGeom>
            <a:blipFill>
              <a:blip r:embed="rId5"/>
              <a:stretch>
                <a:fillRect l="-43" r="-43"/>
              </a:stretch>
            </a:blipFill>
          </p:spPr>
          <p:txBody>
            <a:bodyPr/>
            <a:lstStyle/>
            <a:p>
              <a:endParaRPr lang="en-US"/>
            </a:p>
          </p:txBody>
        </p:sp>
      </p:grpSp>
      <p:grpSp>
        <p:nvGrpSpPr>
          <p:cNvPr id="27" name="Group 27"/>
          <p:cNvGrpSpPr/>
          <p:nvPr/>
        </p:nvGrpSpPr>
        <p:grpSpPr>
          <a:xfrm>
            <a:off x="11462441" y="4860445"/>
            <a:ext cx="1428887" cy="1424523"/>
            <a:chOff x="0" y="0"/>
            <a:chExt cx="399722" cy="398501"/>
          </a:xfrm>
        </p:grpSpPr>
        <p:sp>
          <p:nvSpPr>
            <p:cNvPr id="28" name="Freeform 28"/>
            <p:cNvSpPr/>
            <p:nvPr/>
          </p:nvSpPr>
          <p:spPr>
            <a:xfrm>
              <a:off x="0" y="0"/>
              <a:ext cx="399722" cy="398501"/>
            </a:xfrm>
            <a:custGeom>
              <a:avLst/>
              <a:gdLst/>
              <a:ahLst/>
              <a:cxnLst/>
              <a:rect l="l" t="t" r="r" b="b"/>
              <a:pathLst>
                <a:path w="399722" h="398501">
                  <a:moveTo>
                    <a:pt x="108363" y="0"/>
                  </a:moveTo>
                  <a:lnTo>
                    <a:pt x="291359" y="0"/>
                  </a:lnTo>
                  <a:cubicBezTo>
                    <a:pt x="320098" y="0"/>
                    <a:pt x="347661" y="11417"/>
                    <a:pt x="367983" y="31739"/>
                  </a:cubicBezTo>
                  <a:cubicBezTo>
                    <a:pt x="388305" y="52061"/>
                    <a:pt x="399722" y="79623"/>
                    <a:pt x="399722" y="108363"/>
                  </a:cubicBezTo>
                  <a:lnTo>
                    <a:pt x="399722" y="290138"/>
                  </a:lnTo>
                  <a:cubicBezTo>
                    <a:pt x="399722" y="349985"/>
                    <a:pt x="351206" y="398501"/>
                    <a:pt x="291359" y="398501"/>
                  </a:cubicBezTo>
                  <a:lnTo>
                    <a:pt x="108363" y="398501"/>
                  </a:lnTo>
                  <a:cubicBezTo>
                    <a:pt x="48516" y="398501"/>
                    <a:pt x="0" y="349985"/>
                    <a:pt x="0" y="290138"/>
                  </a:cubicBezTo>
                  <a:lnTo>
                    <a:pt x="0" y="108363"/>
                  </a:lnTo>
                  <a:cubicBezTo>
                    <a:pt x="0" y="48516"/>
                    <a:pt x="48516" y="0"/>
                    <a:pt x="108363" y="0"/>
                  </a:cubicBezTo>
                  <a:close/>
                </a:path>
              </a:pathLst>
            </a:custGeom>
            <a:blipFill>
              <a:blip r:embed="rId6"/>
              <a:stretch>
                <a:fillRect l="-34" r="-34"/>
              </a:stretch>
            </a:blipFill>
          </p:spPr>
          <p:txBody>
            <a:bodyPr/>
            <a:lstStyle/>
            <a:p>
              <a:endParaRPr lang="en-US"/>
            </a:p>
          </p:txBody>
        </p:sp>
      </p:grpSp>
      <p:grpSp>
        <p:nvGrpSpPr>
          <p:cNvPr id="29" name="Group 29"/>
          <p:cNvGrpSpPr/>
          <p:nvPr/>
        </p:nvGrpSpPr>
        <p:grpSpPr>
          <a:xfrm>
            <a:off x="10032023" y="7132415"/>
            <a:ext cx="1042967" cy="1042967"/>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4119"/>
            </a:soli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31" name="TextBox 31"/>
            <p:cNvSpPr txBox="1"/>
            <p:nvPr/>
          </p:nvSpPr>
          <p:spPr>
            <a:xfrm>
              <a:off x="76200" y="114300"/>
              <a:ext cx="660400" cy="622300"/>
            </a:xfrm>
            <a:prstGeom prst="rect">
              <a:avLst/>
            </a:prstGeom>
          </p:spPr>
          <p:txBody>
            <a:bodyPr lIns="50800" tIns="50800" rIns="50800" bIns="50800" rtlCol="0" anchor="ctr"/>
            <a:lstStyle/>
            <a:p>
              <a:pPr marL="0" lvl="0" indent="0" algn="ctr">
                <a:lnSpc>
                  <a:spcPts val="1619"/>
                </a:lnSpc>
                <a:spcBef>
                  <a:spcPct val="0"/>
                </a:spcBef>
              </a:pPr>
              <a:endParaRPr/>
            </a:p>
          </p:txBody>
        </p:sp>
      </p:grpSp>
      <p:grpSp>
        <p:nvGrpSpPr>
          <p:cNvPr id="32" name="Group 32"/>
          <p:cNvGrpSpPr/>
          <p:nvPr/>
        </p:nvGrpSpPr>
        <p:grpSpPr>
          <a:xfrm>
            <a:off x="11452830" y="6941637"/>
            <a:ext cx="1428887" cy="1424523"/>
            <a:chOff x="0" y="0"/>
            <a:chExt cx="399722" cy="398501"/>
          </a:xfrm>
        </p:grpSpPr>
        <p:sp>
          <p:nvSpPr>
            <p:cNvPr id="33" name="Freeform 33"/>
            <p:cNvSpPr/>
            <p:nvPr/>
          </p:nvSpPr>
          <p:spPr>
            <a:xfrm>
              <a:off x="0" y="0"/>
              <a:ext cx="399722" cy="398501"/>
            </a:xfrm>
            <a:custGeom>
              <a:avLst/>
              <a:gdLst/>
              <a:ahLst/>
              <a:cxnLst/>
              <a:rect l="l" t="t" r="r" b="b"/>
              <a:pathLst>
                <a:path w="399722" h="398501">
                  <a:moveTo>
                    <a:pt x="108363" y="0"/>
                  </a:moveTo>
                  <a:lnTo>
                    <a:pt x="291359" y="0"/>
                  </a:lnTo>
                  <a:cubicBezTo>
                    <a:pt x="320098" y="0"/>
                    <a:pt x="347661" y="11417"/>
                    <a:pt x="367983" y="31739"/>
                  </a:cubicBezTo>
                  <a:cubicBezTo>
                    <a:pt x="388305" y="52061"/>
                    <a:pt x="399722" y="79623"/>
                    <a:pt x="399722" y="108363"/>
                  </a:cubicBezTo>
                  <a:lnTo>
                    <a:pt x="399722" y="290138"/>
                  </a:lnTo>
                  <a:cubicBezTo>
                    <a:pt x="399722" y="349985"/>
                    <a:pt x="351206" y="398501"/>
                    <a:pt x="291359" y="398501"/>
                  </a:cubicBezTo>
                  <a:lnTo>
                    <a:pt x="108363" y="398501"/>
                  </a:lnTo>
                  <a:cubicBezTo>
                    <a:pt x="48516" y="398501"/>
                    <a:pt x="0" y="349985"/>
                    <a:pt x="0" y="290138"/>
                  </a:cubicBezTo>
                  <a:lnTo>
                    <a:pt x="0" y="108363"/>
                  </a:lnTo>
                  <a:cubicBezTo>
                    <a:pt x="0" y="48516"/>
                    <a:pt x="48516" y="0"/>
                    <a:pt x="108363" y="0"/>
                  </a:cubicBezTo>
                  <a:close/>
                </a:path>
              </a:pathLst>
            </a:custGeom>
            <a:blipFill>
              <a:blip r:embed="rId7"/>
              <a:stretch>
                <a:fillRect l="-34" r="-34"/>
              </a:stretch>
            </a:blipFill>
          </p:spPr>
          <p:txBody>
            <a:bodyPr/>
            <a:lstStyle/>
            <a:p>
              <a:endParaRPr lang="en-US"/>
            </a:p>
          </p:txBody>
        </p:sp>
      </p:grpSp>
      <p:sp>
        <p:nvSpPr>
          <p:cNvPr id="34" name="TextBox 34"/>
          <p:cNvSpPr txBox="1"/>
          <p:nvPr/>
        </p:nvSpPr>
        <p:spPr>
          <a:xfrm>
            <a:off x="1157857"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Background of the study</a:t>
            </a:r>
          </a:p>
        </p:txBody>
      </p:sp>
      <p:sp>
        <p:nvSpPr>
          <p:cNvPr id="35" name="TextBox 35"/>
          <p:cNvSpPr txBox="1"/>
          <p:nvPr/>
        </p:nvSpPr>
        <p:spPr>
          <a:xfrm>
            <a:off x="3358755"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Problem Statement</a:t>
            </a:r>
          </a:p>
        </p:txBody>
      </p:sp>
      <p:sp>
        <p:nvSpPr>
          <p:cNvPr id="36" name="TextBox 36"/>
          <p:cNvSpPr txBox="1"/>
          <p:nvPr/>
        </p:nvSpPr>
        <p:spPr>
          <a:xfrm>
            <a:off x="5108285"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Framework</a:t>
            </a:r>
          </a:p>
        </p:txBody>
      </p:sp>
      <p:sp>
        <p:nvSpPr>
          <p:cNvPr id="37" name="TextBox 37"/>
          <p:cNvSpPr txBox="1"/>
          <p:nvPr/>
        </p:nvSpPr>
        <p:spPr>
          <a:xfrm>
            <a:off x="6552810"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Methodology</a:t>
            </a:r>
          </a:p>
        </p:txBody>
      </p:sp>
      <p:sp>
        <p:nvSpPr>
          <p:cNvPr id="38" name="TextBox 38"/>
          <p:cNvSpPr txBox="1"/>
          <p:nvPr/>
        </p:nvSpPr>
        <p:spPr>
          <a:xfrm>
            <a:off x="14585765" y="904812"/>
            <a:ext cx="2498812" cy="502049"/>
          </a:xfrm>
          <a:prstGeom prst="rect">
            <a:avLst/>
          </a:prstGeom>
        </p:spPr>
        <p:txBody>
          <a:bodyPr lIns="0" tIns="0" rIns="0" bIns="0" rtlCol="0" anchor="t">
            <a:spAutoFit/>
          </a:bodyPr>
          <a:lstStyle/>
          <a:p>
            <a:pPr marL="0" lvl="0" indent="0" algn="r">
              <a:lnSpc>
                <a:spcPts val="2098"/>
              </a:lnSpc>
            </a:pPr>
            <a:r>
              <a:rPr lang="en-US" sz="1542" b="1" spc="-38">
                <a:solidFill>
                  <a:srgbClr val="FFFFFF"/>
                </a:solidFill>
                <a:latin typeface="Canva Sans Bold"/>
                <a:ea typeface="Canva Sans Bold"/>
                <a:cs typeface="Canva Sans Bold"/>
                <a:sym typeface="Canva Sans Bold"/>
              </a:rPr>
              <a:t>Hanoi University of Science and Technology</a:t>
            </a:r>
          </a:p>
        </p:txBody>
      </p:sp>
      <p:sp>
        <p:nvSpPr>
          <p:cNvPr id="39" name="TextBox 39"/>
          <p:cNvSpPr txBox="1"/>
          <p:nvPr/>
        </p:nvSpPr>
        <p:spPr>
          <a:xfrm>
            <a:off x="1157857" y="4952013"/>
            <a:ext cx="8131215" cy="2197708"/>
          </a:xfrm>
          <a:prstGeom prst="rect">
            <a:avLst/>
          </a:prstGeom>
        </p:spPr>
        <p:txBody>
          <a:bodyPr lIns="0" tIns="0" rIns="0" bIns="0" rtlCol="0" anchor="t">
            <a:spAutoFit/>
          </a:bodyPr>
          <a:lstStyle/>
          <a:p>
            <a:pPr marL="0" lvl="0" indent="0" algn="l">
              <a:lnSpc>
                <a:spcPts val="8325"/>
              </a:lnSpc>
              <a:spcBef>
                <a:spcPct val="0"/>
              </a:spcBef>
            </a:pPr>
            <a:r>
              <a:rPr lang="en-US" sz="9250" b="1" spc="-370">
                <a:solidFill>
                  <a:srgbClr val="FFFFFF"/>
                </a:solidFill>
                <a:latin typeface="Pragmatica Bold"/>
                <a:ea typeface="Pragmatica Bold"/>
                <a:cs typeface="Pragmatica Bold"/>
                <a:sym typeface="Pragmatica Bold"/>
              </a:rPr>
              <a:t>Summary &amp;</a:t>
            </a:r>
          </a:p>
          <a:p>
            <a:pPr marL="0" lvl="0" indent="0" algn="l">
              <a:lnSpc>
                <a:spcPts val="8325"/>
              </a:lnSpc>
              <a:spcBef>
                <a:spcPct val="0"/>
              </a:spcBef>
            </a:pPr>
            <a:r>
              <a:rPr lang="en-US" sz="9250" b="1" spc="-370">
                <a:solidFill>
                  <a:srgbClr val="FFFFFF"/>
                </a:solidFill>
                <a:latin typeface="Pragmatica Bold"/>
                <a:ea typeface="Pragmatica Bold"/>
                <a:cs typeface="Pragmatica Bold"/>
                <a:sym typeface="Pragmatica Bold"/>
              </a:rPr>
              <a:t>Conclusions</a:t>
            </a:r>
          </a:p>
        </p:txBody>
      </p:sp>
      <p:sp>
        <p:nvSpPr>
          <p:cNvPr id="40" name="TextBox 40"/>
          <p:cNvSpPr txBox="1"/>
          <p:nvPr/>
        </p:nvSpPr>
        <p:spPr>
          <a:xfrm>
            <a:off x="1157857" y="7440427"/>
            <a:ext cx="5394953" cy="1134183"/>
          </a:xfrm>
          <a:prstGeom prst="rect">
            <a:avLst/>
          </a:prstGeom>
        </p:spPr>
        <p:txBody>
          <a:bodyPr lIns="0" tIns="0" rIns="0" bIns="0" rtlCol="0" anchor="t">
            <a:spAutoFit/>
          </a:bodyPr>
          <a:lstStyle/>
          <a:p>
            <a:pPr marL="0" lvl="0" indent="0" algn="l">
              <a:lnSpc>
                <a:spcPts val="1865"/>
              </a:lnSpc>
            </a:pPr>
            <a:r>
              <a:rPr lang="en-US" sz="1371" spc="-34">
                <a:solidFill>
                  <a:srgbClr val="FFFFFF"/>
                </a:solidFill>
                <a:latin typeface="Canva Sans"/>
                <a:ea typeface="Canva Sans"/>
                <a:cs typeface="Canva Sans"/>
                <a:sym typeface="Canva Sans"/>
              </a:rPr>
              <a:t>The AI Co-Scientist turns each electrode sample into a learnable recipe. It integrates fabrication conditions, SEM morphology, EDX composition, and electrochemical performance into one dataset, predicts retention_100, recommends top next recipes, and keeps the final decision with the researcher.</a:t>
            </a:r>
          </a:p>
        </p:txBody>
      </p:sp>
      <p:sp>
        <p:nvSpPr>
          <p:cNvPr id="41" name="TextBox 41"/>
          <p:cNvSpPr txBox="1"/>
          <p:nvPr/>
        </p:nvSpPr>
        <p:spPr>
          <a:xfrm>
            <a:off x="10051244" y="3345643"/>
            <a:ext cx="1042967" cy="386901"/>
          </a:xfrm>
          <a:prstGeom prst="rect">
            <a:avLst/>
          </a:prstGeom>
        </p:spPr>
        <p:txBody>
          <a:bodyPr lIns="0" tIns="0" rIns="0" bIns="0" rtlCol="0" anchor="t">
            <a:spAutoFit/>
          </a:bodyPr>
          <a:lstStyle/>
          <a:p>
            <a:pPr marL="0" lvl="0" indent="0" algn="ctr">
              <a:lnSpc>
                <a:spcPts val="2794"/>
              </a:lnSpc>
            </a:pPr>
            <a:r>
              <a:rPr lang="en-US" sz="3175" b="1" spc="-158">
                <a:solidFill>
                  <a:srgbClr val="FFFFFF"/>
                </a:solidFill>
                <a:latin typeface="Pragmatica Bold"/>
                <a:ea typeface="Pragmatica Bold"/>
                <a:cs typeface="Pragmatica Bold"/>
                <a:sym typeface="Pragmatica Bold"/>
              </a:rPr>
              <a:t>01</a:t>
            </a:r>
          </a:p>
        </p:txBody>
      </p:sp>
      <p:sp>
        <p:nvSpPr>
          <p:cNvPr id="42" name="TextBox 42"/>
          <p:cNvSpPr txBox="1"/>
          <p:nvPr/>
        </p:nvSpPr>
        <p:spPr>
          <a:xfrm>
            <a:off x="10041633" y="5426835"/>
            <a:ext cx="1042967" cy="386901"/>
          </a:xfrm>
          <a:prstGeom prst="rect">
            <a:avLst/>
          </a:prstGeom>
        </p:spPr>
        <p:txBody>
          <a:bodyPr lIns="0" tIns="0" rIns="0" bIns="0" rtlCol="0" anchor="t">
            <a:spAutoFit/>
          </a:bodyPr>
          <a:lstStyle/>
          <a:p>
            <a:pPr marL="0" lvl="0" indent="0" algn="ctr">
              <a:lnSpc>
                <a:spcPts val="2794"/>
              </a:lnSpc>
            </a:pPr>
            <a:r>
              <a:rPr lang="en-US" sz="3175" b="1" spc="-158">
                <a:solidFill>
                  <a:srgbClr val="FFFFFF"/>
                </a:solidFill>
                <a:latin typeface="Pragmatica Bold"/>
                <a:ea typeface="Pragmatica Bold"/>
                <a:cs typeface="Pragmatica Bold"/>
                <a:sym typeface="Pragmatica Bold"/>
              </a:rPr>
              <a:t>02</a:t>
            </a:r>
          </a:p>
        </p:txBody>
      </p:sp>
      <p:sp>
        <p:nvSpPr>
          <p:cNvPr id="43" name="TextBox 43"/>
          <p:cNvSpPr txBox="1"/>
          <p:nvPr/>
        </p:nvSpPr>
        <p:spPr>
          <a:xfrm>
            <a:off x="13281939" y="3620508"/>
            <a:ext cx="3802638" cy="448383"/>
          </a:xfrm>
          <a:prstGeom prst="rect">
            <a:avLst/>
          </a:prstGeom>
        </p:spPr>
        <p:txBody>
          <a:bodyPr lIns="0" tIns="0" rIns="0" bIns="0" rtlCol="0" anchor="t">
            <a:spAutoFit/>
          </a:bodyPr>
          <a:lstStyle/>
          <a:p>
            <a:pPr marL="0" lvl="0" indent="0" algn="l">
              <a:lnSpc>
                <a:spcPts val="1865"/>
              </a:lnSpc>
            </a:pPr>
            <a:r>
              <a:rPr lang="en-US" sz="1371" spc="-34">
                <a:solidFill>
                  <a:srgbClr val="FFFFFF"/>
                </a:solidFill>
                <a:latin typeface="Canva Sans"/>
                <a:ea typeface="Canva Sans"/>
                <a:cs typeface="Canva Sans"/>
                <a:sym typeface="Canva Sans"/>
              </a:rPr>
              <a:t>≥1450 mAh/g capacity, 80% retention after 500 cycles</a:t>
            </a:r>
          </a:p>
        </p:txBody>
      </p:sp>
      <p:sp>
        <p:nvSpPr>
          <p:cNvPr id="44" name="TextBox 44"/>
          <p:cNvSpPr txBox="1"/>
          <p:nvPr/>
        </p:nvSpPr>
        <p:spPr>
          <a:xfrm>
            <a:off x="13272328" y="5701700"/>
            <a:ext cx="3802638" cy="448383"/>
          </a:xfrm>
          <a:prstGeom prst="rect">
            <a:avLst/>
          </a:prstGeom>
        </p:spPr>
        <p:txBody>
          <a:bodyPr lIns="0" tIns="0" rIns="0" bIns="0" rtlCol="0" anchor="t">
            <a:spAutoFit/>
          </a:bodyPr>
          <a:lstStyle/>
          <a:p>
            <a:pPr marL="0" lvl="0" indent="0" algn="l">
              <a:lnSpc>
                <a:spcPts val="1865"/>
              </a:lnSpc>
            </a:pPr>
            <a:r>
              <a:rPr lang="en-US" sz="1371" spc="-34">
                <a:solidFill>
                  <a:srgbClr val="FFFFFF"/>
                </a:solidFill>
                <a:latin typeface="Canva Sans"/>
                <a:ea typeface="Canva Sans"/>
                <a:cs typeface="Canva Sans"/>
                <a:sym typeface="Canva Sans"/>
              </a:rPr>
              <a:t>Top-3 next recipes ranked by predicted retention and uncertainty</a:t>
            </a:r>
          </a:p>
        </p:txBody>
      </p:sp>
      <p:sp>
        <p:nvSpPr>
          <p:cNvPr id="45" name="TextBox 45"/>
          <p:cNvSpPr txBox="1"/>
          <p:nvPr/>
        </p:nvSpPr>
        <p:spPr>
          <a:xfrm>
            <a:off x="13281939" y="3185482"/>
            <a:ext cx="3793028" cy="305487"/>
          </a:xfrm>
          <a:prstGeom prst="rect">
            <a:avLst/>
          </a:prstGeom>
        </p:spPr>
        <p:txBody>
          <a:bodyPr lIns="0" tIns="0" rIns="0" bIns="0" rtlCol="0" anchor="t">
            <a:spAutoFit/>
          </a:bodyPr>
          <a:lstStyle/>
          <a:p>
            <a:pPr marL="0" lvl="0" indent="0" algn="l">
              <a:lnSpc>
                <a:spcPts val="2283"/>
              </a:lnSpc>
            </a:pPr>
            <a:r>
              <a:rPr lang="en-US" sz="2595" b="1" spc="-129">
                <a:solidFill>
                  <a:srgbClr val="FFFFFF"/>
                </a:solidFill>
                <a:latin typeface="Pragmatica Bold"/>
                <a:ea typeface="Pragmatica Bold"/>
                <a:cs typeface="Pragmatica Bold"/>
                <a:sym typeface="Pragmatica Bold"/>
              </a:rPr>
              <a:t>High-Capacity Anodes</a:t>
            </a:r>
          </a:p>
        </p:txBody>
      </p:sp>
      <p:sp>
        <p:nvSpPr>
          <p:cNvPr id="46" name="TextBox 46"/>
          <p:cNvSpPr txBox="1"/>
          <p:nvPr/>
        </p:nvSpPr>
        <p:spPr>
          <a:xfrm>
            <a:off x="13272328" y="5266674"/>
            <a:ext cx="3793028" cy="305487"/>
          </a:xfrm>
          <a:prstGeom prst="rect">
            <a:avLst/>
          </a:prstGeom>
        </p:spPr>
        <p:txBody>
          <a:bodyPr lIns="0" tIns="0" rIns="0" bIns="0" rtlCol="0" anchor="t">
            <a:spAutoFit/>
          </a:bodyPr>
          <a:lstStyle/>
          <a:p>
            <a:pPr marL="0" lvl="0" indent="0" algn="l">
              <a:lnSpc>
                <a:spcPts val="2283"/>
              </a:lnSpc>
            </a:pPr>
            <a:r>
              <a:rPr lang="en-US" sz="2595" b="1" spc="-129">
                <a:solidFill>
                  <a:srgbClr val="FFFFFF"/>
                </a:solidFill>
                <a:latin typeface="Pragmatica Bold"/>
                <a:ea typeface="Pragmatica Bold"/>
                <a:cs typeface="Pragmatica Bold"/>
                <a:sym typeface="Pragmatica Bold"/>
              </a:rPr>
              <a:t>AI Co-Scientist MVP</a:t>
            </a:r>
          </a:p>
        </p:txBody>
      </p:sp>
      <p:sp>
        <p:nvSpPr>
          <p:cNvPr id="47" name="TextBox 47"/>
          <p:cNvSpPr txBox="1"/>
          <p:nvPr/>
        </p:nvSpPr>
        <p:spPr>
          <a:xfrm>
            <a:off x="10032023" y="7508027"/>
            <a:ext cx="1042967" cy="386901"/>
          </a:xfrm>
          <a:prstGeom prst="rect">
            <a:avLst/>
          </a:prstGeom>
        </p:spPr>
        <p:txBody>
          <a:bodyPr lIns="0" tIns="0" rIns="0" bIns="0" rtlCol="0" anchor="t">
            <a:spAutoFit/>
          </a:bodyPr>
          <a:lstStyle/>
          <a:p>
            <a:pPr marL="0" lvl="0" indent="0" algn="ctr">
              <a:lnSpc>
                <a:spcPts val="2794"/>
              </a:lnSpc>
            </a:pPr>
            <a:r>
              <a:rPr lang="en-US" sz="3175" b="1" spc="-158">
                <a:solidFill>
                  <a:srgbClr val="FFFFFF"/>
                </a:solidFill>
                <a:latin typeface="Pragmatica Bold"/>
                <a:ea typeface="Pragmatica Bold"/>
                <a:cs typeface="Pragmatica Bold"/>
                <a:sym typeface="Pragmatica Bold"/>
              </a:rPr>
              <a:t>03</a:t>
            </a:r>
          </a:p>
        </p:txBody>
      </p:sp>
      <p:sp>
        <p:nvSpPr>
          <p:cNvPr id="48" name="TextBox 48"/>
          <p:cNvSpPr txBox="1"/>
          <p:nvPr/>
        </p:nvSpPr>
        <p:spPr>
          <a:xfrm>
            <a:off x="13262717" y="7782892"/>
            <a:ext cx="3802638" cy="448383"/>
          </a:xfrm>
          <a:prstGeom prst="rect">
            <a:avLst/>
          </a:prstGeom>
        </p:spPr>
        <p:txBody>
          <a:bodyPr lIns="0" tIns="0" rIns="0" bIns="0" rtlCol="0" anchor="t">
            <a:spAutoFit/>
          </a:bodyPr>
          <a:lstStyle/>
          <a:p>
            <a:pPr marL="0" lvl="0" indent="0" algn="l">
              <a:lnSpc>
                <a:spcPts val="1865"/>
              </a:lnSpc>
            </a:pPr>
            <a:r>
              <a:rPr lang="en-US" sz="1371" spc="-34">
                <a:solidFill>
                  <a:srgbClr val="FFFFFF"/>
                </a:solidFill>
                <a:latin typeface="Canva Sans"/>
                <a:ea typeface="Canva Sans"/>
                <a:cs typeface="Canva Sans"/>
                <a:sym typeface="Canva Sans"/>
              </a:rPr>
              <a:t>35.3% profit margin, $55–75/kg competitive pricing</a:t>
            </a:r>
          </a:p>
        </p:txBody>
      </p:sp>
      <p:sp>
        <p:nvSpPr>
          <p:cNvPr id="49" name="TextBox 49"/>
          <p:cNvSpPr txBox="1"/>
          <p:nvPr/>
        </p:nvSpPr>
        <p:spPr>
          <a:xfrm>
            <a:off x="13262717" y="7347866"/>
            <a:ext cx="3793028" cy="305487"/>
          </a:xfrm>
          <a:prstGeom prst="rect">
            <a:avLst/>
          </a:prstGeom>
        </p:spPr>
        <p:txBody>
          <a:bodyPr lIns="0" tIns="0" rIns="0" bIns="0" rtlCol="0" anchor="t">
            <a:spAutoFit/>
          </a:bodyPr>
          <a:lstStyle/>
          <a:p>
            <a:pPr marL="0" lvl="0" indent="0" algn="l">
              <a:lnSpc>
                <a:spcPts val="2283"/>
              </a:lnSpc>
            </a:pPr>
            <a:r>
              <a:rPr lang="en-US" sz="2595" b="1" spc="-129">
                <a:solidFill>
                  <a:srgbClr val="FFFFFF"/>
                </a:solidFill>
                <a:latin typeface="Pragmatica Bold"/>
                <a:ea typeface="Pragmatica Bold"/>
                <a:cs typeface="Pragmatica Bold"/>
                <a:sym typeface="Pragmatica Bold"/>
              </a:rPr>
              <a:t>Commercialization Ready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AutoShape 3"/>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4" name="AutoShape 4"/>
          <p:cNvSpPr/>
          <p:nvPr/>
        </p:nvSpPr>
        <p:spPr>
          <a:xfrm>
            <a:off x="6075187"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AutoShape 7"/>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8" name="AutoShape 8"/>
          <p:cNvSpPr/>
          <p:nvPr/>
        </p:nvSpPr>
        <p:spPr>
          <a:xfrm>
            <a:off x="-417053" y="5579695"/>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grpSp>
        <p:nvGrpSpPr>
          <p:cNvPr id="9" name="Group 9"/>
          <p:cNvGrpSpPr/>
          <p:nvPr/>
        </p:nvGrpSpPr>
        <p:grpSpPr>
          <a:xfrm>
            <a:off x="1028700" y="654448"/>
            <a:ext cx="16230600" cy="748504"/>
            <a:chOff x="0" y="0"/>
            <a:chExt cx="4274726" cy="197137"/>
          </a:xfrm>
        </p:grpSpPr>
        <p:sp>
          <p:nvSpPr>
            <p:cNvPr id="10" name="Freeform 10"/>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1" name="TextBox 11"/>
            <p:cNvSpPr txBox="1"/>
            <p:nvPr/>
          </p:nvSpPr>
          <p:spPr>
            <a:xfrm>
              <a:off x="0" y="38100"/>
              <a:ext cx="4274726" cy="159037"/>
            </a:xfrm>
            <a:prstGeom prst="rect">
              <a:avLst/>
            </a:prstGeom>
          </p:spPr>
          <p:txBody>
            <a:bodyPr lIns="50800" tIns="50800" rIns="50800" bIns="50800" rtlCol="0" anchor="ctr"/>
            <a:lstStyle/>
            <a:p>
              <a:pPr marL="0" lvl="0" indent="0" algn="ctr">
                <a:lnSpc>
                  <a:spcPts val="1619"/>
                </a:lnSpc>
              </a:pPr>
              <a:endParaRPr/>
            </a:p>
          </p:txBody>
        </p:sp>
      </p:grpSp>
      <p:grpSp>
        <p:nvGrpSpPr>
          <p:cNvPr id="12" name="Group 12"/>
          <p:cNvGrpSpPr/>
          <p:nvPr/>
        </p:nvGrpSpPr>
        <p:grpSpPr>
          <a:xfrm>
            <a:off x="1157857" y="6965313"/>
            <a:ext cx="7730034" cy="2292987"/>
            <a:chOff x="0" y="0"/>
            <a:chExt cx="2035894" cy="603914"/>
          </a:xfrm>
        </p:grpSpPr>
        <p:sp>
          <p:nvSpPr>
            <p:cNvPr id="13" name="Freeform 13"/>
            <p:cNvSpPr/>
            <p:nvPr/>
          </p:nvSpPr>
          <p:spPr>
            <a:xfrm>
              <a:off x="0" y="0"/>
              <a:ext cx="2035894" cy="603914"/>
            </a:xfrm>
            <a:custGeom>
              <a:avLst/>
              <a:gdLst/>
              <a:ahLst/>
              <a:cxnLst/>
              <a:rect l="l" t="t" r="r" b="b"/>
              <a:pathLst>
                <a:path w="2035894" h="603914">
                  <a:moveTo>
                    <a:pt x="32049" y="0"/>
                  </a:moveTo>
                  <a:lnTo>
                    <a:pt x="2003845" y="0"/>
                  </a:lnTo>
                  <a:cubicBezTo>
                    <a:pt x="2012345" y="0"/>
                    <a:pt x="2020496" y="3377"/>
                    <a:pt x="2026507" y="9387"/>
                  </a:cubicBezTo>
                  <a:cubicBezTo>
                    <a:pt x="2032517" y="15397"/>
                    <a:pt x="2035894" y="23549"/>
                    <a:pt x="2035894" y="32049"/>
                  </a:cubicBezTo>
                  <a:lnTo>
                    <a:pt x="2035894" y="571865"/>
                  </a:lnTo>
                  <a:cubicBezTo>
                    <a:pt x="2035894" y="589565"/>
                    <a:pt x="2021545" y="603914"/>
                    <a:pt x="2003845" y="603914"/>
                  </a:cubicBezTo>
                  <a:lnTo>
                    <a:pt x="32049" y="603914"/>
                  </a:lnTo>
                  <a:cubicBezTo>
                    <a:pt x="23549" y="603914"/>
                    <a:pt x="15397" y="600538"/>
                    <a:pt x="9387" y="594527"/>
                  </a:cubicBezTo>
                  <a:cubicBezTo>
                    <a:pt x="3377" y="588517"/>
                    <a:pt x="0" y="580365"/>
                    <a:pt x="0" y="571865"/>
                  </a:cubicBezTo>
                  <a:lnTo>
                    <a:pt x="0" y="32049"/>
                  </a:lnTo>
                  <a:cubicBezTo>
                    <a:pt x="0" y="23549"/>
                    <a:pt x="3377" y="15397"/>
                    <a:pt x="9387" y="9387"/>
                  </a:cubicBezTo>
                  <a:cubicBezTo>
                    <a:pt x="15397" y="3377"/>
                    <a:pt x="23549" y="0"/>
                    <a:pt x="32049"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4" name="TextBox 14"/>
            <p:cNvSpPr txBox="1"/>
            <p:nvPr/>
          </p:nvSpPr>
          <p:spPr>
            <a:xfrm>
              <a:off x="0" y="38100"/>
              <a:ext cx="2035894" cy="565814"/>
            </a:xfrm>
            <a:prstGeom prst="rect">
              <a:avLst/>
            </a:prstGeom>
          </p:spPr>
          <p:txBody>
            <a:bodyPr lIns="50800" tIns="50800" rIns="50800" bIns="50800" rtlCol="0" anchor="ctr"/>
            <a:lstStyle/>
            <a:p>
              <a:pPr marL="0" lvl="0" indent="0" algn="ctr">
                <a:lnSpc>
                  <a:spcPts val="1619"/>
                </a:lnSpc>
              </a:pPr>
              <a:endParaRPr/>
            </a:p>
          </p:txBody>
        </p:sp>
      </p:grpSp>
      <p:grpSp>
        <p:nvGrpSpPr>
          <p:cNvPr id="15" name="Group 15"/>
          <p:cNvGrpSpPr/>
          <p:nvPr/>
        </p:nvGrpSpPr>
        <p:grpSpPr>
          <a:xfrm>
            <a:off x="1551780" y="7256324"/>
            <a:ext cx="1710965" cy="1710965"/>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a:stretch>
            </a:blipFill>
            <a:ln w="19050" cap="sq">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miter/>
            </a:ln>
          </p:spPr>
          <p:txBody>
            <a:bodyPr/>
            <a:lstStyle/>
            <a:p>
              <a:endParaRPr lang="en-US"/>
            </a:p>
          </p:txBody>
        </p:sp>
      </p:grpSp>
      <p:sp>
        <p:nvSpPr>
          <p:cNvPr id="17" name="TextBox 17"/>
          <p:cNvSpPr txBox="1"/>
          <p:nvPr/>
        </p:nvSpPr>
        <p:spPr>
          <a:xfrm>
            <a:off x="1157857" y="3446631"/>
            <a:ext cx="16844184" cy="2687309"/>
          </a:xfrm>
          <a:prstGeom prst="rect">
            <a:avLst/>
          </a:prstGeom>
        </p:spPr>
        <p:txBody>
          <a:bodyPr lIns="0" tIns="0" rIns="0" bIns="0" rtlCol="0" anchor="t">
            <a:spAutoFit/>
          </a:bodyPr>
          <a:lstStyle/>
          <a:p>
            <a:pPr marL="0" lvl="0" indent="0" algn="l">
              <a:lnSpc>
                <a:spcPts val="19675"/>
              </a:lnSpc>
            </a:pPr>
            <a:r>
              <a:rPr lang="en-US" sz="21861" b="1" spc="-874">
                <a:solidFill>
                  <a:srgbClr val="FFFFFF"/>
                </a:solidFill>
                <a:latin typeface="Pragmatica Bold"/>
                <a:ea typeface="Pragmatica Bold"/>
                <a:cs typeface="Pragmatica Bold"/>
                <a:sym typeface="Pragmatica Bold"/>
              </a:rPr>
              <a:t>Thank You</a:t>
            </a:r>
          </a:p>
        </p:txBody>
      </p:sp>
      <p:sp>
        <p:nvSpPr>
          <p:cNvPr id="18" name="TextBox 18"/>
          <p:cNvSpPr txBox="1"/>
          <p:nvPr/>
        </p:nvSpPr>
        <p:spPr>
          <a:xfrm>
            <a:off x="4028952" y="7325090"/>
            <a:ext cx="4366232" cy="603848"/>
          </a:xfrm>
          <a:prstGeom prst="rect">
            <a:avLst/>
          </a:prstGeom>
        </p:spPr>
        <p:txBody>
          <a:bodyPr lIns="0" tIns="0" rIns="0" bIns="0" rtlCol="0" anchor="t">
            <a:spAutoFit/>
          </a:bodyPr>
          <a:lstStyle/>
          <a:p>
            <a:pPr marL="0" lvl="0" indent="0" algn="l">
              <a:lnSpc>
                <a:spcPts val="4430"/>
              </a:lnSpc>
            </a:pPr>
            <a:r>
              <a:rPr lang="en-US" sz="4923" b="1" spc="-196">
                <a:solidFill>
                  <a:srgbClr val="FFFFFF"/>
                </a:solidFill>
                <a:latin typeface="Pragmatica Bold"/>
                <a:ea typeface="Pragmatica Bold"/>
                <a:cs typeface="Pragmatica Bold"/>
                <a:sym typeface="Pragmatica Bold"/>
              </a:rPr>
              <a:t>Q&amp;A</a:t>
            </a:r>
          </a:p>
        </p:txBody>
      </p:sp>
      <p:sp>
        <p:nvSpPr>
          <p:cNvPr id="19" name="TextBox 19"/>
          <p:cNvSpPr txBox="1"/>
          <p:nvPr/>
        </p:nvSpPr>
        <p:spPr>
          <a:xfrm>
            <a:off x="1157857"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Background of the study</a:t>
            </a:r>
          </a:p>
        </p:txBody>
      </p:sp>
      <p:sp>
        <p:nvSpPr>
          <p:cNvPr id="20" name="TextBox 20"/>
          <p:cNvSpPr txBox="1"/>
          <p:nvPr/>
        </p:nvSpPr>
        <p:spPr>
          <a:xfrm>
            <a:off x="4028952" y="8020685"/>
            <a:ext cx="4366232" cy="594741"/>
          </a:xfrm>
          <a:prstGeom prst="rect">
            <a:avLst/>
          </a:prstGeom>
        </p:spPr>
        <p:txBody>
          <a:bodyPr lIns="0" tIns="0" rIns="0" bIns="0" rtlCol="0" anchor="t">
            <a:spAutoFit/>
          </a:bodyPr>
          <a:lstStyle/>
          <a:p>
            <a:pPr marL="0" lvl="0" indent="0" algn="l">
              <a:lnSpc>
                <a:spcPts val="1632"/>
              </a:lnSpc>
            </a:pPr>
            <a:r>
              <a:rPr lang="en-US" sz="1200" spc="-30">
                <a:solidFill>
                  <a:srgbClr val="FFFFFF"/>
                </a:solidFill>
                <a:latin typeface="Canva Sans"/>
                <a:ea typeface="Canva Sans"/>
                <a:cs typeface="Canva Sans"/>
                <a:sym typeface="Canva Sans"/>
              </a:rPr>
              <a:t>We welcome your questions, feedback, and collaboration opportunities. Let's work together to advance next-generation battery technology for a sustainable future.</a:t>
            </a:r>
          </a:p>
        </p:txBody>
      </p:sp>
      <p:sp>
        <p:nvSpPr>
          <p:cNvPr id="21" name="TextBox 21"/>
          <p:cNvSpPr txBox="1"/>
          <p:nvPr/>
        </p:nvSpPr>
        <p:spPr>
          <a:xfrm>
            <a:off x="3358755"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Problem Statement</a:t>
            </a:r>
          </a:p>
        </p:txBody>
      </p:sp>
      <p:sp>
        <p:nvSpPr>
          <p:cNvPr id="22" name="TextBox 22"/>
          <p:cNvSpPr txBox="1"/>
          <p:nvPr/>
        </p:nvSpPr>
        <p:spPr>
          <a:xfrm>
            <a:off x="5108285"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Framework</a:t>
            </a:r>
          </a:p>
        </p:txBody>
      </p:sp>
      <p:sp>
        <p:nvSpPr>
          <p:cNvPr id="23" name="TextBox 23"/>
          <p:cNvSpPr txBox="1"/>
          <p:nvPr/>
        </p:nvSpPr>
        <p:spPr>
          <a:xfrm>
            <a:off x="6552810" y="904812"/>
            <a:ext cx="2498812" cy="194691"/>
          </a:xfrm>
          <a:prstGeom prst="rect">
            <a:avLst/>
          </a:prstGeom>
        </p:spPr>
        <p:txBody>
          <a:bodyPr lIns="0" tIns="0" rIns="0" bIns="0" rtlCol="0" anchor="t">
            <a:spAutoFit/>
          </a:bodyPr>
          <a:lstStyle/>
          <a:p>
            <a:pPr marL="0" lvl="0" indent="0" algn="ctr">
              <a:lnSpc>
                <a:spcPts val="1632"/>
              </a:lnSpc>
            </a:pPr>
            <a:r>
              <a:rPr lang="en-US" sz="1200" spc="-30">
                <a:solidFill>
                  <a:srgbClr val="FFFFFF"/>
                </a:solidFill>
                <a:latin typeface="Canva Sans"/>
                <a:ea typeface="Canva Sans"/>
                <a:cs typeface="Canva Sans"/>
                <a:sym typeface="Canva Sans"/>
              </a:rPr>
              <a:t>Methodology</a:t>
            </a:r>
          </a:p>
        </p:txBody>
      </p:sp>
      <p:sp>
        <p:nvSpPr>
          <p:cNvPr id="24" name="TextBox 24"/>
          <p:cNvSpPr txBox="1"/>
          <p:nvPr/>
        </p:nvSpPr>
        <p:spPr>
          <a:xfrm>
            <a:off x="14585765" y="8944737"/>
            <a:ext cx="2673535" cy="905583"/>
          </a:xfrm>
          <a:prstGeom prst="rect">
            <a:avLst/>
          </a:prstGeom>
        </p:spPr>
        <p:txBody>
          <a:bodyPr lIns="0" tIns="0" rIns="0" bIns="0" rtlCol="0" anchor="t">
            <a:spAutoFit/>
          </a:bodyPr>
          <a:lstStyle/>
          <a:p>
            <a:pPr marL="0" lvl="0" indent="0" algn="r">
              <a:lnSpc>
                <a:spcPts val="1865"/>
              </a:lnSpc>
            </a:pPr>
            <a:r>
              <a:rPr lang="en-US" sz="1371" spc="-34">
                <a:solidFill>
                  <a:srgbClr val="FFFFFF"/>
                </a:solidFill>
                <a:latin typeface="Canva Sans"/>
                <a:ea typeface="Canva Sans"/>
                <a:cs typeface="Canva Sans"/>
                <a:sym typeface="Canva Sans"/>
              </a:rPr>
              <a:t>Presented By:</a:t>
            </a:r>
          </a:p>
          <a:p>
            <a:pPr marL="0" lvl="0" indent="0" algn="r">
              <a:lnSpc>
                <a:spcPts val="1865"/>
              </a:lnSpc>
            </a:pPr>
            <a:r>
              <a:rPr lang="en-US" sz="1371" spc="-34">
                <a:solidFill>
                  <a:srgbClr val="FFFFFF"/>
                </a:solidFill>
                <a:latin typeface="Canva Sans"/>
                <a:ea typeface="Canva Sans"/>
                <a:cs typeface="Canva Sans"/>
                <a:sym typeface="Canva Sans"/>
              </a:rPr>
              <a:t>Assoc. Prof. Dr. Nguyen Van A</a:t>
            </a:r>
          </a:p>
          <a:p>
            <a:pPr marL="0" lvl="0" indent="0" algn="r">
              <a:lnSpc>
                <a:spcPts val="1865"/>
              </a:lnSpc>
            </a:pPr>
            <a:r>
              <a:rPr lang="en-US" sz="1371" spc="-34">
                <a:solidFill>
                  <a:srgbClr val="FFFFFF"/>
                </a:solidFill>
                <a:latin typeface="Canva Sans"/>
                <a:ea typeface="Canva Sans"/>
                <a:cs typeface="Canva Sans"/>
                <a:sym typeface="Canva Sans"/>
              </a:rPr>
              <a:t>Hanoi University of Science and Technology</a:t>
            </a:r>
          </a:p>
        </p:txBody>
      </p:sp>
      <p:sp>
        <p:nvSpPr>
          <p:cNvPr id="25" name="TextBox 25"/>
          <p:cNvSpPr txBox="1"/>
          <p:nvPr/>
        </p:nvSpPr>
        <p:spPr>
          <a:xfrm>
            <a:off x="14585765" y="904812"/>
            <a:ext cx="2498812" cy="244874"/>
          </a:xfrm>
          <a:prstGeom prst="rect">
            <a:avLst/>
          </a:prstGeom>
        </p:spPr>
        <p:txBody>
          <a:bodyPr lIns="0" tIns="0" rIns="0" bIns="0" rtlCol="0" anchor="t">
            <a:spAutoFit/>
          </a:bodyPr>
          <a:lstStyle/>
          <a:p>
            <a:pPr marL="0" lvl="0" indent="0" algn="r">
              <a:lnSpc>
                <a:spcPts val="2098"/>
              </a:lnSpc>
            </a:pPr>
            <a:r>
              <a:rPr lang="en-US" sz="1542" b="1" spc="-38">
                <a:solidFill>
                  <a:srgbClr val="FFFFFF"/>
                </a:solidFill>
                <a:latin typeface="Canva Sans Bold"/>
                <a:ea typeface="Canva Sans Bold"/>
                <a:cs typeface="Canva Sans Bold"/>
                <a:sym typeface="Canva Sans Bold"/>
              </a:rPr>
              <a:t>HUST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2750</Words>
  <Application>Microsoft Office PowerPoint</Application>
  <PresentationFormat>Custom</PresentationFormat>
  <Paragraphs>393</Paragraphs>
  <Slides>26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Canva Sans</vt:lpstr>
      <vt:lpstr>Pragmatica Bold</vt:lpstr>
      <vt:lpstr>Calibri</vt:lpstr>
      <vt:lpstr>Pragmatica</vt:lpstr>
      <vt:lpstr>Canva Sans Bold</vt:lpstr>
      <vt:lpstr>Bricolage Grotesque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Development of Energy-Driven MSxOySez/SiOx Anodes with AI-Enhanced Commercialization</dc:title>
  <cp:lastModifiedBy>Ta Duc Hien 202416485</cp:lastModifiedBy>
  <cp:revision>2</cp:revision>
  <dcterms:created xsi:type="dcterms:W3CDTF">2006-08-16T00:00:00Z</dcterms:created>
  <dcterms:modified xsi:type="dcterms:W3CDTF">2026-07-09T08:52:37Z</dcterms:modified>
  <dc:identifier>DAHO37kxDCI</dc:identifier>
</cp:coreProperties>
</file>

<file path=docProps/custom.xml><?xml version="1.0" encoding="utf-8"?>
<op:Properties xmlns:vt="http://schemas.openxmlformats.org/officeDocument/2006/docPropsVTypes" xmlns:op="http://schemas.openxmlformats.org/officeDocument/2006/custom-properties">
  <op:property fmtid="{D5CDD505-2E9C-101B-9397-08002B2CF9AE}" pid="2" name="OfficeCLI.Version">
    <vt:lpwstr>1.0.132</vt:lpwstr>
  </op:property>
  <op:property fmtid="{D5CDD505-2E9C-101B-9397-08002B2CF9AE}" pid="3" name="OfficeCLI.LastModified">
    <vt:lpwstr>2026-07-09T08:53:04Z</vt:lpwstr>
  </op:property>
</op:Properties>
</file>